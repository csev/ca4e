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35" r:id="rId3"/>
    <p:sldId id="328" r:id="rId4"/>
    <p:sldId id="331" r:id="rId5"/>
    <p:sldId id="336" r:id="rId6"/>
    <p:sldId id="333" r:id="rId7"/>
    <p:sldId id="337" r:id="rId8"/>
    <p:sldId id="332" r:id="rId9"/>
    <p:sldId id="32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4C8C0-0C1E-D447-A6DA-5BF9E732D1EF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414A0-4E43-B244-BF62-FDB8F3884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2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E4B27-158B-1840-8CA3-211E21B1E2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4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7EEE-A3CF-443A-2482-35E18D99A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F8B9C-F5BA-17F9-0A1A-E9665612F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F8FBE-FBBE-A0CC-FC42-3FF15B01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E2043-136C-34E3-9B5E-AC338246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856A4-24F1-F505-9F17-D7CBFCAE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9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BEDB-C75D-A176-F1E1-2D61BD64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0EA41-92F4-D93D-5DF9-8B79882ED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330B2-BD20-D788-65A6-746C9CD1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41D4E-2093-22B2-0224-6CCBB362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9B169-B36C-E793-5F8A-BFAD72B3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1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088F-0963-1409-208E-743C84B4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8810C-6BA9-7DB2-3B0B-720C42B3C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2797A-1838-CB89-1256-14F12FF1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F2D03-E3A0-4FEA-0011-C37F65BB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F4D0B-2CE2-143E-8B6E-602564B8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6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9120-C89A-B32D-C285-5A1F7A2A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7ABE6-B752-F669-D1B4-AC8F049FC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13714-0478-85A7-EDB7-9D329DB61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DCCEE-DA65-5FEA-DBE1-A4FFB71A4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FB5A0-AAA7-A256-BA01-54C1A247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F0E0C-8C61-C6B0-8D2F-98C1C0F1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4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5963-B75A-5C26-1085-A924CA35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618E1-9250-45C9-B6CB-F5EC9FCD4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4F8B2-EBF4-1934-4B10-E0E23D984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E85D9-CA66-2837-5A04-B23B86606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643F1-9724-47B2-6CDC-D890213F2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01FAC-E8AC-52D9-1A16-B217F1A6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BFE5D-39D1-6E86-A570-37A00E3A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A485E-6264-CBC0-1FF3-552D8DDB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0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FFF0-D8D3-C301-C696-45BC20EB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1B914-1337-0FD9-892B-B99F460A2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03B48-34D2-3263-7740-5983D6F7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75E22-D3FA-A3BE-F2D4-6CCB10CD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1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E6F61-7AE2-FCC6-43FD-ED979C4E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72E01-7045-0DD5-9E9A-B9D643B3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33559-F5B7-5AA5-561B-0308F9F1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54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2457-9C61-FB3A-E090-794F70CC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0A638-5B5A-F81F-B2BB-7D4BC2CC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FA28D-530E-D553-BD5E-0834C6956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1CD66-9BCC-71D8-DC72-F5912A2D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4C7AA-84C9-DE87-FFC9-13E44AFA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13F64-36A6-C563-B8F8-7149E9CC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9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AE18-9F94-F919-8625-C0724FDF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D54EC-1B48-2A18-CDF8-E331B4674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C52F0-4853-2AF7-6240-A9A13CC43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48310-14CE-7E1E-AC35-4A75EA9F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B3B96-74D7-0A95-CBCC-E43B376D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E2FF1-191F-F55E-1038-7A84E407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4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8AD7-CB39-F4FD-60C8-BAB75817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E9A8A-5BCD-ACF0-C136-CDF4EF43F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72173-7BCD-6D53-45A8-FCA73BB2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32C7C-335D-7160-23CE-C24A4F78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CEB18-C173-EFB3-1C85-A031B298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8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DC207-D54F-2803-D3CC-9C09125C6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2E1E2-9E3B-784D-3CE4-2296C22F6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6E86C-E00B-BD36-A411-67778DF4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92B7-B14D-6AB6-B8C9-06EE3BC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E9E8-5085-B615-86BC-FA6AF9D5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0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68CCB-F95C-78B8-AB3B-75046B53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051CA-AE6B-5AD3-B31B-D128E8361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44A3A-5FE8-9765-97A4-8D78B8064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E255-8371-B349-B2F5-F8C6C9FF431B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77786-E37B-BA0A-FBBA-967E2DAF5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ED85-D531-06A4-DD93-B6A9AC1AC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475D4-DDD0-8942-A6FE-1A9682155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0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1B36-9C62-3FFE-74C5-B0303391B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Short History of Software (repetitive computing)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FB11C-46EE-C1B0-9B56-FAD330B5A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Dr. Charles R. Severance</a:t>
            </a:r>
          </a:p>
          <a:p>
            <a:r>
              <a:rPr lang="en-US" dirty="0"/>
              <a:t>www.ca4e.com</a:t>
            </a:r>
          </a:p>
          <a:p>
            <a:r>
              <a:rPr lang="en-US" dirty="0" err="1"/>
              <a:t>online.dr-chuck.com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49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FABE-D154-45C4-EB89-20D893B8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9695-6C39-025A-08B9-9646655C0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Turing Machine – What can be computed?</a:t>
            </a:r>
          </a:p>
          <a:p>
            <a:r>
              <a:rPr lang="en-US" dirty="0"/>
              <a:t>Paper Tape</a:t>
            </a:r>
          </a:p>
          <a:p>
            <a:r>
              <a:rPr lang="en-US" dirty="0"/>
              <a:t>Punched Cards</a:t>
            </a:r>
          </a:p>
          <a:p>
            <a:r>
              <a:rPr lang="en-US" dirty="0"/>
              <a:t>Compiler process</a:t>
            </a:r>
          </a:p>
          <a:p>
            <a:r>
              <a:rPr lang="en-US" dirty="0"/>
              <a:t>Compile / Interpret</a:t>
            </a:r>
          </a:p>
          <a:p>
            <a:r>
              <a:rPr lang="en-US" dirty="0" err="1"/>
              <a:t>Hexdump</a:t>
            </a:r>
            <a:r>
              <a:rPr lang="en-US" dirty="0"/>
              <a:t> various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05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DA2B-484E-DE2C-A813-6014CDB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US" dirty="0"/>
              <a:t>Turing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922D-DD2E-E642-B3B3-6FC73FDFE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3326667"/>
          </a:xfrm>
        </p:spPr>
        <p:txBody>
          <a:bodyPr>
            <a:normAutofit/>
          </a:bodyPr>
          <a:lstStyle/>
          <a:p>
            <a:r>
              <a:rPr lang="en-US" dirty="0"/>
              <a:t>Alan Turing did theoretical work as to what could be "computed"</a:t>
            </a:r>
          </a:p>
          <a:p>
            <a:r>
              <a:rPr lang="en-US" dirty="0"/>
              <a:t>Proposed a "Turing Machine" as the definition of foundation of "computability"</a:t>
            </a:r>
          </a:p>
          <a:p>
            <a:endParaRPr lang="en-US" dirty="0"/>
          </a:p>
        </p:txBody>
      </p:sp>
      <p:pic>
        <p:nvPicPr>
          <p:cNvPr id="5" name="Picture 4" descr="A person in a suit&#10;&#10;Description automatically generated with medium confidence">
            <a:extLst>
              <a:ext uri="{FF2B5EF4-FFF2-40B4-BE49-F238E27FC236}">
                <a16:creationId xmlns:a16="http://schemas.microsoft.com/office/drawing/2014/main" id="{A8D18598-DF32-B1F1-4687-4C8BA1AC4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29247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pic>
        <p:nvPicPr>
          <p:cNvPr id="7" name="Picture 6" descr="A picture containing indoor&#10;&#10;Description automatically generated">
            <a:extLst>
              <a:ext uri="{FF2B5EF4-FFF2-40B4-BE49-F238E27FC236}">
                <a16:creationId xmlns:a16="http://schemas.microsoft.com/office/drawing/2014/main" id="{826B229A-B0B4-EEB4-8A36-4F8D82460C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36" r="12368" b="4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97987F-AB73-11F4-EF44-62D67A72310E}"/>
              </a:ext>
            </a:extLst>
          </p:cNvPr>
          <p:cNvSpPr txBox="1"/>
          <p:nvPr/>
        </p:nvSpPr>
        <p:spPr>
          <a:xfrm>
            <a:off x="1239812" y="5635814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Alan_Turing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Turing_machine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73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BAD1-FF47-02EF-796B-EE30432C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"Touring Machine"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E4E96-BEFB-CA84-EB36-83557DCB3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939806"/>
          </a:xfrm>
        </p:spPr>
        <p:txBody>
          <a:bodyPr>
            <a:normAutofit/>
          </a:bodyPr>
          <a:lstStyle/>
          <a:p>
            <a:r>
              <a:rPr lang="en-US" dirty="0"/>
              <a:t>A highly simplified "Turing Machine"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r>
              <a:rPr lang="en-US" dirty="0">
                <a:sym typeface="Wingdings" pitchFamily="2" charset="2"/>
              </a:rPr>
              <a:t>256 Characters of "tape memory"</a:t>
            </a:r>
          </a:p>
          <a:p>
            <a:r>
              <a:rPr lang="en-US" dirty="0">
                <a:sym typeface="Wingdings" pitchFamily="2" charset="2"/>
              </a:rPr>
              <a:t>Three instructions</a:t>
            </a:r>
          </a:p>
          <a:p>
            <a:pPr lvl="1"/>
            <a:r>
              <a:rPr lang="en-US" dirty="0">
                <a:sym typeface="Wingdings" pitchFamily="2" charset="2"/>
              </a:rPr>
              <a:t>Move left &lt;</a:t>
            </a:r>
          </a:p>
          <a:p>
            <a:pPr lvl="1"/>
            <a:r>
              <a:rPr lang="en-US" dirty="0">
                <a:sym typeface="Wingdings" pitchFamily="2" charset="2"/>
              </a:rPr>
              <a:t>Move Right &gt;</a:t>
            </a:r>
          </a:p>
          <a:p>
            <a:pPr lvl="1"/>
            <a:r>
              <a:rPr lang="en-US" dirty="0">
                <a:sym typeface="Wingdings" pitchFamily="2" charset="2"/>
              </a:rPr>
              <a:t>Store character 42 (*)</a:t>
            </a:r>
            <a:endParaRPr lang="en-US" dirty="0"/>
          </a:p>
        </p:txBody>
      </p:sp>
      <p:pic>
        <p:nvPicPr>
          <p:cNvPr id="6" name="Picture 5" descr="A picture containing indoor&#10;&#10;Description automatically generated">
            <a:extLst>
              <a:ext uri="{FF2B5EF4-FFF2-40B4-BE49-F238E27FC236}">
                <a16:creationId xmlns:a16="http://schemas.microsoft.com/office/drawing/2014/main" id="{3DEE61DA-DF42-CCBC-8AB5-375AA699D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107" y="1027906"/>
            <a:ext cx="4211516" cy="28076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C17BE9-2ECE-8C89-00F5-77623813506A}"/>
              </a:ext>
            </a:extLst>
          </p:cNvPr>
          <p:cNvSpPr txBox="1"/>
          <p:nvPr/>
        </p:nvSpPr>
        <p:spPr>
          <a:xfrm>
            <a:off x="6096000" y="4498364"/>
            <a:ext cx="51475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Touring Machine Program: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42 &gt; 114 &gt; 105 &gt; 97 &gt; 110 &lt; &lt; &lt; &lt; 66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Brian</a:t>
            </a:r>
          </a:p>
        </p:txBody>
      </p:sp>
    </p:spTree>
    <p:extLst>
      <p:ext uri="{BB962C8B-B14F-4D97-AF65-F5344CB8AC3E}">
        <p14:creationId xmlns:p14="http://schemas.microsoft.com/office/powerpoint/2010/main" val="1048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72BE-E0B6-D3FE-E6FF-79559DAD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Colossus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7A7A4-FA05-132F-07D4-6FF8A184F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37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FEF0-C8E5-2F2C-98C0-3CE48473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Programs with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013F3-EB74-1B54-1EFD-242094463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490" cy="4351338"/>
          </a:xfrm>
        </p:spPr>
        <p:txBody>
          <a:bodyPr/>
          <a:lstStyle/>
          <a:p>
            <a:r>
              <a:rPr lang="en-US" dirty="0"/>
              <a:t>In the old days, we encoded programs on paper tape</a:t>
            </a:r>
          </a:p>
        </p:txBody>
      </p:sp>
      <p:pic>
        <p:nvPicPr>
          <p:cNvPr id="5" name="Picture 4" descr="A picture of a paper tape reader">
            <a:extLst>
              <a:ext uri="{FF2B5EF4-FFF2-40B4-BE49-F238E27FC236}">
                <a16:creationId xmlns:a16="http://schemas.microsoft.com/office/drawing/2014/main" id="{A45F08D1-F4FD-6857-726A-96D1B8FE14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82" r="35771"/>
          <a:stretch/>
        </p:blipFill>
        <p:spPr>
          <a:xfrm>
            <a:off x="8807116" y="681037"/>
            <a:ext cx="2885391" cy="2231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BE1BD9-6337-560C-65E3-D51B7374B97E}"/>
              </a:ext>
            </a:extLst>
          </p:cNvPr>
          <p:cNvSpPr txBox="1"/>
          <p:nvPr/>
        </p:nvSpPr>
        <p:spPr>
          <a:xfrm>
            <a:off x="7795369" y="61241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Punched_tape</a:t>
            </a:r>
            <a:endParaRPr lang="en-US" dirty="0"/>
          </a:p>
        </p:txBody>
      </p:sp>
      <p:pic>
        <p:nvPicPr>
          <p:cNvPr id="10" name="Picture 9" descr="A punched paper tape&#10;">
            <a:extLst>
              <a:ext uri="{FF2B5EF4-FFF2-40B4-BE49-F238E27FC236}">
                <a16:creationId xmlns:a16="http://schemas.microsoft.com/office/drawing/2014/main" id="{BD49EA0C-A3ED-099F-F2C0-19E61772A8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067" t="37074" r="16512" b="29037"/>
          <a:stretch/>
        </p:blipFill>
        <p:spPr>
          <a:xfrm rot="5400000">
            <a:off x="935515" y="3742340"/>
            <a:ext cx="2550319" cy="22717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8270B4-E9F2-2A2D-C02E-D4755B6E0840}"/>
              </a:ext>
            </a:extLst>
          </p:cNvPr>
          <p:cNvSpPr/>
          <p:nvPr/>
        </p:nvSpPr>
        <p:spPr>
          <a:xfrm>
            <a:off x="3818372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27295-E999-F69B-21D1-97B320ACB76D}"/>
              </a:ext>
            </a:extLst>
          </p:cNvPr>
          <p:cNvSpPr/>
          <p:nvPr/>
        </p:nvSpPr>
        <p:spPr>
          <a:xfrm>
            <a:off x="4253159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480F94-2BC8-8161-041E-D9D3DFF020CF}"/>
              </a:ext>
            </a:extLst>
          </p:cNvPr>
          <p:cNvSpPr/>
          <p:nvPr/>
        </p:nvSpPr>
        <p:spPr>
          <a:xfrm>
            <a:off x="4688004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C4080D-3C18-85FC-F52E-7B761453DC02}"/>
              </a:ext>
            </a:extLst>
          </p:cNvPr>
          <p:cNvSpPr/>
          <p:nvPr/>
        </p:nvSpPr>
        <p:spPr>
          <a:xfrm>
            <a:off x="5122791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DEF1B8-F4E7-D84F-AA5E-F8211801E7BE}"/>
              </a:ext>
            </a:extLst>
          </p:cNvPr>
          <p:cNvSpPr/>
          <p:nvPr/>
        </p:nvSpPr>
        <p:spPr>
          <a:xfrm>
            <a:off x="5557689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7E4C44-4BF5-EBD4-6702-C31A30D1FF18}"/>
              </a:ext>
            </a:extLst>
          </p:cNvPr>
          <p:cNvSpPr/>
          <p:nvPr/>
        </p:nvSpPr>
        <p:spPr>
          <a:xfrm>
            <a:off x="5992476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0DFE1A-0704-C20A-4000-0CD15EC0AB9F}"/>
              </a:ext>
            </a:extLst>
          </p:cNvPr>
          <p:cNvSpPr/>
          <p:nvPr/>
        </p:nvSpPr>
        <p:spPr>
          <a:xfrm>
            <a:off x="6427321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D5BF4-0C85-C54B-6636-012EDBCD545E}"/>
              </a:ext>
            </a:extLst>
          </p:cNvPr>
          <p:cNvSpPr/>
          <p:nvPr/>
        </p:nvSpPr>
        <p:spPr>
          <a:xfrm>
            <a:off x="6862108" y="4027320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A5E1C-AE97-D596-5E04-7AF6CF7E244E}"/>
              </a:ext>
            </a:extLst>
          </p:cNvPr>
          <p:cNvSpPr txBox="1"/>
          <p:nvPr/>
        </p:nvSpPr>
        <p:spPr>
          <a:xfrm>
            <a:off x="4553683" y="4531590"/>
            <a:ext cx="1573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Hex: 2E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ASCII Period (.)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5CB2B7-0F9D-47DA-B02E-9238B62070F7}"/>
              </a:ext>
            </a:extLst>
          </p:cNvPr>
          <p:cNvSpPr/>
          <p:nvPr/>
        </p:nvSpPr>
        <p:spPr>
          <a:xfrm>
            <a:off x="1110273" y="4099209"/>
            <a:ext cx="2236255" cy="1691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picture with two punched paper tapes, one yellow and one pink">
            <a:extLst>
              <a:ext uri="{FF2B5EF4-FFF2-40B4-BE49-F238E27FC236}">
                <a16:creationId xmlns:a16="http://schemas.microsoft.com/office/drawing/2014/main" id="{018F93DB-D98D-E065-7A95-355F9A7C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021" y="3411676"/>
            <a:ext cx="3302486" cy="220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0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3D9C-ADE4-7B41-86DC-0F03AA04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Punched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00AB-296F-9DCB-3F95-02044C97D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5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CE40-7A8B-6F3A-0A5D-85640AB3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Touring Machine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C50EA-1158-491D-F7D9-41407772F7F9}"/>
              </a:ext>
            </a:extLst>
          </p:cNvPr>
          <p:cNvSpPr/>
          <p:nvPr/>
        </p:nvSpPr>
        <p:spPr>
          <a:xfrm>
            <a:off x="1440502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94745-B7B7-FC9C-022D-ACE5B7157051}"/>
              </a:ext>
            </a:extLst>
          </p:cNvPr>
          <p:cNvSpPr/>
          <p:nvPr/>
        </p:nvSpPr>
        <p:spPr>
          <a:xfrm>
            <a:off x="1875289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12C47-06B0-0E2A-EBF3-1CE0C2E85151}"/>
              </a:ext>
            </a:extLst>
          </p:cNvPr>
          <p:cNvSpPr/>
          <p:nvPr/>
        </p:nvSpPr>
        <p:spPr>
          <a:xfrm>
            <a:off x="2310134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9051B-7AC8-C505-3EF7-73050B387A88}"/>
              </a:ext>
            </a:extLst>
          </p:cNvPr>
          <p:cNvSpPr/>
          <p:nvPr/>
        </p:nvSpPr>
        <p:spPr>
          <a:xfrm>
            <a:off x="2744921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C003BA-487A-817B-9243-5631CA10AD04}"/>
              </a:ext>
            </a:extLst>
          </p:cNvPr>
          <p:cNvSpPr/>
          <p:nvPr/>
        </p:nvSpPr>
        <p:spPr>
          <a:xfrm>
            <a:off x="3179819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81D0B3-5157-A2FE-C480-A150AA561873}"/>
              </a:ext>
            </a:extLst>
          </p:cNvPr>
          <p:cNvSpPr/>
          <p:nvPr/>
        </p:nvSpPr>
        <p:spPr>
          <a:xfrm>
            <a:off x="3614606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1DB2F3-CFEB-536C-01D5-52DD0A9A9EE7}"/>
              </a:ext>
            </a:extLst>
          </p:cNvPr>
          <p:cNvSpPr/>
          <p:nvPr/>
        </p:nvSpPr>
        <p:spPr>
          <a:xfrm>
            <a:off x="4049451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FCB296-2052-9B51-8081-E342A234ECE3}"/>
              </a:ext>
            </a:extLst>
          </p:cNvPr>
          <p:cNvSpPr/>
          <p:nvPr/>
        </p:nvSpPr>
        <p:spPr>
          <a:xfrm>
            <a:off x="4484238" y="2088577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F6B997-99A7-C78B-9833-FEA9810C21A2}"/>
              </a:ext>
            </a:extLst>
          </p:cNvPr>
          <p:cNvSpPr/>
          <p:nvPr/>
        </p:nvSpPr>
        <p:spPr>
          <a:xfrm>
            <a:off x="1440502" y="2025730"/>
            <a:ext cx="869632" cy="484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4135F3-A1E8-805E-F8DD-E82A62BB75FA}"/>
              </a:ext>
            </a:extLst>
          </p:cNvPr>
          <p:cNvSpPr txBox="1"/>
          <p:nvPr/>
        </p:nvSpPr>
        <p:spPr>
          <a:xfrm>
            <a:off x="1743042" y="1396605"/>
            <a:ext cx="3046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char (big endian)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F99C9-8045-E02E-A815-53347BC1D039}"/>
              </a:ext>
            </a:extLst>
          </p:cNvPr>
          <p:cNvSpPr txBox="1"/>
          <p:nvPr/>
        </p:nvSpPr>
        <p:spPr>
          <a:xfrm>
            <a:off x="1362945" y="2779825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 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866E8F-2C70-41BC-AA26-1F0F1B3EF919}"/>
              </a:ext>
            </a:extLst>
          </p:cNvPr>
          <p:cNvSpPr/>
          <p:nvPr/>
        </p:nvSpPr>
        <p:spPr>
          <a:xfrm>
            <a:off x="1432561" y="3362381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AF4814-E074-FFB9-7052-DD4790501835}"/>
              </a:ext>
            </a:extLst>
          </p:cNvPr>
          <p:cNvSpPr/>
          <p:nvPr/>
        </p:nvSpPr>
        <p:spPr>
          <a:xfrm>
            <a:off x="1867348" y="3362381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3A2DB1-0770-6850-2DEB-D39DDCFE57CD}"/>
              </a:ext>
            </a:extLst>
          </p:cNvPr>
          <p:cNvSpPr/>
          <p:nvPr/>
        </p:nvSpPr>
        <p:spPr>
          <a:xfrm>
            <a:off x="1432561" y="3967425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29640A-D9BD-52C9-4B3E-DEAAD558FEEA}"/>
              </a:ext>
            </a:extLst>
          </p:cNvPr>
          <p:cNvSpPr/>
          <p:nvPr/>
        </p:nvSpPr>
        <p:spPr>
          <a:xfrm>
            <a:off x="1867348" y="3967425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2EBB29-CAE5-3E17-9C3B-249181468C07}"/>
              </a:ext>
            </a:extLst>
          </p:cNvPr>
          <p:cNvSpPr/>
          <p:nvPr/>
        </p:nvSpPr>
        <p:spPr>
          <a:xfrm>
            <a:off x="1455433" y="4521553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E6430B-D5C0-BB03-B40E-6FFF881EC7E5}"/>
              </a:ext>
            </a:extLst>
          </p:cNvPr>
          <p:cNvSpPr/>
          <p:nvPr/>
        </p:nvSpPr>
        <p:spPr>
          <a:xfrm>
            <a:off x="1890220" y="4521553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41A269-59BE-73F9-5843-9A0456275D63}"/>
              </a:ext>
            </a:extLst>
          </p:cNvPr>
          <p:cNvSpPr/>
          <p:nvPr/>
        </p:nvSpPr>
        <p:spPr>
          <a:xfrm>
            <a:off x="1455433" y="5075551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BA5BC7-25C2-3AF6-657C-56D99A76EC64}"/>
              </a:ext>
            </a:extLst>
          </p:cNvPr>
          <p:cNvSpPr/>
          <p:nvPr/>
        </p:nvSpPr>
        <p:spPr>
          <a:xfrm>
            <a:off x="1890220" y="5075551"/>
            <a:ext cx="434845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829C9F-F334-7B8E-0AFA-E716EADB19D6}"/>
              </a:ext>
            </a:extLst>
          </p:cNvPr>
          <p:cNvSpPr txBox="1"/>
          <p:nvPr/>
        </p:nvSpPr>
        <p:spPr>
          <a:xfrm>
            <a:off x="2636462" y="3362381"/>
            <a:ext cx="232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(0) Store this character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DDC04C-8FC6-0E00-AF6F-CFD1F97B946D}"/>
              </a:ext>
            </a:extLst>
          </p:cNvPr>
          <p:cNvSpPr txBox="1"/>
          <p:nvPr/>
        </p:nvSpPr>
        <p:spPr>
          <a:xfrm>
            <a:off x="2636462" y="3967425"/>
            <a:ext cx="232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Store this character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228B06-725B-5874-0C7E-F4DF3601EF3C}"/>
              </a:ext>
            </a:extLst>
          </p:cNvPr>
          <p:cNvSpPr txBox="1"/>
          <p:nvPr/>
        </p:nvSpPr>
        <p:spPr>
          <a:xfrm>
            <a:off x="2636462" y="5075551"/>
            <a:ext cx="14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 Move Left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B470C2-44B5-D290-3A67-6DFE2403AAE5}"/>
              </a:ext>
            </a:extLst>
          </p:cNvPr>
          <p:cNvSpPr txBox="1"/>
          <p:nvPr/>
        </p:nvSpPr>
        <p:spPr>
          <a:xfrm>
            <a:off x="2636462" y="4521553"/>
            <a:ext cx="152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Move right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B52604-7BD2-8D18-74AD-D0C88DC80407}"/>
              </a:ext>
            </a:extLst>
          </p:cNvPr>
          <p:cNvSpPr txBox="1"/>
          <p:nvPr/>
        </p:nvSpPr>
        <p:spPr>
          <a:xfrm>
            <a:off x="7505740" y="1998199"/>
            <a:ext cx="9140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DC525C-BCBE-B62D-12F5-BFB71DAC8F5D}"/>
              </a:ext>
            </a:extLst>
          </p:cNvPr>
          <p:cNvSpPr txBox="1"/>
          <p:nvPr/>
        </p:nvSpPr>
        <p:spPr>
          <a:xfrm>
            <a:off x="9200656" y="1992544"/>
            <a:ext cx="9140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2A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985837-5529-5870-A189-EB4AC385DE8C}"/>
              </a:ext>
            </a:extLst>
          </p:cNvPr>
          <p:cNvSpPr txBox="1"/>
          <p:nvPr/>
        </p:nvSpPr>
        <p:spPr>
          <a:xfrm>
            <a:off x="7504644" y="1273658"/>
            <a:ext cx="1040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3FE50F-91C7-0D96-5CE0-A129172A49CE}"/>
              </a:ext>
            </a:extLst>
          </p:cNvPr>
          <p:cNvSpPr txBox="1"/>
          <p:nvPr/>
        </p:nvSpPr>
        <p:spPr>
          <a:xfrm>
            <a:off x="9046376" y="1341232"/>
            <a:ext cx="816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Hex</a:t>
            </a:r>
          </a:p>
        </p:txBody>
      </p:sp>
    </p:spTree>
    <p:extLst>
      <p:ext uri="{BB962C8B-B14F-4D97-AF65-F5344CB8AC3E}">
        <p14:creationId xmlns:p14="http://schemas.microsoft.com/office/powerpoint/2010/main" val="145340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8FBA-C247-EB80-D4B6-7507BCCF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6.7 Fields – Getting at the bits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27CF-2FB7-5A58-99EF-532D13FCA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48363" cy="18570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a struct with small unsigned integers we can allocate, arrange, and pack values as small as a single bit</a:t>
            </a:r>
          </a:p>
          <a:p>
            <a:pPr lvl="1"/>
            <a:r>
              <a:rPr lang="en-US" dirty="0"/>
              <a:t>Big endian – High to low layout</a:t>
            </a:r>
          </a:p>
          <a:p>
            <a:pPr lvl="1"/>
            <a:r>
              <a:rPr lang="en-US" dirty="0"/>
              <a:t>Little endian – Low to high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25B85-BA0B-622F-33FD-072C4127C06C}"/>
              </a:ext>
            </a:extLst>
          </p:cNvPr>
          <p:cNvSpPr txBox="1"/>
          <p:nvPr/>
        </p:nvSpPr>
        <p:spPr>
          <a:xfrm>
            <a:off x="7303337" y="1554162"/>
            <a:ext cx="376417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union instruction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char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struct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unsigned low : 6;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unsigned top : 2;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parts;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union instruction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inst.ch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0xF1;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("%s %x %x\n",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ch2b2(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inst.ch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inst.parts.top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inst.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parts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.low);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43918-EEFC-E122-8F14-80E946B0A301}"/>
              </a:ext>
            </a:extLst>
          </p:cNvPr>
          <p:cNvSpPr txBox="1"/>
          <p:nvPr/>
        </p:nvSpPr>
        <p:spPr>
          <a:xfrm>
            <a:off x="10746560" y="6338986"/>
            <a:ext cx="1382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Menlo" panose="020B0609030804020204" pitchFamily="49" charset="0"/>
              </a:rPr>
              <a:t>kr_06_11.c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1DA0E-797C-8B0A-96A0-3EF00EA0A8AC}"/>
              </a:ext>
            </a:extLst>
          </p:cNvPr>
          <p:cNvSpPr txBox="1"/>
          <p:nvPr/>
        </p:nvSpPr>
        <p:spPr>
          <a:xfrm>
            <a:off x="1339452" y="4241324"/>
            <a:ext cx="44172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11110001 3 31</a:t>
            </a:r>
            <a:endParaRPr lang="en-US" sz="3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A52CD-6F77-1026-48D3-EFDDBA752CDF}"/>
              </a:ext>
            </a:extLst>
          </p:cNvPr>
          <p:cNvSpPr/>
          <p:nvPr/>
        </p:nvSpPr>
        <p:spPr>
          <a:xfrm>
            <a:off x="1310876" y="4241324"/>
            <a:ext cx="603648" cy="584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24ADB-0CE6-B25B-F172-93F619BB17E9}"/>
              </a:ext>
            </a:extLst>
          </p:cNvPr>
          <p:cNvSpPr/>
          <p:nvPr/>
        </p:nvSpPr>
        <p:spPr>
          <a:xfrm>
            <a:off x="1928810" y="4237355"/>
            <a:ext cx="1471615" cy="584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5C830-13D6-8F25-FAEB-EE5CBEDB1CE5}"/>
              </a:ext>
            </a:extLst>
          </p:cNvPr>
          <p:cNvSpPr txBox="1"/>
          <p:nvPr/>
        </p:nvSpPr>
        <p:spPr>
          <a:xfrm>
            <a:off x="1310876" y="3816319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 Endian 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9F214-E8F2-93D0-464B-24A03BAA22B2}"/>
              </a:ext>
            </a:extLst>
          </p:cNvPr>
          <p:cNvSpPr txBox="1"/>
          <p:nvPr/>
        </p:nvSpPr>
        <p:spPr>
          <a:xfrm>
            <a:off x="1331832" y="5568870"/>
            <a:ext cx="44172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10001111 3 31</a:t>
            </a:r>
            <a:endParaRPr lang="en-US" sz="3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7874B6-F85C-2F13-D790-3CB786DD8959}"/>
              </a:ext>
            </a:extLst>
          </p:cNvPr>
          <p:cNvSpPr/>
          <p:nvPr/>
        </p:nvSpPr>
        <p:spPr>
          <a:xfrm>
            <a:off x="2891789" y="5568870"/>
            <a:ext cx="508635" cy="584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A9FAC7-B533-756A-82BC-173842B6BCF0}"/>
              </a:ext>
            </a:extLst>
          </p:cNvPr>
          <p:cNvSpPr/>
          <p:nvPr/>
        </p:nvSpPr>
        <p:spPr>
          <a:xfrm>
            <a:off x="1420174" y="5568870"/>
            <a:ext cx="1471615" cy="584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33F9B8-82EF-166E-A2B3-E55DE0425578}"/>
              </a:ext>
            </a:extLst>
          </p:cNvPr>
          <p:cNvSpPr txBox="1"/>
          <p:nvPr/>
        </p:nvSpPr>
        <p:spPr>
          <a:xfrm>
            <a:off x="1303256" y="5134579"/>
            <a:ext cx="2072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 Endian Output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385310-96B4-D2BB-D43E-31DAD30278CA}"/>
              </a:ext>
            </a:extLst>
          </p:cNvPr>
          <p:cNvCxnSpPr/>
          <p:nvPr/>
        </p:nvCxnSpPr>
        <p:spPr>
          <a:xfrm flipH="1">
            <a:off x="1420174" y="6338986"/>
            <a:ext cx="19560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3AF1A0-E298-461F-925C-F8C075349624}"/>
              </a:ext>
            </a:extLst>
          </p:cNvPr>
          <p:cNvCxnSpPr>
            <a:cxnSpLocks/>
          </p:cNvCxnSpPr>
          <p:nvPr/>
        </p:nvCxnSpPr>
        <p:spPr>
          <a:xfrm>
            <a:off x="1361715" y="4959766"/>
            <a:ext cx="19560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2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419</Words>
  <Application>Microsoft Macintosh PowerPoint</Application>
  <PresentationFormat>Widescreen</PresentationFormat>
  <Paragraphs>125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Menlo</vt:lpstr>
      <vt:lpstr>Wingdings</vt:lpstr>
      <vt:lpstr>Office Theme</vt:lpstr>
      <vt:lpstr>A Short History of Software (repetitive computing)</vt:lpstr>
      <vt:lpstr>Outline</vt:lpstr>
      <vt:lpstr>Turing Machine</vt:lpstr>
      <vt:lpstr>"Touring Machine"</vt:lpstr>
      <vt:lpstr>Colossus</vt:lpstr>
      <vt:lpstr>Writing Programs with Bits</vt:lpstr>
      <vt:lpstr>Punched Cards</vt:lpstr>
      <vt:lpstr>Binary Touring Machine</vt:lpstr>
      <vt:lpstr>6.7 Fields – Getting at the bits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Orientation</dc:title>
  <dc:creator>Severance, Charles</dc:creator>
  <cp:lastModifiedBy>Severance, Charles</cp:lastModifiedBy>
  <cp:revision>20</cp:revision>
  <dcterms:created xsi:type="dcterms:W3CDTF">2023-02-25T13:30:24Z</dcterms:created>
  <dcterms:modified xsi:type="dcterms:W3CDTF">2025-11-29T06:23:30Z</dcterms:modified>
</cp:coreProperties>
</file>