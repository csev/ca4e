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334" r:id="rId3"/>
    <p:sldId id="335" r:id="rId4"/>
    <p:sldId id="383" r:id="rId5"/>
    <p:sldId id="336" r:id="rId6"/>
    <p:sldId id="397" r:id="rId7"/>
    <p:sldId id="365" r:id="rId8"/>
    <p:sldId id="338" r:id="rId9"/>
    <p:sldId id="339" r:id="rId10"/>
    <p:sldId id="368" r:id="rId11"/>
    <p:sldId id="363" r:id="rId12"/>
    <p:sldId id="370" r:id="rId13"/>
    <p:sldId id="371" r:id="rId14"/>
    <p:sldId id="373" r:id="rId15"/>
    <p:sldId id="375" r:id="rId16"/>
    <p:sldId id="364" r:id="rId17"/>
    <p:sldId id="341" r:id="rId18"/>
    <p:sldId id="376" r:id="rId19"/>
    <p:sldId id="380" r:id="rId20"/>
    <p:sldId id="381" r:id="rId21"/>
    <p:sldId id="382" r:id="rId22"/>
    <p:sldId id="358" r:id="rId23"/>
    <p:sldId id="353" r:id="rId24"/>
    <p:sldId id="354" r:id="rId25"/>
    <p:sldId id="396" r:id="rId26"/>
    <p:sldId id="356" r:id="rId27"/>
    <p:sldId id="398" r:id="rId28"/>
    <p:sldId id="352" r:id="rId29"/>
    <p:sldId id="28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59"/>
    <p:restoredTop sz="74326"/>
  </p:normalViewPr>
  <p:slideViewPr>
    <p:cSldViewPr snapToGrid="0">
      <p:cViewPr varScale="1">
        <p:scale>
          <a:sx n="75" d="100"/>
          <a:sy n="75" d="100"/>
        </p:scale>
        <p:origin x="2144" y="480"/>
      </p:cViewPr>
      <p:guideLst/>
    </p:cSldViewPr>
  </p:slideViewPr>
  <p:notesTextViewPr>
    <p:cViewPr>
      <p:scale>
        <a:sx n="1" d="1"/>
        <a:sy n="1" d="1"/>
      </p:scale>
      <p:origin x="0" y="0"/>
    </p:cViewPr>
  </p:notesTextViewPr>
  <p:notesViewPr>
    <p:cSldViewPr snapToGrid="0">
      <p:cViewPr varScale="1">
        <p:scale>
          <a:sx n="81" d="100"/>
          <a:sy n="81" d="100"/>
        </p:scale>
        <p:origin x="5640"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74C8C0-0C1E-D447-A6DA-5BF9E732D1EF}" type="datetimeFigureOut">
              <a:rPr lang="en-US" smtClean="0"/>
              <a:t>3/21/26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4414A0-4E43-B244-BF62-FDB8F38845D2}" type="slidenum">
              <a:rPr lang="en-US" smtClean="0"/>
              <a:t>‹#›</a:t>
            </a:fld>
            <a:endParaRPr lang="en-US"/>
          </a:p>
        </p:txBody>
      </p:sp>
    </p:spTree>
    <p:extLst>
      <p:ext uri="{BB962C8B-B14F-4D97-AF65-F5344CB8AC3E}">
        <p14:creationId xmlns:p14="http://schemas.microsoft.com/office/powerpoint/2010/main" val="533126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4414A0-4E43-B244-BF62-FDB8F38845D2}" type="slidenum">
              <a:rPr lang="en-US" smtClean="0"/>
              <a:t>1</a:t>
            </a:fld>
            <a:endParaRPr lang="en-US"/>
          </a:p>
        </p:txBody>
      </p:sp>
    </p:spTree>
    <p:extLst>
      <p:ext uri="{BB962C8B-B14F-4D97-AF65-F5344CB8AC3E}">
        <p14:creationId xmlns:p14="http://schemas.microsoft.com/office/powerpoint/2010/main" val="18492575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BJT = </a:t>
            </a:r>
            <a:r>
              <a:rPr lang="en-US" dirty="0" err="1"/>
              <a:t>Biploar</a:t>
            </a:r>
            <a:r>
              <a:rPr lang="en-US" dirty="0"/>
              <a:t> Junction Transistor</a:t>
            </a:r>
          </a:p>
          <a:p>
            <a:r>
              <a:rPr lang="en-US" dirty="0"/>
              <a:t>PMOS = P-channel Metal-Oxide-Semiconductor</a:t>
            </a:r>
          </a:p>
          <a:p>
            <a:r>
              <a:rPr lang="en-US" dirty="0"/>
              <a:t>NMOS = N-channel Metal-Oxide-Semiconductor</a:t>
            </a:r>
          </a:p>
          <a:p>
            <a:r>
              <a:rPr lang="en-US" dirty="0"/>
              <a:t>CMOS = Complimentary Metal-Oxide-Semiconductor</a:t>
            </a:r>
          </a:p>
          <a:p>
            <a:r>
              <a:rPr lang="en-US" dirty="0"/>
              <a:t>VLSI = Very Lage Scale Integration</a:t>
            </a:r>
          </a:p>
        </p:txBody>
      </p:sp>
      <p:sp>
        <p:nvSpPr>
          <p:cNvPr id="4" name="Slide Number Placeholder 3"/>
          <p:cNvSpPr>
            <a:spLocks noGrp="1"/>
          </p:cNvSpPr>
          <p:nvPr>
            <p:ph type="sldNum" sz="quarter" idx="5"/>
          </p:nvPr>
        </p:nvSpPr>
        <p:spPr/>
        <p:txBody>
          <a:bodyPr/>
          <a:lstStyle/>
          <a:p>
            <a:fld id="{9F4414A0-4E43-B244-BF62-FDB8F38845D2}" type="slidenum">
              <a:rPr lang="en-US" smtClean="0"/>
              <a:t>2</a:t>
            </a:fld>
            <a:endParaRPr lang="en-US"/>
          </a:p>
        </p:txBody>
      </p:sp>
    </p:spTree>
    <p:extLst>
      <p:ext uri="{BB962C8B-B14F-4D97-AF65-F5344CB8AC3E}">
        <p14:creationId xmlns:p14="http://schemas.microsoft.com/office/powerpoint/2010/main" val="20166987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telephone pole with 30 glass insulators for 30 wires.  Photo by Dr. Chuck. </a:t>
            </a:r>
          </a:p>
          <a:p>
            <a:endParaRPr lang="en-US" dirty="0"/>
          </a:p>
          <a:p>
            <a:r>
              <a:rPr lang="en-US" dirty="0"/>
              <a:t>A close up of a vacuum tube.</a:t>
            </a:r>
          </a:p>
          <a:p>
            <a:endParaRPr lang="en-US" dirty="0"/>
          </a:p>
          <a:p>
            <a:r>
              <a:rPr lang="en-US" dirty="0"/>
              <a:t>This is a simple diagram of a vacuum tube with an Anode, Cathode, and Grid with some simple wave forms showing a small input signal and larger amplified signal.</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Image: https://</a:t>
            </a:r>
            <a:r>
              <a:rPr lang="en-US" dirty="0" err="1"/>
              <a:t>en.wikipedia.org</a:t>
            </a:r>
            <a:r>
              <a:rPr lang="en-US" dirty="0"/>
              <a:t>/wiki/</a:t>
            </a:r>
            <a:r>
              <a:rPr lang="en-US" dirty="0" err="1"/>
              <a:t>Vacuum_tube</a:t>
            </a:r>
            <a:endParaRPr lang="en-US" dirty="0"/>
          </a:p>
          <a:p>
            <a:endParaRPr lang="en-US" dirty="0"/>
          </a:p>
        </p:txBody>
      </p:sp>
      <p:sp>
        <p:nvSpPr>
          <p:cNvPr id="4" name="Slide Number Placeholder 3"/>
          <p:cNvSpPr>
            <a:spLocks noGrp="1"/>
          </p:cNvSpPr>
          <p:nvPr>
            <p:ph type="sldNum" sz="quarter" idx="5"/>
          </p:nvPr>
        </p:nvSpPr>
        <p:spPr/>
        <p:txBody>
          <a:bodyPr/>
          <a:lstStyle/>
          <a:p>
            <a:fld id="{9F4414A0-4E43-B244-BF62-FDB8F38845D2}" type="slidenum">
              <a:rPr lang="en-US" smtClean="0"/>
              <a:t>3</a:t>
            </a:fld>
            <a:endParaRPr lang="en-US"/>
          </a:p>
        </p:txBody>
      </p:sp>
    </p:spTree>
    <p:extLst>
      <p:ext uri="{BB962C8B-B14F-4D97-AF65-F5344CB8AC3E}">
        <p14:creationId xmlns:p14="http://schemas.microsoft.com/office/powerpoint/2010/main" val="1075259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image of the specification sheet of the Raytheon 6CG8A Vacuum Tube from https://</a:t>
            </a:r>
            <a:r>
              <a:rPr lang="en-US" dirty="0" err="1"/>
              <a:t>frank.pocnet.net</a:t>
            </a:r>
            <a:r>
              <a:rPr lang="en-US" dirty="0"/>
              <a:t>/sheets/127/6/6CG8A.pdf</a:t>
            </a:r>
          </a:p>
          <a:p>
            <a:endParaRPr lang="en-US" dirty="0"/>
          </a:p>
          <a:p>
            <a:r>
              <a:rPr lang="en-US" dirty="0"/>
              <a:t>It shows the first [page of the specification with the dimensions of the tube (2.188 inches tall) and the number of pins (8).  The content of the text is not particularly relevant - it is more fun as a historical document.</a:t>
            </a:r>
          </a:p>
        </p:txBody>
      </p:sp>
      <p:sp>
        <p:nvSpPr>
          <p:cNvPr id="4" name="Slide Number Placeholder 3"/>
          <p:cNvSpPr>
            <a:spLocks noGrp="1"/>
          </p:cNvSpPr>
          <p:nvPr>
            <p:ph type="sldNum" sz="quarter" idx="5"/>
          </p:nvPr>
        </p:nvSpPr>
        <p:spPr/>
        <p:txBody>
          <a:bodyPr/>
          <a:lstStyle/>
          <a:p>
            <a:fld id="{9F4414A0-4E43-B244-BF62-FDB8F38845D2}" type="slidenum">
              <a:rPr lang="en-US" smtClean="0"/>
              <a:t>4</a:t>
            </a:fld>
            <a:endParaRPr lang="en-US"/>
          </a:p>
        </p:txBody>
      </p:sp>
    </p:spTree>
    <p:extLst>
      <p:ext uri="{BB962C8B-B14F-4D97-AF65-F5344CB8AC3E}">
        <p14:creationId xmlns:p14="http://schemas.microsoft.com/office/powerpoint/2010/main" val="14937931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on this page shows a graph of input voltage and output voltage comparing the response of an amplifier type tube to a tube that is designed more for digital applications (0/1).  The amplifier graph starts low and then is a curve going up almost linearly over the range of the input voltage.  The digital curve stays low longer and then goes up more vertically before tapering off at the top of the output voltage.  The concept is that the transition from low to high if gradual and almost linear for the amplifier and quick and almost vertical for the tube tuned for digital applications. The digital tube goes "vertical" at about the 1/3 point of the input voltage – this means that the tub "pulls up" low non-zero voltages like 0.3 to 1 on output.</a:t>
            </a:r>
          </a:p>
        </p:txBody>
      </p:sp>
      <p:sp>
        <p:nvSpPr>
          <p:cNvPr id="4" name="Slide Number Placeholder 3"/>
          <p:cNvSpPr>
            <a:spLocks noGrp="1"/>
          </p:cNvSpPr>
          <p:nvPr>
            <p:ph type="sldNum" sz="quarter" idx="5"/>
          </p:nvPr>
        </p:nvSpPr>
        <p:spPr/>
        <p:txBody>
          <a:bodyPr/>
          <a:lstStyle/>
          <a:p>
            <a:fld id="{9F4414A0-4E43-B244-BF62-FDB8F38845D2}" type="slidenum">
              <a:rPr lang="en-US" smtClean="0"/>
              <a:t>5</a:t>
            </a:fld>
            <a:endParaRPr lang="en-US"/>
          </a:p>
        </p:txBody>
      </p:sp>
    </p:spTree>
    <p:extLst>
      <p:ext uri="{BB962C8B-B14F-4D97-AF65-F5344CB8AC3E}">
        <p14:creationId xmlns:p14="http://schemas.microsoft.com/office/powerpoint/2010/main" val="36705187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Image: https://</a:t>
            </a:r>
            <a:r>
              <a:rPr lang="en-US" dirty="0" err="1"/>
              <a:t>en.wikipedia.org</a:t>
            </a:r>
            <a:r>
              <a:rPr lang="en-US" dirty="0"/>
              <a:t>/wiki/</a:t>
            </a:r>
            <a:r>
              <a:rPr lang="en-US" dirty="0" err="1"/>
              <a:t>Valve_amplifier</a:t>
            </a:r>
            <a:endParaRPr lang="en-US" dirty="0"/>
          </a:p>
          <a:p>
            <a:endParaRPr lang="en-US" dirty="0"/>
          </a:p>
        </p:txBody>
      </p:sp>
      <p:sp>
        <p:nvSpPr>
          <p:cNvPr id="4" name="Slide Number Placeholder 3"/>
          <p:cNvSpPr>
            <a:spLocks noGrp="1"/>
          </p:cNvSpPr>
          <p:nvPr>
            <p:ph type="sldNum" sz="quarter" idx="5"/>
          </p:nvPr>
        </p:nvSpPr>
        <p:spPr/>
        <p:txBody>
          <a:bodyPr/>
          <a:lstStyle/>
          <a:p>
            <a:fld id="{9F4414A0-4E43-B244-BF62-FDB8F38845D2}" type="slidenum">
              <a:rPr lang="en-US" smtClean="0"/>
              <a:t>6</a:t>
            </a:fld>
            <a:endParaRPr lang="en-US"/>
          </a:p>
        </p:txBody>
      </p:sp>
    </p:spTree>
    <p:extLst>
      <p:ext uri="{BB962C8B-B14F-4D97-AF65-F5344CB8AC3E}">
        <p14:creationId xmlns:p14="http://schemas.microsoft.com/office/powerpoint/2010/main" val="16732408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transistor ever made, built by John Bardeen, William Shockley and Walter H. Brattain of Bell Labs in 1947. Original exhibited in Bell Laboratories.</a:t>
            </a:r>
          </a:p>
          <a:p>
            <a:endParaRPr lang="en-US" dirty="0"/>
          </a:p>
          <a:p>
            <a:r>
              <a:rPr lang="en-US" dirty="0"/>
              <a:t>A few early manufactured transistors.  Each transistor has three inputs.</a:t>
            </a:r>
          </a:p>
          <a:p>
            <a:endParaRPr lang="en-US" dirty="0"/>
          </a:p>
          <a:p>
            <a:r>
              <a:rPr lang="en-US" dirty="0"/>
              <a:t>Image: https://</a:t>
            </a:r>
            <a:r>
              <a:rPr lang="en-US" dirty="0" err="1"/>
              <a:t>en.wikipedia.org</a:t>
            </a:r>
            <a:r>
              <a:rPr lang="en-US" dirty="0"/>
              <a:t>/wiki/Transistor</a:t>
            </a:r>
          </a:p>
          <a:p>
            <a:r>
              <a:rPr lang="en-US" dirty="0"/>
              <a:t>Image:  https://</a:t>
            </a:r>
            <a:r>
              <a:rPr lang="en-US" dirty="0" err="1"/>
              <a:t>commons.wikimedia.org</a:t>
            </a:r>
            <a:r>
              <a:rPr lang="en-US" dirty="0"/>
              <a:t>/wiki/File:1st-Transistor.jpg</a:t>
            </a:r>
          </a:p>
          <a:p>
            <a:endParaRPr lang="en-US" dirty="0"/>
          </a:p>
          <a:p>
            <a:endParaRPr lang="en-US" dirty="0"/>
          </a:p>
          <a:p>
            <a:endParaRPr lang="en-US" sz="1200" dirty="0"/>
          </a:p>
          <a:p>
            <a:endParaRPr lang="en-US" dirty="0"/>
          </a:p>
        </p:txBody>
      </p:sp>
      <p:sp>
        <p:nvSpPr>
          <p:cNvPr id="4" name="Slide Number Placeholder 3"/>
          <p:cNvSpPr>
            <a:spLocks noGrp="1"/>
          </p:cNvSpPr>
          <p:nvPr>
            <p:ph type="sldNum" sz="quarter" idx="5"/>
          </p:nvPr>
        </p:nvSpPr>
        <p:spPr/>
        <p:txBody>
          <a:bodyPr/>
          <a:lstStyle/>
          <a:p>
            <a:fld id="{9F4414A0-4E43-B244-BF62-FDB8F38845D2}" type="slidenum">
              <a:rPr lang="en-US" smtClean="0"/>
              <a:t>8</a:t>
            </a:fld>
            <a:endParaRPr lang="en-US"/>
          </a:p>
        </p:txBody>
      </p:sp>
    </p:spTree>
    <p:extLst>
      <p:ext uri="{BB962C8B-B14F-4D97-AF65-F5344CB8AC3E}">
        <p14:creationId xmlns:p14="http://schemas.microsoft.com/office/powerpoint/2010/main" val="3462307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is a transistor version of a tube.  it has an N-doped Emitter,  P-doped Base and N-Doped Collector.  We see  low amplitude wave form connected to the Base and a higher amplitude wave form coming out of the emitter to show amplification.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Image: https://</a:t>
            </a:r>
            <a:r>
              <a:rPr lang="en-US" dirty="0" err="1"/>
              <a:t>en.wikipedia.org</a:t>
            </a:r>
            <a:r>
              <a:rPr lang="en-US" dirty="0"/>
              <a:t>/wiki/</a:t>
            </a:r>
            <a:r>
              <a:rPr lang="en-US" dirty="0" err="1"/>
              <a:t>Nobel_Prize_in_Physics</a:t>
            </a:r>
            <a:endParaRPr lang="en-US" dirty="0"/>
          </a:p>
          <a:p>
            <a:endParaRPr lang="en-US" dirty="0"/>
          </a:p>
        </p:txBody>
      </p:sp>
      <p:sp>
        <p:nvSpPr>
          <p:cNvPr id="4" name="Slide Number Placeholder 3"/>
          <p:cNvSpPr>
            <a:spLocks noGrp="1"/>
          </p:cNvSpPr>
          <p:nvPr>
            <p:ph type="sldNum" sz="quarter" idx="5"/>
          </p:nvPr>
        </p:nvSpPr>
        <p:spPr/>
        <p:txBody>
          <a:bodyPr/>
          <a:lstStyle/>
          <a:p>
            <a:fld id="{9F4414A0-4E43-B244-BF62-FDB8F38845D2}" type="slidenum">
              <a:rPr lang="en-US" smtClean="0"/>
              <a:t>9</a:t>
            </a:fld>
            <a:endParaRPr lang="en-US"/>
          </a:p>
        </p:txBody>
      </p:sp>
    </p:spTree>
    <p:extLst>
      <p:ext uri="{BB962C8B-B14F-4D97-AF65-F5344CB8AC3E}">
        <p14:creationId xmlns:p14="http://schemas.microsoft.com/office/powerpoint/2010/main" val="38249920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BJT – Bipolar Junction </a:t>
            </a:r>
            <a:r>
              <a:rPr lang="en-US" dirty="0" err="1"/>
              <a:t>Tranistor</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Image: https://</a:t>
            </a:r>
            <a:r>
              <a:rPr lang="en-US" dirty="0" err="1"/>
              <a:t>en.wikipedia.org</a:t>
            </a:r>
            <a:r>
              <a:rPr lang="en-US" dirty="0"/>
              <a:t>/wiki/Amplifier</a:t>
            </a:r>
          </a:p>
          <a:p>
            <a:endParaRPr lang="en-US" dirty="0"/>
          </a:p>
        </p:txBody>
      </p:sp>
      <p:sp>
        <p:nvSpPr>
          <p:cNvPr id="4" name="Slide Number Placeholder 3"/>
          <p:cNvSpPr>
            <a:spLocks noGrp="1"/>
          </p:cNvSpPr>
          <p:nvPr>
            <p:ph type="sldNum" sz="quarter" idx="5"/>
          </p:nvPr>
        </p:nvSpPr>
        <p:spPr/>
        <p:txBody>
          <a:bodyPr/>
          <a:lstStyle/>
          <a:p>
            <a:fld id="{9F4414A0-4E43-B244-BF62-FDB8F38845D2}" type="slidenum">
              <a:rPr lang="en-US" smtClean="0"/>
              <a:t>10</a:t>
            </a:fld>
            <a:endParaRPr lang="en-US"/>
          </a:p>
        </p:txBody>
      </p:sp>
    </p:spTree>
    <p:extLst>
      <p:ext uri="{BB962C8B-B14F-4D97-AF65-F5344CB8AC3E}">
        <p14:creationId xmlns:p14="http://schemas.microsoft.com/office/powerpoint/2010/main" val="16786433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Ebay</a:t>
            </a:r>
            <a:r>
              <a:rPr lang="en-US" dirty="0"/>
              <a:t> photo of a Sony TR-826 vintage AM radio.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Pocket transistor radio, late 1960s to 1970s, with 7 germanium transistors, that received long wave and medium wave (AM broadcast) bands. View with back open, showing parts. Powered by 2 button cells supplying 3V (removed).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Image: https://</a:t>
            </a:r>
            <a:r>
              <a:rPr lang="en-US" dirty="0" err="1"/>
              <a:t>en.wikipedia.org</a:t>
            </a:r>
            <a:r>
              <a:rPr lang="en-US" dirty="0"/>
              <a:t>/wiki/</a:t>
            </a:r>
            <a:r>
              <a:rPr lang="en-US" dirty="0" err="1"/>
              <a:t>Transistor_radio</a:t>
            </a:r>
            <a:endParaRPr lang="en-US" dirty="0"/>
          </a:p>
          <a:p>
            <a:endParaRPr lang="en-US" dirty="0"/>
          </a:p>
        </p:txBody>
      </p:sp>
      <p:sp>
        <p:nvSpPr>
          <p:cNvPr id="4" name="Slide Number Placeholder 3"/>
          <p:cNvSpPr>
            <a:spLocks noGrp="1"/>
          </p:cNvSpPr>
          <p:nvPr>
            <p:ph type="sldNum" sz="quarter" idx="5"/>
          </p:nvPr>
        </p:nvSpPr>
        <p:spPr/>
        <p:txBody>
          <a:bodyPr/>
          <a:lstStyle/>
          <a:p>
            <a:fld id="{9F4414A0-4E43-B244-BF62-FDB8F38845D2}" type="slidenum">
              <a:rPr lang="en-US" smtClean="0"/>
              <a:t>11</a:t>
            </a:fld>
            <a:endParaRPr lang="en-US"/>
          </a:p>
        </p:txBody>
      </p:sp>
    </p:spTree>
    <p:extLst>
      <p:ext uri="{BB962C8B-B14F-4D97-AF65-F5344CB8AC3E}">
        <p14:creationId xmlns:p14="http://schemas.microsoft.com/office/powerpoint/2010/main" val="27897811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MC240 tube amplifier (early version), manufactured by McIntosh Laboratories in 1961.  It is powers on with 12 beautiful exposed tubes glowing a soft orange and blue.  Costs about $3500 on eBay.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a:t>
            </a:r>
            <a:r>
              <a:rPr lang="en-US" dirty="0" err="1"/>
              <a:t>en.wikipedia.org</a:t>
            </a:r>
            <a:r>
              <a:rPr lang="en-US" dirty="0"/>
              <a:t>/wiki/</a:t>
            </a:r>
            <a:r>
              <a:rPr lang="en-US" dirty="0" err="1"/>
              <a:t>Valve_amplifier</a:t>
            </a:r>
            <a:endParaRPr lang="en-US" dirty="0"/>
          </a:p>
          <a:p>
            <a:endParaRPr lang="en-US" dirty="0"/>
          </a:p>
        </p:txBody>
      </p:sp>
      <p:sp>
        <p:nvSpPr>
          <p:cNvPr id="4" name="Slide Number Placeholder 3"/>
          <p:cNvSpPr>
            <a:spLocks noGrp="1"/>
          </p:cNvSpPr>
          <p:nvPr>
            <p:ph type="sldNum" sz="quarter" idx="5"/>
          </p:nvPr>
        </p:nvSpPr>
        <p:spPr/>
        <p:txBody>
          <a:bodyPr/>
          <a:lstStyle/>
          <a:p>
            <a:fld id="{9F4414A0-4E43-B244-BF62-FDB8F38845D2}" type="slidenum">
              <a:rPr lang="en-US" smtClean="0"/>
              <a:t>12</a:t>
            </a:fld>
            <a:endParaRPr lang="en-US"/>
          </a:p>
        </p:txBody>
      </p:sp>
    </p:spTree>
    <p:extLst>
      <p:ext uri="{BB962C8B-B14F-4D97-AF65-F5344CB8AC3E}">
        <p14:creationId xmlns:p14="http://schemas.microsoft.com/office/powerpoint/2010/main" val="17594752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846F9-D53A-2441-D570-4D9B3776BA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F7F85A-AC55-1510-CC6F-7158EDFAD2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6F0078-1954-882F-202E-F6C90D73B0A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transistor equivalent of the tube diagram a few slides back.  The diagram on this page shows a graph of input voltage and output voltage comparing the response of an amplifier type transistor to a transistor that is designed more for digital applications (0/1).  The amplifier graph starts low and then is a curve going up almost linearly over the range of the input voltage.  The digital curve stays low longer and then goes up more vertically before tapering off at the top of the output voltage.  The concept is that the transition from low to high if gradual and almost linear for the amplifier and quick and almost vertical for the transistor tuned for digital applications. The digital tube goes "vertical" at about the 1/3 point of the input voltage – this means that the transistor "pulls up" low non-zero voltages like 0.3 to 1 on output.</a:t>
            </a:r>
          </a:p>
          <a:p>
            <a:endParaRPr lang="en-US" dirty="0"/>
          </a:p>
        </p:txBody>
      </p:sp>
      <p:sp>
        <p:nvSpPr>
          <p:cNvPr id="4" name="Slide Number Placeholder 3">
            <a:extLst>
              <a:ext uri="{FF2B5EF4-FFF2-40B4-BE49-F238E27FC236}">
                <a16:creationId xmlns:a16="http://schemas.microsoft.com/office/drawing/2014/main" id="{A7C560D0-891A-67AE-2EB6-E6AA27D19B97}"/>
              </a:ext>
            </a:extLst>
          </p:cNvPr>
          <p:cNvSpPr>
            <a:spLocks noGrp="1"/>
          </p:cNvSpPr>
          <p:nvPr>
            <p:ph type="sldNum" sz="quarter" idx="5"/>
          </p:nvPr>
        </p:nvSpPr>
        <p:spPr/>
        <p:txBody>
          <a:bodyPr/>
          <a:lstStyle/>
          <a:p>
            <a:fld id="{9F4414A0-4E43-B244-BF62-FDB8F38845D2}" type="slidenum">
              <a:rPr lang="en-US" smtClean="0"/>
              <a:t>13</a:t>
            </a:fld>
            <a:endParaRPr lang="en-US"/>
          </a:p>
        </p:txBody>
      </p:sp>
    </p:spTree>
    <p:extLst>
      <p:ext uri="{BB962C8B-B14F-4D97-AF65-F5344CB8AC3E}">
        <p14:creationId xmlns:p14="http://schemas.microsoft.com/office/powerpoint/2010/main" val="26510139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448F0-68F4-CBA3-49DF-A2D9201832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84EEA4-7214-5762-03DC-69828A6052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F0A72-ACFD-4141-7FE2-10A89170E074}"/>
              </a:ext>
            </a:extLst>
          </p:cNvPr>
          <p:cNvSpPr>
            <a:spLocks noGrp="1"/>
          </p:cNvSpPr>
          <p:nvPr>
            <p:ph type="body" idx="1"/>
          </p:nvPr>
        </p:nvSpPr>
        <p:spPr/>
        <p:txBody>
          <a:bodyPr/>
          <a:lstStyle/>
          <a:p>
            <a:r>
              <a:rPr lang="en-US" dirty="0"/>
              <a:t>PMOS (p-channel metal-oxide-semiconductor) refers to a type of field-effect transistor (FET) where the current flow is carried by positively charged "holes"</a:t>
            </a:r>
          </a:p>
          <a:p>
            <a:r>
              <a:rPr lang="en-US" dirty="0"/>
              <a:t>NMOS (n-type metal–oxide–semiconductor) refers to a type of field-effect transistor (FET)  where the channel between the source and drain is made of n-type semiconductor material</a:t>
            </a:r>
          </a:p>
          <a:p>
            <a:endParaRPr lang="en-US" dirty="0"/>
          </a:p>
          <a:p>
            <a:r>
              <a:rPr lang="en-US" dirty="0"/>
              <a:t>The graph on this slide shows an PMOS S-curve going from low to high output voltage with an almost vertical transition at the 2/3 point in the input voltage.  The 2/3 point helps pull up voltages that might not quite be 1 on input to 1 on output.  The NMOS S-Curve goes from high to low with an almost vertical drop at about the 1/3 point in the input voltage.  The 2/3 point helps pull down voltages that might not quite be 1 on input to be 0 on output.</a:t>
            </a:r>
          </a:p>
          <a:p>
            <a:endParaRPr lang="en-US" dirty="0"/>
          </a:p>
          <a:p>
            <a:r>
              <a:rPr lang="en-US" dirty="0"/>
              <a:t>Early logic used PMOS or NMOS depending on what was most effective to manufacture.  But the mid 1980s – both NMOS and PMOS could be manufactured in one chip, leading the the use of both on modern chips – we called it CMOS – </a:t>
            </a:r>
            <a:r>
              <a:rPr lang="en-US" dirty="0">
                <a:solidFill>
                  <a:srgbClr val="000000"/>
                </a:solidFill>
                <a:effectLst/>
                <a:latin typeface="Calibri" panose="020F0502020204030204" pitchFamily="34" charset="0"/>
              </a:rPr>
              <a:t>Complementary Metal-Oxide-Semiconductor</a:t>
            </a:r>
            <a:r>
              <a:rPr lang="en-US" dirty="0"/>
              <a:t>.  In short NMOS + PMOS = CMOS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Reference: https://</a:t>
            </a:r>
            <a:r>
              <a:rPr lang="en-US" dirty="0" err="1"/>
              <a:t>en.wikipedia.org</a:t>
            </a:r>
            <a:r>
              <a:rPr lang="en-US" dirty="0"/>
              <a:t>/wiki/MOSFET</a:t>
            </a:r>
          </a:p>
          <a:p>
            <a:endParaRPr lang="en-US" dirty="0"/>
          </a:p>
        </p:txBody>
      </p:sp>
      <p:sp>
        <p:nvSpPr>
          <p:cNvPr id="4" name="Slide Number Placeholder 3">
            <a:extLst>
              <a:ext uri="{FF2B5EF4-FFF2-40B4-BE49-F238E27FC236}">
                <a16:creationId xmlns:a16="http://schemas.microsoft.com/office/drawing/2014/main" id="{9141E5D3-5033-A6C2-F6A5-07EFF3957B14}"/>
              </a:ext>
            </a:extLst>
          </p:cNvPr>
          <p:cNvSpPr>
            <a:spLocks noGrp="1"/>
          </p:cNvSpPr>
          <p:nvPr>
            <p:ph type="sldNum" sz="quarter" idx="5"/>
          </p:nvPr>
        </p:nvSpPr>
        <p:spPr/>
        <p:txBody>
          <a:bodyPr/>
          <a:lstStyle/>
          <a:p>
            <a:fld id="{9F4414A0-4E43-B244-BF62-FDB8F38845D2}" type="slidenum">
              <a:rPr lang="en-US" smtClean="0"/>
              <a:t>14</a:t>
            </a:fld>
            <a:endParaRPr lang="en-US"/>
          </a:p>
        </p:txBody>
      </p:sp>
    </p:spTree>
    <p:extLst>
      <p:ext uri="{BB962C8B-B14F-4D97-AF65-F5344CB8AC3E}">
        <p14:creationId xmlns:p14="http://schemas.microsoft.com/office/powerpoint/2010/main" val="23581046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Image: </a:t>
            </a:r>
            <a:r>
              <a:rPr lang="en-US" sz="1200" dirty="0"/>
              <a:t>https://</a:t>
            </a:r>
            <a:r>
              <a:rPr lang="en-US" sz="1200" dirty="0" err="1"/>
              <a:t>en.wikipedia.org</a:t>
            </a:r>
            <a:r>
              <a:rPr lang="en-US" sz="1200" dirty="0"/>
              <a:t>/wiki/Inverter_(</a:t>
            </a:r>
            <a:r>
              <a:rPr lang="en-US" sz="1200" dirty="0" err="1"/>
              <a:t>logic_gate</a:t>
            </a:r>
            <a:r>
              <a:rPr lang="en-US" sz="1200" dirty="0"/>
              <a:t>)</a:t>
            </a:r>
          </a:p>
          <a:p>
            <a:endParaRPr lang="en-US" dirty="0"/>
          </a:p>
        </p:txBody>
      </p:sp>
      <p:sp>
        <p:nvSpPr>
          <p:cNvPr id="4" name="Slide Number Placeholder 3"/>
          <p:cNvSpPr>
            <a:spLocks noGrp="1"/>
          </p:cNvSpPr>
          <p:nvPr>
            <p:ph type="sldNum" sz="quarter" idx="5"/>
          </p:nvPr>
        </p:nvSpPr>
        <p:spPr/>
        <p:txBody>
          <a:bodyPr/>
          <a:lstStyle/>
          <a:p>
            <a:fld id="{9F4414A0-4E43-B244-BF62-FDB8F38845D2}" type="slidenum">
              <a:rPr lang="en-US" smtClean="0"/>
              <a:t>17</a:t>
            </a:fld>
            <a:endParaRPr lang="en-US"/>
          </a:p>
        </p:txBody>
      </p:sp>
    </p:spTree>
    <p:extLst>
      <p:ext uri="{BB962C8B-B14F-4D97-AF65-F5344CB8AC3E}">
        <p14:creationId xmlns:p14="http://schemas.microsoft.com/office/powerpoint/2010/main" val="32661559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not gates show an evolution.  In the early 1970s, were easier to manufacture but they were slow and had low density. When the input to a PMOS Not gate is 1 the gate closes, and the output voltage of the transistor is split between the output going to the next gate and the resistor connected to ground.  Because of this, the output voltage needs to be "pulled up" by the next gate and the resistor generates heat if the PMOS input is 1.   In the late 1970's when manufacturing improved, NMOS transistors could be built with much higher densities.  When the input to a NMOS Not gate is 0, the transistor is open (not conducting) and the voltage flows from VCC to the output (1).  When the input to the NMOS Not gate is 1, the transistor is closed (conducting) so the output is pulled to ground.  Once the transistor is closed current flows directly from VCC to ground and to avoid a short circuit, there is a resistor to limit current from VCC to ground.  While the input to the NMOS Not gate is 1, the resistor is using power and generating heat.  In </a:t>
            </a:r>
            <a:r>
              <a:rPr lang="en-US" dirty="0">
                <a:solidFill>
                  <a:srgbClr val="000000"/>
                </a:solidFill>
                <a:effectLst/>
                <a:latin typeface="Calibri" panose="020F0502020204030204" pitchFamily="34" charset="0"/>
              </a:rPr>
              <a:t>Complementary Metal-Oxide-Semiconductor </a:t>
            </a:r>
            <a:r>
              <a:rPr lang="en-US" dirty="0"/>
              <a:t>(CMOS) there is both PMOS and NMOS transistors connected to the same input.  If the CMOS Not input is zero, the PMOS transistor opens and the NMOS transistor closes and VCC is connected to output with no need for a resistor.  When The CMOS Not input is 1, the PMOS transistor closes and the NMOS transistor opens, drawing the output down to (0).   CMS Not gates consume very little power and generate very little heat when the input is not changing.  There is some heat generated which the input is changing, but overall, the two-transistor CMOS approach uses far less power and generates far less hear than either of the single transistor Not gates.  CMOS can handle far greater densities and switching speeds without damage and continues to be the dominate approach in modern chips.</a:t>
            </a:r>
          </a:p>
        </p:txBody>
      </p:sp>
      <p:sp>
        <p:nvSpPr>
          <p:cNvPr id="4" name="Slide Number Placeholder 3"/>
          <p:cNvSpPr>
            <a:spLocks noGrp="1"/>
          </p:cNvSpPr>
          <p:nvPr>
            <p:ph type="sldNum" sz="quarter" idx="5"/>
          </p:nvPr>
        </p:nvSpPr>
        <p:spPr/>
        <p:txBody>
          <a:bodyPr/>
          <a:lstStyle/>
          <a:p>
            <a:fld id="{9F4414A0-4E43-B244-BF62-FDB8F38845D2}" type="slidenum">
              <a:rPr lang="en-US" smtClean="0"/>
              <a:t>18</a:t>
            </a:fld>
            <a:endParaRPr lang="en-US"/>
          </a:p>
        </p:txBody>
      </p:sp>
    </p:spTree>
    <p:extLst>
      <p:ext uri="{BB962C8B-B14F-4D97-AF65-F5344CB8AC3E}">
        <p14:creationId xmlns:p14="http://schemas.microsoft.com/office/powerpoint/2010/main" val="10138039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CBBB9-2464-3EC8-9C2D-A7CEC778BF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E83569-76F7-B0B3-8B62-0557A0726D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6A6E64-5C49-9DA5-B07C-66DBC7FFB062}"/>
              </a:ext>
            </a:extLst>
          </p:cNvPr>
          <p:cNvSpPr>
            <a:spLocks noGrp="1"/>
          </p:cNvSpPr>
          <p:nvPr>
            <p:ph type="body" idx="1"/>
          </p:nvPr>
        </p:nvSpPr>
        <p:spPr/>
        <p:txBody>
          <a:bodyPr/>
          <a:lstStyle/>
          <a:p>
            <a:r>
              <a:rPr lang="en-US" dirty="0"/>
              <a:t>These not gates show an evolution.  In the early 1970s, were easier to manufacture but they were slow and had low density. When the input to a PMOS Not gate is 1 the gate closes, and the output voltage of the transistor is split between the output going to the next gate and the resistor connected to ground.  Because of this, the output voltage needs to be "pulled up" by the next gate and the resistor generates heat if the PMOS input is 1.   In the late 1970's when manufacturing improved, NMOS transistors could be built with much higher densities.  When the input to a NMOS Not gate is 0, the transistor is open (not conducting) and the voltage flows from VCC to the output (1).  When the input to the NMOS Not gate is 1, the transistor is closed (conducting) so the output is pulled to ground.  Once the transistor is closed current flows directly from VCC to ground and to avoid a short circuit, there is a resistor to limit current from VCC to ground.  While the input to the NMOS Not gate is 1, the resistor is using power and generating heat.  In </a:t>
            </a:r>
            <a:r>
              <a:rPr lang="en-US" dirty="0">
                <a:solidFill>
                  <a:srgbClr val="000000"/>
                </a:solidFill>
                <a:effectLst/>
                <a:latin typeface="Calibri" panose="020F0502020204030204" pitchFamily="34" charset="0"/>
              </a:rPr>
              <a:t>Complementary Metal-Oxide-Semiconductor </a:t>
            </a:r>
            <a:r>
              <a:rPr lang="en-US" dirty="0"/>
              <a:t>(CMOS) there is both PMOS and NMOS transistors connected to the same input.  If the CMOS Not input is zero, the PMOS transistor opens and the NMOS transistor closes and VCC is connected to output with no need for a resistor.  When The CMOS Not input is 1, the PMOS transistor closes and the NMOS transistor opens, drawing the output down to (0).   CMS Not gates consume very little power and generate very little heat when the input is not changing.  There is some heat generated which the input is changing, but overall, the two-transistor CMOS approach uses far less power and generates far less hear than either of the single transistor Not gates.  CMOS can handle far greater densities and switching speeds without damage and continues to be the dominate approach in modern chips.</a:t>
            </a:r>
          </a:p>
        </p:txBody>
      </p:sp>
      <p:sp>
        <p:nvSpPr>
          <p:cNvPr id="4" name="Slide Number Placeholder 3">
            <a:extLst>
              <a:ext uri="{FF2B5EF4-FFF2-40B4-BE49-F238E27FC236}">
                <a16:creationId xmlns:a16="http://schemas.microsoft.com/office/drawing/2014/main" id="{A940AF12-48BB-37BA-2A80-CF07B307CC15}"/>
              </a:ext>
            </a:extLst>
          </p:cNvPr>
          <p:cNvSpPr>
            <a:spLocks noGrp="1"/>
          </p:cNvSpPr>
          <p:nvPr>
            <p:ph type="sldNum" sz="quarter" idx="5"/>
          </p:nvPr>
        </p:nvSpPr>
        <p:spPr/>
        <p:txBody>
          <a:bodyPr/>
          <a:lstStyle/>
          <a:p>
            <a:fld id="{9F4414A0-4E43-B244-BF62-FDB8F38845D2}" type="slidenum">
              <a:rPr lang="en-US" smtClean="0"/>
              <a:t>19</a:t>
            </a:fld>
            <a:endParaRPr lang="en-US"/>
          </a:p>
        </p:txBody>
      </p:sp>
    </p:spTree>
    <p:extLst>
      <p:ext uri="{BB962C8B-B14F-4D97-AF65-F5344CB8AC3E}">
        <p14:creationId xmlns:p14="http://schemas.microsoft.com/office/powerpoint/2010/main" val="32263329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2D8CA-BAE5-CB3F-64AD-7291C42964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C8B447-BB1B-C7FF-A745-5672261B02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A7B2E2-659B-4009-C753-B525F5594537}"/>
              </a:ext>
            </a:extLst>
          </p:cNvPr>
          <p:cNvSpPr>
            <a:spLocks noGrp="1"/>
          </p:cNvSpPr>
          <p:nvPr>
            <p:ph type="body" idx="1"/>
          </p:nvPr>
        </p:nvSpPr>
        <p:spPr/>
        <p:txBody>
          <a:bodyPr/>
          <a:lstStyle/>
          <a:p>
            <a:r>
              <a:rPr lang="en-US" dirty="0"/>
              <a:t>These not gates show an evolution.  In the early 1970s, were easier to manufacture but they were slow and had low density. When the input to a PMOS Not gate is 1 the gate closes, and the output voltage of the transistor is split between the output going to the next gate and the resistor connected to ground.  Because of this, the output voltage needs to be "pulled up" by the next gate and the resistor generates heat if the PMOS input is 1.   In the late 1970's when manufacturing improved, NMOS transistors could be built with much higher densities.  When the input to a NMOS Not gate is 0, the transistor is open (not conducting) and the voltage flows from VCC to the output (1).  When the input to the NMOS Not gate is 1, the transistor is closed (conducting) so the output is pulled to ground.  Once the transistor is closed current flows directly from VCC to ground and to avoid a short circuit, there is a resistor to limit current from VCC to ground.  While the input to the NMOS Not gate is 1, the resistor is using power and generating heat.  In </a:t>
            </a:r>
            <a:r>
              <a:rPr lang="en-US" dirty="0">
                <a:solidFill>
                  <a:srgbClr val="000000"/>
                </a:solidFill>
                <a:effectLst/>
                <a:latin typeface="Calibri" panose="020F0502020204030204" pitchFamily="34" charset="0"/>
              </a:rPr>
              <a:t>Complementary Metal-Oxide-Semiconductor </a:t>
            </a:r>
            <a:r>
              <a:rPr lang="en-US" dirty="0"/>
              <a:t>(CMOS) there is both PMOS and NMOS transistors connected to the same input.  If the CMOS Not input is zero, the PMOS transistor opens and the NMOS transistor closes and VCC is connected to output with no need for a resistor.  When The CMOS Not input is 1, the PMOS transistor closes and the NMOS transistor opens, drawing the output down to (0).   CMS Not gates consume very little power and generate very little heat when the input is not changing.  There is some heat generated which the input is changing, but overall, the two-transistor CMOS approach uses far less power and generates far less hear than either of the single transistor Not gates.  CMOS can handle far greater densities and switching speeds without damage and continues to be the dominate approach in modern chips.</a:t>
            </a:r>
          </a:p>
        </p:txBody>
      </p:sp>
      <p:sp>
        <p:nvSpPr>
          <p:cNvPr id="4" name="Slide Number Placeholder 3">
            <a:extLst>
              <a:ext uri="{FF2B5EF4-FFF2-40B4-BE49-F238E27FC236}">
                <a16:creationId xmlns:a16="http://schemas.microsoft.com/office/drawing/2014/main" id="{DA5CCF90-496A-4C68-0980-83D0B3795F8A}"/>
              </a:ext>
            </a:extLst>
          </p:cNvPr>
          <p:cNvSpPr>
            <a:spLocks noGrp="1"/>
          </p:cNvSpPr>
          <p:nvPr>
            <p:ph type="sldNum" sz="quarter" idx="5"/>
          </p:nvPr>
        </p:nvSpPr>
        <p:spPr/>
        <p:txBody>
          <a:bodyPr/>
          <a:lstStyle/>
          <a:p>
            <a:fld id="{9F4414A0-4E43-B244-BF62-FDB8F38845D2}" type="slidenum">
              <a:rPr lang="en-US" smtClean="0"/>
              <a:t>20</a:t>
            </a:fld>
            <a:endParaRPr lang="en-US"/>
          </a:p>
        </p:txBody>
      </p:sp>
    </p:spTree>
    <p:extLst>
      <p:ext uri="{BB962C8B-B14F-4D97-AF65-F5344CB8AC3E}">
        <p14:creationId xmlns:p14="http://schemas.microsoft.com/office/powerpoint/2010/main" val="32014606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CMOS Not gate - it has a PMOS transistor at the top connected between VDD and the common OUT line.  It has an NMOS transistor at the bottom connected between the common OUT line and the ground.  The Input (A) is connected to the gate input of both transistors.</a:t>
            </a:r>
          </a:p>
        </p:txBody>
      </p:sp>
      <p:sp>
        <p:nvSpPr>
          <p:cNvPr id="4" name="Slide Number Placeholder 3"/>
          <p:cNvSpPr>
            <a:spLocks noGrp="1"/>
          </p:cNvSpPr>
          <p:nvPr>
            <p:ph type="sldNum" sz="quarter" idx="5"/>
          </p:nvPr>
        </p:nvSpPr>
        <p:spPr/>
        <p:txBody>
          <a:bodyPr/>
          <a:lstStyle/>
          <a:p>
            <a:fld id="{9F4414A0-4E43-B244-BF62-FDB8F38845D2}" type="slidenum">
              <a:rPr lang="en-US" smtClean="0"/>
              <a:t>21</a:t>
            </a:fld>
            <a:endParaRPr lang="en-US"/>
          </a:p>
        </p:txBody>
      </p:sp>
    </p:spTree>
    <p:extLst>
      <p:ext uri="{BB962C8B-B14F-4D97-AF65-F5344CB8AC3E}">
        <p14:creationId xmlns:p14="http://schemas.microsoft.com/office/powerpoint/2010/main" val="8355256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CMOS Not gate - it has a PMOS transistor at the top connected between VDD and the OUT line.  It has an NMOS transistor at the bottom connected between the common OUT line and the ground.  The Input (A) is connected to the gate input of both transistors.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Image: https://www.ca4e.com/tools/</a:t>
            </a:r>
            <a:r>
              <a:rPr lang="en-US" dirty="0" err="1"/>
              <a:t>cmos</a:t>
            </a:r>
            <a:r>
              <a:rPr lang="en-US" dirty="0"/>
              <a:t>/</a:t>
            </a:r>
          </a:p>
          <a:p>
            <a:endParaRPr lang="en-US" dirty="0"/>
          </a:p>
        </p:txBody>
      </p:sp>
      <p:sp>
        <p:nvSpPr>
          <p:cNvPr id="4" name="Slide Number Placeholder 3"/>
          <p:cNvSpPr>
            <a:spLocks noGrp="1"/>
          </p:cNvSpPr>
          <p:nvPr>
            <p:ph type="sldNum" sz="quarter" idx="5"/>
          </p:nvPr>
        </p:nvSpPr>
        <p:spPr/>
        <p:txBody>
          <a:bodyPr/>
          <a:lstStyle/>
          <a:p>
            <a:fld id="{9F4414A0-4E43-B244-BF62-FDB8F38845D2}" type="slidenum">
              <a:rPr lang="en-US" smtClean="0"/>
              <a:t>22</a:t>
            </a:fld>
            <a:endParaRPr lang="en-US"/>
          </a:p>
        </p:txBody>
      </p:sp>
    </p:spTree>
    <p:extLst>
      <p:ext uri="{BB962C8B-B14F-4D97-AF65-F5344CB8AC3E}">
        <p14:creationId xmlns:p14="http://schemas.microsoft.com/office/powerpoint/2010/main" val="17269507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4414A0-4E43-B244-BF62-FDB8F38845D2}" type="slidenum">
              <a:rPr lang="en-US" smtClean="0"/>
              <a:t>23</a:t>
            </a:fld>
            <a:endParaRPr lang="en-US"/>
          </a:p>
        </p:txBody>
      </p:sp>
    </p:spTree>
    <p:extLst>
      <p:ext uri="{BB962C8B-B14F-4D97-AF65-F5344CB8AC3E}">
        <p14:creationId xmlns:p14="http://schemas.microsoft.com/office/powerpoint/2010/main" val="27392928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NAND gate with two PMOS transistors in parallel at the top connecting to the OUT wire.  On the bottom there are two series NMOS transistors connected between the OUT wire and the ground.</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a NOR gate with two PMOS transistors in series at the top connecting to the OUT wire.  On the bottom there are two parallel NMOS transistors connected between the OUT wire and the ground.</a:t>
            </a:r>
          </a:p>
          <a:p>
            <a:endParaRPr lang="en-US" dirty="0"/>
          </a:p>
          <a:p>
            <a:endParaRPr lang="en-US" dirty="0"/>
          </a:p>
        </p:txBody>
      </p:sp>
      <p:sp>
        <p:nvSpPr>
          <p:cNvPr id="4" name="Slide Number Placeholder 3"/>
          <p:cNvSpPr>
            <a:spLocks noGrp="1"/>
          </p:cNvSpPr>
          <p:nvPr>
            <p:ph type="sldNum" sz="quarter" idx="5"/>
          </p:nvPr>
        </p:nvSpPr>
        <p:spPr/>
        <p:txBody>
          <a:bodyPr/>
          <a:lstStyle/>
          <a:p>
            <a:fld id="{9F4414A0-4E43-B244-BF62-FDB8F38845D2}" type="slidenum">
              <a:rPr lang="en-US" smtClean="0"/>
              <a:t>25</a:t>
            </a:fld>
            <a:endParaRPr lang="en-US"/>
          </a:p>
        </p:txBody>
      </p:sp>
    </p:spTree>
    <p:extLst>
      <p:ext uri="{BB962C8B-B14F-4D97-AF65-F5344CB8AC3E}">
        <p14:creationId xmlns:p14="http://schemas.microsoft.com/office/powerpoint/2010/main" val="13368254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a NAND gate with two PMOS transistors in parallel at the top connecting to the OUT wire.  On the bottom there are two series NMOS transistors connected between the OUT wire and the ground.</a:t>
            </a:r>
          </a:p>
          <a:p>
            <a:endParaRPr lang="en-US" dirty="0"/>
          </a:p>
        </p:txBody>
      </p:sp>
      <p:sp>
        <p:nvSpPr>
          <p:cNvPr id="4" name="Slide Number Placeholder 3"/>
          <p:cNvSpPr>
            <a:spLocks noGrp="1"/>
          </p:cNvSpPr>
          <p:nvPr>
            <p:ph type="sldNum" sz="quarter" idx="5"/>
          </p:nvPr>
        </p:nvSpPr>
        <p:spPr/>
        <p:txBody>
          <a:bodyPr/>
          <a:lstStyle/>
          <a:p>
            <a:fld id="{9F4414A0-4E43-B244-BF62-FDB8F38845D2}" type="slidenum">
              <a:rPr lang="en-US" smtClean="0"/>
              <a:t>26</a:t>
            </a:fld>
            <a:endParaRPr lang="en-US"/>
          </a:p>
        </p:txBody>
      </p:sp>
    </p:spTree>
    <p:extLst>
      <p:ext uri="{BB962C8B-B14F-4D97-AF65-F5344CB8AC3E}">
        <p14:creationId xmlns:p14="http://schemas.microsoft.com/office/powerpoint/2010/main" val="8128799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37EEE-A3CF-443A-2482-35E18D99AF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57F8B9C-F5BA-17F9-0A1A-E9665612F7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8F8FBE-FBBE-A0CC-FC42-3FF15B01058C}"/>
              </a:ext>
            </a:extLst>
          </p:cNvPr>
          <p:cNvSpPr>
            <a:spLocks noGrp="1"/>
          </p:cNvSpPr>
          <p:nvPr>
            <p:ph type="dt" sz="half" idx="10"/>
          </p:nvPr>
        </p:nvSpPr>
        <p:spPr/>
        <p:txBody>
          <a:bodyPr/>
          <a:lstStyle/>
          <a:p>
            <a:fld id="{D5D8E255-8371-B349-B2F5-F8C6C9FF431B}" type="datetimeFigureOut">
              <a:rPr lang="en-US" smtClean="0"/>
              <a:t>3/21/26</a:t>
            </a:fld>
            <a:endParaRPr lang="en-US"/>
          </a:p>
        </p:txBody>
      </p:sp>
      <p:sp>
        <p:nvSpPr>
          <p:cNvPr id="5" name="Footer Placeholder 4">
            <a:extLst>
              <a:ext uri="{FF2B5EF4-FFF2-40B4-BE49-F238E27FC236}">
                <a16:creationId xmlns:a16="http://schemas.microsoft.com/office/drawing/2014/main" id="{1D2E2043-136C-34E3-9B5E-AC338246D9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6856A4-24F1-F505-9F17-D7CBFCAEE78C}"/>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2152495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DBEDB-C75D-A176-F1E1-2D61BD6412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60EA41-92F4-D93D-5DF9-8B79882ED1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3330B2-BD20-D788-65A6-746C9CD144E3}"/>
              </a:ext>
            </a:extLst>
          </p:cNvPr>
          <p:cNvSpPr>
            <a:spLocks noGrp="1"/>
          </p:cNvSpPr>
          <p:nvPr>
            <p:ph type="dt" sz="half" idx="10"/>
          </p:nvPr>
        </p:nvSpPr>
        <p:spPr/>
        <p:txBody>
          <a:bodyPr/>
          <a:lstStyle/>
          <a:p>
            <a:fld id="{D5D8E255-8371-B349-B2F5-F8C6C9FF431B}" type="datetimeFigureOut">
              <a:rPr lang="en-US" smtClean="0"/>
              <a:t>3/21/26</a:t>
            </a:fld>
            <a:endParaRPr lang="en-US"/>
          </a:p>
        </p:txBody>
      </p:sp>
      <p:sp>
        <p:nvSpPr>
          <p:cNvPr id="5" name="Footer Placeholder 4">
            <a:extLst>
              <a:ext uri="{FF2B5EF4-FFF2-40B4-BE49-F238E27FC236}">
                <a16:creationId xmlns:a16="http://schemas.microsoft.com/office/drawing/2014/main" id="{06741D4E-2093-22B2-0224-6CCBB36265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A9B169-B36C-E793-5F8A-BFAD72B3E39E}"/>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3322717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E088F-0963-1409-208E-743C84B47A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988810C-6BA9-7DB2-3B0B-720C42B3C5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42797A-1838-CB89-1256-14F12FF16119}"/>
              </a:ext>
            </a:extLst>
          </p:cNvPr>
          <p:cNvSpPr>
            <a:spLocks noGrp="1"/>
          </p:cNvSpPr>
          <p:nvPr>
            <p:ph type="dt" sz="half" idx="10"/>
          </p:nvPr>
        </p:nvSpPr>
        <p:spPr/>
        <p:txBody>
          <a:bodyPr/>
          <a:lstStyle/>
          <a:p>
            <a:fld id="{D5D8E255-8371-B349-B2F5-F8C6C9FF431B}" type="datetimeFigureOut">
              <a:rPr lang="en-US" smtClean="0"/>
              <a:t>3/21/26</a:t>
            </a:fld>
            <a:endParaRPr lang="en-US"/>
          </a:p>
        </p:txBody>
      </p:sp>
      <p:sp>
        <p:nvSpPr>
          <p:cNvPr id="5" name="Footer Placeholder 4">
            <a:extLst>
              <a:ext uri="{FF2B5EF4-FFF2-40B4-BE49-F238E27FC236}">
                <a16:creationId xmlns:a16="http://schemas.microsoft.com/office/drawing/2014/main" id="{B21F2D03-E3A0-4FEA-0011-C37F65BB10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2F4D0B-2CE2-143E-8B6E-602564B89BC0}"/>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3307268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19120-C89A-B32D-C285-5A1F7A2A9F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07ABE6-B752-F669-D1B4-AC8F049FCE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313714-0478-85A7-EDB7-9D329DB612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0DCCEE-DA65-5FEA-DBE1-A4FFB71A4054}"/>
              </a:ext>
            </a:extLst>
          </p:cNvPr>
          <p:cNvSpPr>
            <a:spLocks noGrp="1"/>
          </p:cNvSpPr>
          <p:nvPr>
            <p:ph type="dt" sz="half" idx="10"/>
          </p:nvPr>
        </p:nvSpPr>
        <p:spPr/>
        <p:txBody>
          <a:bodyPr/>
          <a:lstStyle/>
          <a:p>
            <a:fld id="{D5D8E255-8371-B349-B2F5-F8C6C9FF431B}" type="datetimeFigureOut">
              <a:rPr lang="en-US" smtClean="0"/>
              <a:t>3/21/26</a:t>
            </a:fld>
            <a:endParaRPr lang="en-US"/>
          </a:p>
        </p:txBody>
      </p:sp>
      <p:sp>
        <p:nvSpPr>
          <p:cNvPr id="6" name="Footer Placeholder 5">
            <a:extLst>
              <a:ext uri="{FF2B5EF4-FFF2-40B4-BE49-F238E27FC236}">
                <a16:creationId xmlns:a16="http://schemas.microsoft.com/office/drawing/2014/main" id="{B3AFB5A0-AAA7-A256-BA01-54C1A2476C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DF0E0C-8C61-C6B0-8D2F-98C1C0F1BFE2}"/>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2246047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5963-B75A-5C26-1085-A924CA35050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91618E1-9250-45C9-B6CB-F5EC9FCD44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64F8B2-EBF4-1934-4B10-E0E23D984E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5E85D9-CA66-2837-5A04-B23B866065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E643F1-9724-47B2-6CDC-D890213F27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301FAC-E8AC-52D9-1A16-B217F1A60C6F}"/>
              </a:ext>
            </a:extLst>
          </p:cNvPr>
          <p:cNvSpPr>
            <a:spLocks noGrp="1"/>
          </p:cNvSpPr>
          <p:nvPr>
            <p:ph type="dt" sz="half" idx="10"/>
          </p:nvPr>
        </p:nvSpPr>
        <p:spPr/>
        <p:txBody>
          <a:bodyPr/>
          <a:lstStyle/>
          <a:p>
            <a:fld id="{D5D8E255-8371-B349-B2F5-F8C6C9FF431B}" type="datetimeFigureOut">
              <a:rPr lang="en-US" smtClean="0"/>
              <a:t>3/21/26</a:t>
            </a:fld>
            <a:endParaRPr lang="en-US"/>
          </a:p>
        </p:txBody>
      </p:sp>
      <p:sp>
        <p:nvSpPr>
          <p:cNvPr id="8" name="Footer Placeholder 7">
            <a:extLst>
              <a:ext uri="{FF2B5EF4-FFF2-40B4-BE49-F238E27FC236}">
                <a16:creationId xmlns:a16="http://schemas.microsoft.com/office/drawing/2014/main" id="{EF5BFE5D-39D1-6E86-A570-37A00E3A73A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44A485E-6264-CBC0-1FF3-552D8DDBFDC4}"/>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1644702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4FFF0-D8D3-C301-C696-45BC20EBE1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281B914-1337-0FD9-892B-B99F460A2A02}"/>
              </a:ext>
            </a:extLst>
          </p:cNvPr>
          <p:cNvSpPr>
            <a:spLocks noGrp="1"/>
          </p:cNvSpPr>
          <p:nvPr>
            <p:ph type="dt" sz="half" idx="10"/>
          </p:nvPr>
        </p:nvSpPr>
        <p:spPr/>
        <p:txBody>
          <a:bodyPr/>
          <a:lstStyle/>
          <a:p>
            <a:fld id="{D5D8E255-8371-B349-B2F5-F8C6C9FF431B}" type="datetimeFigureOut">
              <a:rPr lang="en-US" smtClean="0"/>
              <a:t>3/21/26</a:t>
            </a:fld>
            <a:endParaRPr lang="en-US"/>
          </a:p>
        </p:txBody>
      </p:sp>
      <p:sp>
        <p:nvSpPr>
          <p:cNvPr id="4" name="Footer Placeholder 3">
            <a:extLst>
              <a:ext uri="{FF2B5EF4-FFF2-40B4-BE49-F238E27FC236}">
                <a16:creationId xmlns:a16="http://schemas.microsoft.com/office/drawing/2014/main" id="{1FC03B48-34D2-3263-7740-5983D6F7F0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7575E22-D3FA-A3BE-F2D4-6CCB10CD9467}"/>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3248814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DE6F61-7AE2-FCC6-43FD-ED979C4E6A33}"/>
              </a:ext>
            </a:extLst>
          </p:cNvPr>
          <p:cNvSpPr>
            <a:spLocks noGrp="1"/>
          </p:cNvSpPr>
          <p:nvPr>
            <p:ph type="dt" sz="half" idx="10"/>
          </p:nvPr>
        </p:nvSpPr>
        <p:spPr/>
        <p:txBody>
          <a:bodyPr/>
          <a:lstStyle/>
          <a:p>
            <a:fld id="{D5D8E255-8371-B349-B2F5-F8C6C9FF431B}" type="datetimeFigureOut">
              <a:rPr lang="en-US" smtClean="0"/>
              <a:t>3/21/26</a:t>
            </a:fld>
            <a:endParaRPr lang="en-US"/>
          </a:p>
        </p:txBody>
      </p:sp>
      <p:sp>
        <p:nvSpPr>
          <p:cNvPr id="3" name="Footer Placeholder 2">
            <a:extLst>
              <a:ext uri="{FF2B5EF4-FFF2-40B4-BE49-F238E27FC236}">
                <a16:creationId xmlns:a16="http://schemas.microsoft.com/office/drawing/2014/main" id="{B5772E01-7045-0DD5-9E9A-B9D643B3B95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F433559-F5B7-5AA5-561B-0308F9F19CD9}"/>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1622754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62457-9C61-FB3A-E090-794F70CCCC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50A638-5B5A-F81F-B2BB-7D4BC2CCD8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C6FA28D-530E-D553-BD5E-0834C69562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31CD66-9BCC-71D8-DC72-F5912A2DE9D4}"/>
              </a:ext>
            </a:extLst>
          </p:cNvPr>
          <p:cNvSpPr>
            <a:spLocks noGrp="1"/>
          </p:cNvSpPr>
          <p:nvPr>
            <p:ph type="dt" sz="half" idx="10"/>
          </p:nvPr>
        </p:nvSpPr>
        <p:spPr/>
        <p:txBody>
          <a:bodyPr/>
          <a:lstStyle/>
          <a:p>
            <a:fld id="{D5D8E255-8371-B349-B2F5-F8C6C9FF431B}" type="datetimeFigureOut">
              <a:rPr lang="en-US" smtClean="0"/>
              <a:t>3/21/26</a:t>
            </a:fld>
            <a:endParaRPr lang="en-US"/>
          </a:p>
        </p:txBody>
      </p:sp>
      <p:sp>
        <p:nvSpPr>
          <p:cNvPr id="6" name="Footer Placeholder 5">
            <a:extLst>
              <a:ext uri="{FF2B5EF4-FFF2-40B4-BE49-F238E27FC236}">
                <a16:creationId xmlns:a16="http://schemas.microsoft.com/office/drawing/2014/main" id="{23B4C7AA-84C9-DE87-FFC9-13E44AFAF4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813F64-36A6-C563-B8F8-7149E9CCD900}"/>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3844494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4AE18-9F94-F919-8625-C0724FDF26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D6D54EC-1B48-2A18-CDF8-E331B4674B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EC52F0-4853-2AF7-6240-A9A13CC434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F48310-14CE-7E1E-AC35-4A75EA9F6108}"/>
              </a:ext>
            </a:extLst>
          </p:cNvPr>
          <p:cNvSpPr>
            <a:spLocks noGrp="1"/>
          </p:cNvSpPr>
          <p:nvPr>
            <p:ph type="dt" sz="half" idx="10"/>
          </p:nvPr>
        </p:nvSpPr>
        <p:spPr/>
        <p:txBody>
          <a:bodyPr/>
          <a:lstStyle/>
          <a:p>
            <a:fld id="{D5D8E255-8371-B349-B2F5-F8C6C9FF431B}" type="datetimeFigureOut">
              <a:rPr lang="en-US" smtClean="0"/>
              <a:t>3/21/26</a:t>
            </a:fld>
            <a:endParaRPr lang="en-US"/>
          </a:p>
        </p:txBody>
      </p:sp>
      <p:sp>
        <p:nvSpPr>
          <p:cNvPr id="6" name="Footer Placeholder 5">
            <a:extLst>
              <a:ext uri="{FF2B5EF4-FFF2-40B4-BE49-F238E27FC236}">
                <a16:creationId xmlns:a16="http://schemas.microsoft.com/office/drawing/2014/main" id="{9B0B3B96-74D7-0A95-CBCC-E43B376DA7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DE2FF1-191F-F55E-1038-7A84E40738DD}"/>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1536341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A8AD7-CB39-F4FD-60C8-BAB75817CE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4BE9A8A-5BCD-ACF0-C136-CDF4EF43F4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172173-7BCD-6D53-45A8-FCA73BB2689E}"/>
              </a:ext>
            </a:extLst>
          </p:cNvPr>
          <p:cNvSpPr>
            <a:spLocks noGrp="1"/>
          </p:cNvSpPr>
          <p:nvPr>
            <p:ph type="dt" sz="half" idx="10"/>
          </p:nvPr>
        </p:nvSpPr>
        <p:spPr/>
        <p:txBody>
          <a:bodyPr/>
          <a:lstStyle/>
          <a:p>
            <a:fld id="{D5D8E255-8371-B349-B2F5-F8C6C9FF431B}" type="datetimeFigureOut">
              <a:rPr lang="en-US" smtClean="0"/>
              <a:t>3/21/26</a:t>
            </a:fld>
            <a:endParaRPr lang="en-US"/>
          </a:p>
        </p:txBody>
      </p:sp>
      <p:sp>
        <p:nvSpPr>
          <p:cNvPr id="5" name="Footer Placeholder 4">
            <a:extLst>
              <a:ext uri="{FF2B5EF4-FFF2-40B4-BE49-F238E27FC236}">
                <a16:creationId xmlns:a16="http://schemas.microsoft.com/office/drawing/2014/main" id="{B5F32C7C-335D-7160-23CE-C24A4F786C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DCEB18-C173-EFB3-1C85-A031B29843EC}"/>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726187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6DC207-D54F-2803-D3CC-9C09125C69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C02E1E2-9E3B-784D-3CE4-2296C22F67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06E86C-E00B-BD36-A411-67778DF47318}"/>
              </a:ext>
            </a:extLst>
          </p:cNvPr>
          <p:cNvSpPr>
            <a:spLocks noGrp="1"/>
          </p:cNvSpPr>
          <p:nvPr>
            <p:ph type="dt" sz="half" idx="10"/>
          </p:nvPr>
        </p:nvSpPr>
        <p:spPr/>
        <p:txBody>
          <a:bodyPr/>
          <a:lstStyle/>
          <a:p>
            <a:fld id="{D5D8E255-8371-B349-B2F5-F8C6C9FF431B}" type="datetimeFigureOut">
              <a:rPr lang="en-US" smtClean="0"/>
              <a:t>3/21/26</a:t>
            </a:fld>
            <a:endParaRPr lang="en-US"/>
          </a:p>
        </p:txBody>
      </p:sp>
      <p:sp>
        <p:nvSpPr>
          <p:cNvPr id="5" name="Footer Placeholder 4">
            <a:extLst>
              <a:ext uri="{FF2B5EF4-FFF2-40B4-BE49-F238E27FC236}">
                <a16:creationId xmlns:a16="http://schemas.microsoft.com/office/drawing/2014/main" id="{9B6F92B7-B14D-6AB6-B8C9-06EE3BCF47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C8E9E8-5085-B615-86BC-FA6AF9D53953}"/>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1675906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368CCB-F95C-78B8-AB3B-75046B538E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CB051CA-AE6B-5AD3-B31B-D128E8361E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A44A3A-5FE8-9765-97A4-8D78B80645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D8E255-8371-B349-B2F5-F8C6C9FF431B}" type="datetimeFigureOut">
              <a:rPr lang="en-US" smtClean="0"/>
              <a:t>3/21/26</a:t>
            </a:fld>
            <a:endParaRPr lang="en-US"/>
          </a:p>
        </p:txBody>
      </p:sp>
      <p:sp>
        <p:nvSpPr>
          <p:cNvPr id="5" name="Footer Placeholder 4">
            <a:extLst>
              <a:ext uri="{FF2B5EF4-FFF2-40B4-BE49-F238E27FC236}">
                <a16:creationId xmlns:a16="http://schemas.microsoft.com/office/drawing/2014/main" id="{9F477786-E37B-BA0A-FBBA-967E2DAF5F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1B0ED85-D531-06A4-DD93-B6A9AC1AC7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C475D4-DDD0-8942-A6FE-1A968215592B}" type="slidenum">
              <a:rPr lang="en-US" smtClean="0"/>
              <a:t>‹#›</a:t>
            </a:fld>
            <a:endParaRPr lang="en-US"/>
          </a:p>
        </p:txBody>
      </p:sp>
    </p:spTree>
    <p:extLst>
      <p:ext uri="{BB962C8B-B14F-4D97-AF65-F5344CB8AC3E}">
        <p14:creationId xmlns:p14="http://schemas.microsoft.com/office/powerpoint/2010/main" val="1285400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 Id="rId5" Type="http://schemas.openxmlformats.org/officeDocument/2006/relationships/image" Target="../media/image24.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1.xml"/><Relationship Id="rId1" Type="http://schemas.openxmlformats.org/officeDocument/2006/relationships/slideLayout" Target="../slideLayouts/slideLayout6.xml"/><Relationship Id="rId5" Type="http://schemas.openxmlformats.org/officeDocument/2006/relationships/image" Target="../media/image27.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41B36-9C62-3FFE-74C5-B0303391BA7E}"/>
              </a:ext>
            </a:extLst>
          </p:cNvPr>
          <p:cNvSpPr>
            <a:spLocks noGrp="1"/>
          </p:cNvSpPr>
          <p:nvPr>
            <p:ph type="ctrTitle"/>
          </p:nvPr>
        </p:nvSpPr>
        <p:spPr/>
        <p:txBody>
          <a:bodyPr/>
          <a:lstStyle/>
          <a:p>
            <a:r>
              <a:rPr lang="en-US" dirty="0"/>
              <a:t>Computing with Transistors</a:t>
            </a:r>
          </a:p>
        </p:txBody>
      </p:sp>
      <p:sp>
        <p:nvSpPr>
          <p:cNvPr id="3" name="Subtitle 2">
            <a:extLst>
              <a:ext uri="{FF2B5EF4-FFF2-40B4-BE49-F238E27FC236}">
                <a16:creationId xmlns:a16="http://schemas.microsoft.com/office/drawing/2014/main" id="{A3AFB11C-46EE-C1B0-9B56-FAD330B5A75D}"/>
              </a:ext>
            </a:extLst>
          </p:cNvPr>
          <p:cNvSpPr>
            <a:spLocks noGrp="1"/>
          </p:cNvSpPr>
          <p:nvPr>
            <p:ph type="subTitle" idx="1"/>
          </p:nvPr>
        </p:nvSpPr>
        <p:spPr/>
        <p:txBody>
          <a:bodyPr>
            <a:normAutofit/>
          </a:bodyPr>
          <a:lstStyle/>
          <a:p>
            <a:r>
              <a:rPr lang="en-US" dirty="0"/>
              <a:t>Dr. Charles R. Severance</a:t>
            </a:r>
          </a:p>
          <a:p>
            <a:r>
              <a:rPr lang="en-US" dirty="0"/>
              <a:t>www.ca4e.com</a:t>
            </a:r>
          </a:p>
          <a:p>
            <a:r>
              <a:rPr lang="en-US" dirty="0" err="1"/>
              <a:t>online.dr-chuck.com</a:t>
            </a:r>
            <a:endParaRPr lang="en-US" dirty="0"/>
          </a:p>
        </p:txBody>
      </p:sp>
    </p:spTree>
    <p:extLst>
      <p:ext uri="{BB962C8B-B14F-4D97-AF65-F5344CB8AC3E}">
        <p14:creationId xmlns:p14="http://schemas.microsoft.com/office/powerpoint/2010/main" val="1297149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B364A-BD83-EF2C-87F0-F771A1DBC725}"/>
              </a:ext>
            </a:extLst>
          </p:cNvPr>
          <p:cNvSpPr>
            <a:spLocks noGrp="1"/>
          </p:cNvSpPr>
          <p:nvPr>
            <p:ph type="title"/>
          </p:nvPr>
        </p:nvSpPr>
        <p:spPr/>
        <p:txBody>
          <a:bodyPr/>
          <a:lstStyle/>
          <a:p>
            <a:r>
              <a:rPr lang="en-US" dirty="0"/>
              <a:t>Outline </a:t>
            </a:r>
          </a:p>
        </p:txBody>
      </p:sp>
      <p:sp>
        <p:nvSpPr>
          <p:cNvPr id="3" name="Content Placeholder 2">
            <a:extLst>
              <a:ext uri="{FF2B5EF4-FFF2-40B4-BE49-F238E27FC236}">
                <a16:creationId xmlns:a16="http://schemas.microsoft.com/office/drawing/2014/main" id="{8520BF61-9935-A27D-1DFC-01E97268AC6D}"/>
              </a:ext>
            </a:extLst>
          </p:cNvPr>
          <p:cNvSpPr>
            <a:spLocks noGrp="1"/>
          </p:cNvSpPr>
          <p:nvPr>
            <p:ph idx="1"/>
          </p:nvPr>
        </p:nvSpPr>
        <p:spPr/>
        <p:txBody>
          <a:bodyPr>
            <a:normAutofit lnSpcReduction="10000"/>
          </a:bodyPr>
          <a:lstStyle/>
          <a:p>
            <a:r>
              <a:rPr lang="en-US" dirty="0"/>
              <a:t>The transistor replacing tubes in digital applications</a:t>
            </a:r>
          </a:p>
          <a:p>
            <a:pPr lvl="1"/>
            <a:r>
              <a:rPr lang="en-US" dirty="0"/>
              <a:t>Faster than a relay or tube</a:t>
            </a:r>
          </a:p>
          <a:p>
            <a:pPr lvl="1"/>
            <a:r>
              <a:rPr lang="en-US" dirty="0"/>
              <a:t>Far less heat and electricity</a:t>
            </a:r>
          </a:p>
          <a:p>
            <a:pPr lvl="1"/>
            <a:r>
              <a:rPr lang="en-US" dirty="0"/>
              <a:t>More reliable and long lasting</a:t>
            </a:r>
          </a:p>
          <a:p>
            <a:pPr lvl="1"/>
            <a:r>
              <a:rPr lang="en-US" dirty="0"/>
              <a:t>No moving parts</a:t>
            </a:r>
          </a:p>
          <a:p>
            <a:r>
              <a:rPr lang="en-US" dirty="0"/>
              <a:t>Amplifiers, Tubes and Transistors – It's complicated</a:t>
            </a:r>
          </a:p>
          <a:p>
            <a:pPr lvl="1"/>
            <a:r>
              <a:rPr lang="en-US" dirty="0"/>
              <a:t>Transistor radios</a:t>
            </a:r>
          </a:p>
          <a:p>
            <a:r>
              <a:rPr lang="en-US" dirty="0"/>
              <a:t>Evolution of transistor technology and manufacturing</a:t>
            </a:r>
          </a:p>
          <a:p>
            <a:pPr lvl="1"/>
            <a:r>
              <a:rPr lang="en-US" dirty="0"/>
              <a:t>BJT -&gt; PMOS -&gt; NMOS -&gt; CMOS</a:t>
            </a:r>
          </a:p>
          <a:p>
            <a:r>
              <a:rPr lang="en-US" dirty="0"/>
              <a:t>The "digital logic gate" abstraction</a:t>
            </a:r>
          </a:p>
        </p:txBody>
      </p:sp>
    </p:spTree>
    <p:extLst>
      <p:ext uri="{BB962C8B-B14F-4D97-AF65-F5344CB8AC3E}">
        <p14:creationId xmlns:p14="http://schemas.microsoft.com/office/powerpoint/2010/main" val="666961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BE0F9-BA14-A320-9722-E6D9E7E93820}"/>
              </a:ext>
            </a:extLst>
          </p:cNvPr>
          <p:cNvSpPr>
            <a:spLocks noGrp="1"/>
          </p:cNvSpPr>
          <p:nvPr>
            <p:ph type="title"/>
          </p:nvPr>
        </p:nvSpPr>
        <p:spPr/>
        <p:txBody>
          <a:bodyPr/>
          <a:lstStyle/>
          <a:p>
            <a:r>
              <a:rPr lang="en-US" dirty="0"/>
              <a:t>Valves / Tubes / Vacuum Tubes</a:t>
            </a:r>
          </a:p>
        </p:txBody>
      </p:sp>
      <p:sp>
        <p:nvSpPr>
          <p:cNvPr id="3" name="Content Placeholder 2">
            <a:extLst>
              <a:ext uri="{FF2B5EF4-FFF2-40B4-BE49-F238E27FC236}">
                <a16:creationId xmlns:a16="http://schemas.microsoft.com/office/drawing/2014/main" id="{E249B857-7423-805D-C5AB-71999ECE0069}"/>
              </a:ext>
            </a:extLst>
          </p:cNvPr>
          <p:cNvSpPr>
            <a:spLocks noGrp="1"/>
          </p:cNvSpPr>
          <p:nvPr>
            <p:ph idx="1"/>
          </p:nvPr>
        </p:nvSpPr>
        <p:spPr>
          <a:xfrm>
            <a:off x="838200" y="1825625"/>
            <a:ext cx="6517193" cy="4351338"/>
          </a:xfrm>
        </p:spPr>
        <p:txBody>
          <a:bodyPr/>
          <a:lstStyle/>
          <a:p>
            <a:r>
              <a:rPr lang="en-US" dirty="0"/>
              <a:t>The first purely electronic devices to store data and do computations were called "Valves" in the UK</a:t>
            </a:r>
          </a:p>
          <a:p>
            <a:pPr lvl="1"/>
            <a:r>
              <a:rPr lang="en-US" dirty="0"/>
              <a:t>About 1000 times faster than physical relays</a:t>
            </a:r>
          </a:p>
          <a:p>
            <a:r>
              <a:rPr lang="en-US" dirty="0"/>
              <a:t>Designed to amplify analog signals</a:t>
            </a:r>
          </a:p>
          <a:p>
            <a:r>
              <a:rPr lang="en-US" dirty="0"/>
              <a:t>Early application long distance analog telephone calls – needed an amplifier every 10 miles or so</a:t>
            </a:r>
          </a:p>
          <a:p>
            <a:r>
              <a:rPr lang="en-US" dirty="0"/>
              <a:t>Tube was invented in 1912 Dr. Lee De Forest</a:t>
            </a:r>
          </a:p>
        </p:txBody>
      </p:sp>
      <p:pic>
        <p:nvPicPr>
          <p:cNvPr id="50" name="Picture 49" descr="A telephone pole with 30 glass insulators for 30 wires.  Photo by Dr. Chuck.  ">
            <a:extLst>
              <a:ext uri="{FF2B5EF4-FFF2-40B4-BE49-F238E27FC236}">
                <a16:creationId xmlns:a16="http://schemas.microsoft.com/office/drawing/2014/main" id="{1A5C0E9C-A83E-AEFF-6081-03C9A561899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rot="5400000">
            <a:off x="8382273" y="983722"/>
            <a:ext cx="1880169" cy="1410127"/>
          </a:xfrm>
          <a:prstGeom prst="rect">
            <a:avLst/>
          </a:prstGeom>
        </p:spPr>
      </p:pic>
      <p:pic>
        <p:nvPicPr>
          <p:cNvPr id="58" name="Picture 57">
            <a:extLst>
              <a:ext uri="{FF2B5EF4-FFF2-40B4-BE49-F238E27FC236}">
                <a16:creationId xmlns:a16="http://schemas.microsoft.com/office/drawing/2014/main" id="{81EED50B-4AC6-343E-B237-AE3B58463016}"/>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0493760" y="748701"/>
            <a:ext cx="908450" cy="1912526"/>
          </a:xfrm>
          <a:prstGeom prst="rect">
            <a:avLst/>
          </a:prstGeom>
        </p:spPr>
      </p:pic>
      <p:grpSp>
        <p:nvGrpSpPr>
          <p:cNvPr id="5" name="Group 4" descr="This is a simple diagram of a vacuum tube with an Anode, Cathode, and Grid with some simple wave forms showing a small input signal and larger amplified signal.">
            <a:extLst>
              <a:ext uri="{FF2B5EF4-FFF2-40B4-BE49-F238E27FC236}">
                <a16:creationId xmlns:a16="http://schemas.microsoft.com/office/drawing/2014/main" id="{CEB7E79C-2316-63CE-2540-CF2436FB9A87}"/>
              </a:ext>
            </a:extLst>
          </p:cNvPr>
          <p:cNvGrpSpPr/>
          <p:nvPr/>
        </p:nvGrpSpPr>
        <p:grpSpPr>
          <a:xfrm>
            <a:off x="7768269" y="2835782"/>
            <a:ext cx="4214503" cy="2712097"/>
            <a:chOff x="7768269" y="2835782"/>
            <a:chExt cx="4214503" cy="2712097"/>
          </a:xfrm>
        </p:grpSpPr>
        <p:sp>
          <p:nvSpPr>
            <p:cNvPr id="67" name="Right Arrow 66">
              <a:extLst>
                <a:ext uri="{FF2B5EF4-FFF2-40B4-BE49-F238E27FC236}">
                  <a16:creationId xmlns:a16="http://schemas.microsoft.com/office/drawing/2014/main" id="{754158E9-138C-8756-626D-C7760C542A24}"/>
                </a:ext>
              </a:extLst>
            </p:cNvPr>
            <p:cNvSpPr/>
            <p:nvPr/>
          </p:nvSpPr>
          <p:spPr>
            <a:xfrm rot="16200000">
              <a:off x="9623749" y="3916809"/>
              <a:ext cx="438528" cy="644989"/>
            </a:xfrm>
            <a:prstGeom prst="rightArrow">
              <a:avLst>
                <a:gd name="adj1" fmla="val 50000"/>
                <a:gd name="adj2" fmla="val 35014"/>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01B81F70-64E3-2C82-A583-6D0C56D4311B}"/>
                </a:ext>
              </a:extLst>
            </p:cNvPr>
            <p:cNvSpPr/>
            <p:nvPr/>
          </p:nvSpPr>
          <p:spPr>
            <a:xfrm>
              <a:off x="9286486" y="3700305"/>
              <a:ext cx="1107831" cy="1107831"/>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335AFF37-C9AD-FC5F-55F4-EAB982525207}"/>
                </a:ext>
              </a:extLst>
            </p:cNvPr>
            <p:cNvCxnSpPr>
              <a:cxnSpLocks/>
            </p:cNvCxnSpPr>
            <p:nvPr/>
          </p:nvCxnSpPr>
          <p:spPr>
            <a:xfrm>
              <a:off x="9568476" y="3994273"/>
              <a:ext cx="54385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D607D903-E3A4-A877-F214-632D651712F8}"/>
                </a:ext>
              </a:extLst>
            </p:cNvPr>
            <p:cNvGrpSpPr/>
            <p:nvPr/>
          </p:nvGrpSpPr>
          <p:grpSpPr>
            <a:xfrm>
              <a:off x="9597413" y="4514291"/>
              <a:ext cx="485977" cy="130560"/>
              <a:chOff x="4096796" y="4190231"/>
              <a:chExt cx="4302808" cy="1155969"/>
            </a:xfrm>
          </p:grpSpPr>
          <p:cxnSp>
            <p:nvCxnSpPr>
              <p:cNvPr id="22" name="Straight Connector 21">
                <a:extLst>
                  <a:ext uri="{FF2B5EF4-FFF2-40B4-BE49-F238E27FC236}">
                    <a16:creationId xmlns:a16="http://schemas.microsoft.com/office/drawing/2014/main" id="{DADD4142-B17B-244A-926D-5C34B7E5D30E}"/>
                  </a:ext>
                </a:extLst>
              </p:cNvPr>
              <p:cNvCxnSpPr>
                <a:cxnSpLocks/>
              </p:cNvCxnSpPr>
              <p:nvPr/>
            </p:nvCxnSpPr>
            <p:spPr>
              <a:xfrm flipV="1">
                <a:off x="4553578" y="4190231"/>
                <a:ext cx="3384863" cy="14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6593420-0152-7EBB-15D6-9C467CFC5727}"/>
                  </a:ext>
                </a:extLst>
              </p:cNvPr>
              <p:cNvCxnSpPr>
                <a:cxnSpLocks/>
              </p:cNvCxnSpPr>
              <p:nvPr/>
            </p:nvCxnSpPr>
            <p:spPr>
              <a:xfrm flipH="1">
                <a:off x="4096796" y="4190231"/>
                <a:ext cx="461163" cy="11559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CA421DD-0286-65DA-314E-0C661431BEAF}"/>
                  </a:ext>
                </a:extLst>
              </p:cNvPr>
              <p:cNvCxnSpPr>
                <a:cxnSpLocks/>
              </p:cNvCxnSpPr>
              <p:nvPr/>
            </p:nvCxnSpPr>
            <p:spPr>
              <a:xfrm>
                <a:off x="7938441" y="4190231"/>
                <a:ext cx="461163" cy="11559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a:extLst>
                <a:ext uri="{FF2B5EF4-FFF2-40B4-BE49-F238E27FC236}">
                  <a16:creationId xmlns:a16="http://schemas.microsoft.com/office/drawing/2014/main" id="{B94B6FE3-666B-7FDE-ED62-C9A8EF17533C}"/>
                </a:ext>
              </a:extLst>
            </p:cNvPr>
            <p:cNvCxnSpPr>
              <a:cxnSpLocks/>
            </p:cNvCxnSpPr>
            <p:nvPr/>
          </p:nvCxnSpPr>
          <p:spPr>
            <a:xfrm>
              <a:off x="9514024" y="4254220"/>
              <a:ext cx="652755" cy="0"/>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8FBA8AA-FC58-2DA7-89DA-3BD9A85D82DC}"/>
                </a:ext>
              </a:extLst>
            </p:cNvPr>
            <p:cNvCxnSpPr>
              <a:cxnSpLocks/>
            </p:cNvCxnSpPr>
            <p:nvPr/>
          </p:nvCxnSpPr>
          <p:spPr>
            <a:xfrm>
              <a:off x="8623295" y="4254220"/>
              <a:ext cx="94518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660E417-626E-45E2-EE86-4CCFEE47ED8A}"/>
                </a:ext>
              </a:extLst>
            </p:cNvPr>
            <p:cNvCxnSpPr>
              <a:cxnSpLocks/>
            </p:cNvCxnSpPr>
            <p:nvPr/>
          </p:nvCxnSpPr>
          <p:spPr>
            <a:xfrm>
              <a:off x="9840154" y="3009766"/>
              <a:ext cx="0" cy="98450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A66DEA5-1BE2-99D3-4ECC-0F1E3D0EBD0A}"/>
                </a:ext>
              </a:extLst>
            </p:cNvPr>
            <p:cNvCxnSpPr>
              <a:cxnSpLocks/>
            </p:cNvCxnSpPr>
            <p:nvPr/>
          </p:nvCxnSpPr>
          <p:spPr>
            <a:xfrm>
              <a:off x="9840154" y="4514291"/>
              <a:ext cx="0" cy="57891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EA7D7E41-2764-905F-6B9A-84B8AC6B3FAB}"/>
                </a:ext>
              </a:extLst>
            </p:cNvPr>
            <p:cNvSpPr txBox="1"/>
            <p:nvPr/>
          </p:nvSpPr>
          <p:spPr>
            <a:xfrm>
              <a:off x="9498963" y="2915877"/>
              <a:ext cx="300082" cy="369332"/>
            </a:xfrm>
            <a:prstGeom prst="rect">
              <a:avLst/>
            </a:prstGeom>
            <a:noFill/>
          </p:spPr>
          <p:txBody>
            <a:bodyPr wrap="none" rtlCol="0">
              <a:spAutoFit/>
            </a:bodyPr>
            <a:lstStyle/>
            <a:p>
              <a:r>
                <a:rPr lang="en-US" dirty="0"/>
                <a:t>+</a:t>
              </a:r>
            </a:p>
          </p:txBody>
        </p:sp>
        <p:cxnSp>
          <p:nvCxnSpPr>
            <p:cNvPr id="42" name="Straight Connector 41">
              <a:extLst>
                <a:ext uri="{FF2B5EF4-FFF2-40B4-BE49-F238E27FC236}">
                  <a16:creationId xmlns:a16="http://schemas.microsoft.com/office/drawing/2014/main" id="{3B2466F5-EB59-8878-7973-52B7BA9F5FBD}"/>
                </a:ext>
              </a:extLst>
            </p:cNvPr>
            <p:cNvCxnSpPr>
              <a:cxnSpLocks/>
            </p:cNvCxnSpPr>
            <p:nvPr/>
          </p:nvCxnSpPr>
          <p:spPr>
            <a:xfrm>
              <a:off x="9840154" y="3429000"/>
              <a:ext cx="935363" cy="34401"/>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779E178-AEED-5C9A-D3EE-898270FC9B84}"/>
                </a:ext>
              </a:extLst>
            </p:cNvPr>
            <p:cNvSpPr txBox="1"/>
            <p:nvPr/>
          </p:nvSpPr>
          <p:spPr>
            <a:xfrm>
              <a:off x="9618809" y="4963104"/>
              <a:ext cx="499109" cy="584775"/>
            </a:xfrm>
            <a:prstGeom prst="rect">
              <a:avLst/>
            </a:prstGeom>
            <a:noFill/>
          </p:spPr>
          <p:txBody>
            <a:bodyPr wrap="square" rtlCol="0">
              <a:spAutoFit/>
            </a:bodyPr>
            <a:lstStyle/>
            <a:p>
              <a:r>
                <a:rPr lang="en-US" sz="3200" dirty="0">
                  <a:solidFill>
                    <a:schemeClr val="accent1"/>
                  </a:solidFill>
                </a:rPr>
                <a:t>⏚</a:t>
              </a:r>
            </a:p>
          </p:txBody>
        </p:sp>
        <p:pic>
          <p:nvPicPr>
            <p:cNvPr id="47" name="Picture 46" descr="A sound waveform with black background&#10;&#10;AI-generated content may be incorrect.">
              <a:extLst>
                <a:ext uri="{FF2B5EF4-FFF2-40B4-BE49-F238E27FC236}">
                  <a16:creationId xmlns:a16="http://schemas.microsoft.com/office/drawing/2014/main" id="{0E44A89E-B71F-6D0D-A0E3-BE71BC30986C}"/>
                </a:ext>
              </a:extLst>
            </p:cNvPr>
            <p:cNvPicPr>
              <a:picLocks noChangeAspect="1"/>
            </p:cNvPicPr>
            <p:nvPr/>
          </p:nvPicPr>
          <p:blipFill>
            <a:blip r:embed="rId5" cstate="print">
              <a:extLst>
                <a:ext uri="{28A0092B-C50C-407E-A947-70E740481C1C}">
                  <a14:useLocalDpi xmlns:a14="http://schemas.microsoft.com/office/drawing/2010/main"/>
                </a:ext>
              </a:extLst>
            </a:blip>
            <a:srcRect r="37059"/>
            <a:stretch/>
          </p:blipFill>
          <p:spPr>
            <a:xfrm>
              <a:off x="7768269" y="4025294"/>
              <a:ext cx="1220008" cy="488997"/>
            </a:xfrm>
            <a:prstGeom prst="rect">
              <a:avLst/>
            </a:prstGeom>
          </p:spPr>
        </p:pic>
        <p:pic>
          <p:nvPicPr>
            <p:cNvPr id="48" name="Picture 47" descr="A sound waveform with black background&#10;&#10;AI-generated content may be incorrect.">
              <a:extLst>
                <a:ext uri="{FF2B5EF4-FFF2-40B4-BE49-F238E27FC236}">
                  <a16:creationId xmlns:a16="http://schemas.microsoft.com/office/drawing/2014/main" id="{AC3D72D0-E6F9-0EDA-A0D5-8FEC3CBF3242}"/>
                </a:ext>
              </a:extLst>
            </p:cNvPr>
            <p:cNvPicPr>
              <a:picLocks noChangeAspect="1"/>
            </p:cNvPicPr>
            <p:nvPr/>
          </p:nvPicPr>
          <p:blipFill>
            <a:blip r:embed="rId6" cstate="print">
              <a:extLst>
                <a:ext uri="{28A0092B-C50C-407E-A947-70E740481C1C}">
                  <a14:useLocalDpi xmlns:a14="http://schemas.microsoft.com/office/drawing/2010/main"/>
                </a:ext>
              </a:extLst>
            </a:blip>
            <a:srcRect r="37059"/>
            <a:stretch/>
          </p:blipFill>
          <p:spPr>
            <a:xfrm>
              <a:off x="10337981" y="2835782"/>
              <a:ext cx="1220008" cy="1255237"/>
            </a:xfrm>
            <a:prstGeom prst="rect">
              <a:avLst/>
            </a:prstGeom>
          </p:spPr>
        </p:pic>
        <p:sp>
          <p:nvSpPr>
            <p:cNvPr id="62" name="TextBox 61">
              <a:extLst>
                <a:ext uri="{FF2B5EF4-FFF2-40B4-BE49-F238E27FC236}">
                  <a16:creationId xmlns:a16="http://schemas.microsoft.com/office/drawing/2014/main" id="{1C5C75D2-8CD2-3B0C-2C15-EECBA98EE07E}"/>
                </a:ext>
              </a:extLst>
            </p:cNvPr>
            <p:cNvSpPr txBox="1"/>
            <p:nvPr/>
          </p:nvSpPr>
          <p:spPr>
            <a:xfrm>
              <a:off x="8019170" y="4460185"/>
              <a:ext cx="684803" cy="369332"/>
            </a:xfrm>
            <a:prstGeom prst="rect">
              <a:avLst/>
            </a:prstGeom>
            <a:noFill/>
          </p:spPr>
          <p:txBody>
            <a:bodyPr wrap="none" rtlCol="0">
              <a:spAutoFit/>
            </a:bodyPr>
            <a:lstStyle/>
            <a:p>
              <a:r>
                <a:rPr lang="en-US" dirty="0"/>
                <a:t>Input</a:t>
              </a:r>
            </a:p>
          </p:txBody>
        </p:sp>
        <p:sp>
          <p:nvSpPr>
            <p:cNvPr id="63" name="TextBox 62" descr="This is a simple diagram of a vacuum tube with an Anode, Cathode, and Grig with some simple wave forms showing a small input signal and larger amplified signal.">
              <a:extLst>
                <a:ext uri="{FF2B5EF4-FFF2-40B4-BE49-F238E27FC236}">
                  <a16:creationId xmlns:a16="http://schemas.microsoft.com/office/drawing/2014/main" id="{D95C0F8E-26B6-C964-A9F1-043D1BC45648}"/>
                </a:ext>
              </a:extLst>
            </p:cNvPr>
            <p:cNvSpPr txBox="1"/>
            <p:nvPr/>
          </p:nvSpPr>
          <p:spPr>
            <a:xfrm>
              <a:off x="10423502" y="4090853"/>
              <a:ext cx="585417" cy="369332"/>
            </a:xfrm>
            <a:prstGeom prst="rect">
              <a:avLst/>
            </a:prstGeom>
            <a:noFill/>
          </p:spPr>
          <p:txBody>
            <a:bodyPr wrap="none" rtlCol="0">
              <a:spAutoFit/>
            </a:bodyPr>
            <a:lstStyle/>
            <a:p>
              <a:r>
                <a:rPr lang="en-US" dirty="0"/>
                <a:t>Grid</a:t>
              </a:r>
            </a:p>
          </p:txBody>
        </p:sp>
        <p:sp>
          <p:nvSpPr>
            <p:cNvPr id="64" name="TextBox 63">
              <a:extLst>
                <a:ext uri="{FF2B5EF4-FFF2-40B4-BE49-F238E27FC236}">
                  <a16:creationId xmlns:a16="http://schemas.microsoft.com/office/drawing/2014/main" id="{9E228BEB-EA82-732A-8A47-E3D1C8330D19}"/>
                </a:ext>
              </a:extLst>
            </p:cNvPr>
            <p:cNvSpPr txBox="1"/>
            <p:nvPr/>
          </p:nvSpPr>
          <p:spPr>
            <a:xfrm>
              <a:off x="8779238" y="4718204"/>
              <a:ext cx="974434" cy="369332"/>
            </a:xfrm>
            <a:prstGeom prst="rect">
              <a:avLst/>
            </a:prstGeom>
            <a:noFill/>
          </p:spPr>
          <p:txBody>
            <a:bodyPr wrap="none" rtlCol="0">
              <a:spAutoFit/>
            </a:bodyPr>
            <a:lstStyle/>
            <a:p>
              <a:r>
                <a:rPr lang="en-US" dirty="0"/>
                <a:t>Cathode</a:t>
              </a:r>
            </a:p>
          </p:txBody>
        </p:sp>
        <p:sp>
          <p:nvSpPr>
            <p:cNvPr id="65" name="TextBox 64">
              <a:extLst>
                <a:ext uri="{FF2B5EF4-FFF2-40B4-BE49-F238E27FC236}">
                  <a16:creationId xmlns:a16="http://schemas.microsoft.com/office/drawing/2014/main" id="{C6B48605-552D-8C16-7F15-3C66108538AA}"/>
                </a:ext>
              </a:extLst>
            </p:cNvPr>
            <p:cNvSpPr txBox="1"/>
            <p:nvPr/>
          </p:nvSpPr>
          <p:spPr>
            <a:xfrm>
              <a:off x="8764703" y="3477957"/>
              <a:ext cx="798617" cy="369332"/>
            </a:xfrm>
            <a:prstGeom prst="rect">
              <a:avLst/>
            </a:prstGeom>
            <a:noFill/>
          </p:spPr>
          <p:txBody>
            <a:bodyPr wrap="none" rtlCol="0">
              <a:spAutoFit/>
            </a:bodyPr>
            <a:lstStyle/>
            <a:p>
              <a:r>
                <a:rPr lang="en-US" dirty="0"/>
                <a:t>Anode</a:t>
              </a:r>
            </a:p>
          </p:txBody>
        </p:sp>
        <p:sp>
          <p:nvSpPr>
            <p:cNvPr id="66" name="TextBox 65">
              <a:extLst>
                <a:ext uri="{FF2B5EF4-FFF2-40B4-BE49-F238E27FC236}">
                  <a16:creationId xmlns:a16="http://schemas.microsoft.com/office/drawing/2014/main" id="{E85EC367-E4A9-32FF-7F64-7992063CA702}"/>
                </a:ext>
              </a:extLst>
            </p:cNvPr>
            <p:cNvSpPr txBox="1"/>
            <p:nvPr/>
          </p:nvSpPr>
          <p:spPr>
            <a:xfrm>
              <a:off x="11126447" y="2988182"/>
              <a:ext cx="856325" cy="369332"/>
            </a:xfrm>
            <a:prstGeom prst="rect">
              <a:avLst/>
            </a:prstGeom>
            <a:noFill/>
          </p:spPr>
          <p:txBody>
            <a:bodyPr wrap="none" rtlCol="0">
              <a:spAutoFit/>
            </a:bodyPr>
            <a:lstStyle/>
            <a:p>
              <a:r>
                <a:rPr lang="en-US" dirty="0"/>
                <a:t>Output</a:t>
              </a:r>
            </a:p>
          </p:txBody>
        </p:sp>
      </p:grpSp>
    </p:spTree>
    <p:extLst>
      <p:ext uri="{BB962C8B-B14F-4D97-AF65-F5344CB8AC3E}">
        <p14:creationId xmlns:p14="http://schemas.microsoft.com/office/powerpoint/2010/main" val="2469116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C07C6-3CDD-A59A-52F1-0805AF526397}"/>
              </a:ext>
            </a:extLst>
          </p:cNvPr>
          <p:cNvSpPr>
            <a:spLocks noGrp="1"/>
          </p:cNvSpPr>
          <p:nvPr>
            <p:ph type="title"/>
          </p:nvPr>
        </p:nvSpPr>
        <p:spPr>
          <a:xfrm>
            <a:off x="405775" y="2358031"/>
            <a:ext cx="3094220" cy="1325563"/>
          </a:xfrm>
        </p:spPr>
        <p:txBody>
          <a:bodyPr/>
          <a:lstStyle/>
          <a:p>
            <a:r>
              <a:rPr lang="en-US" dirty="0"/>
              <a:t>Triode Specification</a:t>
            </a:r>
          </a:p>
        </p:txBody>
      </p:sp>
      <p:pic>
        <p:nvPicPr>
          <p:cNvPr id="7" name="Picture 6" descr="This is an image of the specification sheet of the Raytheon 6CG8A Vacuum Tube from https://frank.pocnet.net/sheets/127/6/6CG8A.pdf&#10;It shows the first [page of the specification with the dimensions of the tube (2.188 inches tall) and the number of pins (8).  The content of the text is not particularly relevant - it is more fun as a historical document.">
            <a:extLst>
              <a:ext uri="{FF2B5EF4-FFF2-40B4-BE49-F238E27FC236}">
                <a16:creationId xmlns:a16="http://schemas.microsoft.com/office/drawing/2014/main" id="{3B897C92-0B5C-8743-5D89-2F13ED4FD46F}"/>
              </a:ext>
            </a:extLst>
          </p:cNvPr>
          <p:cNvPicPr>
            <a:picLocks noChangeAspect="1"/>
          </p:cNvPicPr>
          <p:nvPr/>
        </p:nvPicPr>
        <p:blipFill>
          <a:blip r:embed="rId3"/>
          <a:stretch>
            <a:fillRect/>
          </a:stretch>
        </p:blipFill>
        <p:spPr>
          <a:xfrm>
            <a:off x="4961743" y="197979"/>
            <a:ext cx="6532623" cy="5245272"/>
          </a:xfrm>
          <a:prstGeom prst="rect">
            <a:avLst/>
          </a:prstGeom>
        </p:spPr>
      </p:pic>
      <p:sp>
        <p:nvSpPr>
          <p:cNvPr id="10" name="TextBox 9">
            <a:extLst>
              <a:ext uri="{FF2B5EF4-FFF2-40B4-BE49-F238E27FC236}">
                <a16:creationId xmlns:a16="http://schemas.microsoft.com/office/drawing/2014/main" id="{2D5A19BE-DC40-7D40-9D96-DF6EB86F21E8}"/>
              </a:ext>
            </a:extLst>
          </p:cNvPr>
          <p:cNvSpPr txBox="1"/>
          <p:nvPr/>
        </p:nvSpPr>
        <p:spPr>
          <a:xfrm>
            <a:off x="405775" y="5460063"/>
            <a:ext cx="6096000" cy="400110"/>
          </a:xfrm>
          <a:prstGeom prst="rect">
            <a:avLst/>
          </a:prstGeom>
          <a:solidFill>
            <a:schemeClr val="bg1"/>
          </a:solidFill>
          <a:ln>
            <a:solidFill>
              <a:schemeClr val="tx1"/>
            </a:solidFill>
          </a:ln>
        </p:spPr>
        <p:txBody>
          <a:bodyPr wrap="square">
            <a:spAutoFit/>
          </a:bodyPr>
          <a:lstStyle/>
          <a:p>
            <a:r>
              <a:rPr lang="en-US" sz="2000" dirty="0"/>
              <a:t>https://</a:t>
            </a:r>
            <a:r>
              <a:rPr lang="en-US" sz="2000" dirty="0" err="1"/>
              <a:t>frank.pocnet.net</a:t>
            </a:r>
            <a:r>
              <a:rPr lang="en-US" sz="2000" dirty="0"/>
              <a:t>/sheets/127/6/6CG8A.pdf</a:t>
            </a:r>
          </a:p>
        </p:txBody>
      </p:sp>
    </p:spTree>
    <p:extLst>
      <p:ext uri="{BB962C8B-B14F-4D97-AF65-F5344CB8AC3E}">
        <p14:creationId xmlns:p14="http://schemas.microsoft.com/office/powerpoint/2010/main" val="1046107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C798B-7E70-BEB6-F169-7FBB9E0C0DC5}"/>
              </a:ext>
            </a:extLst>
          </p:cNvPr>
          <p:cNvSpPr>
            <a:spLocks noGrp="1"/>
          </p:cNvSpPr>
          <p:nvPr>
            <p:ph type="title"/>
          </p:nvPr>
        </p:nvSpPr>
        <p:spPr/>
        <p:txBody>
          <a:bodyPr/>
          <a:lstStyle/>
          <a:p>
            <a:r>
              <a:rPr lang="en-US" dirty="0"/>
              <a:t>Building "Digital" Valves / Tubes</a:t>
            </a:r>
          </a:p>
        </p:txBody>
      </p:sp>
      <p:sp>
        <p:nvSpPr>
          <p:cNvPr id="3" name="Content Placeholder 2">
            <a:extLst>
              <a:ext uri="{FF2B5EF4-FFF2-40B4-BE49-F238E27FC236}">
                <a16:creationId xmlns:a16="http://schemas.microsoft.com/office/drawing/2014/main" id="{880C27F6-2B11-EDB6-B9C0-83A0D1C8E882}"/>
              </a:ext>
            </a:extLst>
          </p:cNvPr>
          <p:cNvSpPr>
            <a:spLocks noGrp="1"/>
          </p:cNvSpPr>
          <p:nvPr>
            <p:ph idx="1"/>
          </p:nvPr>
        </p:nvSpPr>
        <p:spPr>
          <a:xfrm>
            <a:off x="838200" y="1825625"/>
            <a:ext cx="4319016" cy="4127111"/>
          </a:xfrm>
        </p:spPr>
        <p:txBody>
          <a:bodyPr>
            <a:normAutofit lnSpcReduction="10000"/>
          </a:bodyPr>
          <a:lstStyle/>
          <a:p>
            <a:r>
              <a:rPr lang="en-US" dirty="0"/>
              <a:t>The design of tubes could be tweaked so to move quickly from low voltage to high voltage as the input voltage increased	</a:t>
            </a:r>
          </a:p>
          <a:p>
            <a:pPr lvl="1"/>
            <a:r>
              <a:rPr lang="en-US" dirty="0"/>
              <a:t>Voltage low = off</a:t>
            </a:r>
          </a:p>
          <a:p>
            <a:pPr lvl="1"/>
            <a:r>
              <a:rPr lang="en-US" dirty="0"/>
              <a:t>Voltage high = on</a:t>
            </a:r>
          </a:p>
          <a:p>
            <a:r>
              <a:rPr lang="en-US" dirty="0"/>
              <a:t>With the correct design, a range of slightly lower input would be lifted on output</a:t>
            </a:r>
          </a:p>
        </p:txBody>
      </p:sp>
      <p:grpSp>
        <p:nvGrpSpPr>
          <p:cNvPr id="4" name="Group 3" descr="See the slide notes for a description of this graph.">
            <a:extLst>
              <a:ext uri="{FF2B5EF4-FFF2-40B4-BE49-F238E27FC236}">
                <a16:creationId xmlns:a16="http://schemas.microsoft.com/office/drawing/2014/main" id="{DD087B12-A7A0-B0F6-4290-DF7400994433}"/>
              </a:ext>
            </a:extLst>
          </p:cNvPr>
          <p:cNvGrpSpPr/>
          <p:nvPr/>
        </p:nvGrpSpPr>
        <p:grpSpPr>
          <a:xfrm>
            <a:off x="6096000" y="1798622"/>
            <a:ext cx="4376463" cy="3655600"/>
            <a:chOff x="6096000" y="1798622"/>
            <a:chExt cx="4376463" cy="3655600"/>
          </a:xfrm>
        </p:grpSpPr>
        <p:cxnSp>
          <p:nvCxnSpPr>
            <p:cNvPr id="5" name="Straight Connector 4">
              <a:extLst>
                <a:ext uri="{FF2B5EF4-FFF2-40B4-BE49-F238E27FC236}">
                  <a16:creationId xmlns:a16="http://schemas.microsoft.com/office/drawing/2014/main" id="{A4797A69-4A3E-F909-C44C-9EE13DC63A93}"/>
                </a:ext>
              </a:extLst>
            </p:cNvPr>
            <p:cNvCxnSpPr/>
            <p:nvPr/>
          </p:nvCxnSpPr>
          <p:spPr>
            <a:xfrm>
              <a:off x="6766560" y="2075688"/>
              <a:ext cx="0" cy="29169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3D57EB2-7307-3AF8-4E58-1786D776AC9E}"/>
                </a:ext>
              </a:extLst>
            </p:cNvPr>
            <p:cNvCxnSpPr>
              <a:cxnSpLocks/>
            </p:cNvCxnSpPr>
            <p:nvPr/>
          </p:nvCxnSpPr>
          <p:spPr>
            <a:xfrm>
              <a:off x="6766560" y="4992624"/>
              <a:ext cx="363928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reeform 8">
              <a:extLst>
                <a:ext uri="{FF2B5EF4-FFF2-40B4-BE49-F238E27FC236}">
                  <a16:creationId xmlns:a16="http://schemas.microsoft.com/office/drawing/2014/main" id="{5246D9BE-68AA-C3BE-7385-5E75B9BF0FCF}"/>
                </a:ext>
              </a:extLst>
            </p:cNvPr>
            <p:cNvSpPr/>
            <p:nvPr/>
          </p:nvSpPr>
          <p:spPr>
            <a:xfrm>
              <a:off x="6867144" y="2404459"/>
              <a:ext cx="3538698" cy="2407964"/>
            </a:xfrm>
            <a:custGeom>
              <a:avLst/>
              <a:gdLst>
                <a:gd name="connsiteX0" fmla="*/ 0 w 3218688"/>
                <a:gd name="connsiteY0" fmla="*/ 2306774 h 2356133"/>
                <a:gd name="connsiteX1" fmla="*/ 868680 w 3218688"/>
                <a:gd name="connsiteY1" fmla="*/ 2297630 h 2356133"/>
                <a:gd name="connsiteX2" fmla="*/ 1344168 w 3218688"/>
                <a:gd name="connsiteY2" fmla="*/ 1721558 h 2356133"/>
                <a:gd name="connsiteX3" fmla="*/ 1901952 w 3218688"/>
                <a:gd name="connsiteY3" fmla="*/ 642566 h 2356133"/>
                <a:gd name="connsiteX4" fmla="*/ 2487168 w 3218688"/>
                <a:gd name="connsiteY4" fmla="*/ 84782 h 2356133"/>
                <a:gd name="connsiteX5" fmla="*/ 3218688 w 3218688"/>
                <a:gd name="connsiteY5" fmla="*/ 11630 h 2356133"/>
                <a:gd name="connsiteX0" fmla="*/ 0 w 3218688"/>
                <a:gd name="connsiteY0" fmla="*/ 2352494 h 2382604"/>
                <a:gd name="connsiteX1" fmla="*/ 868680 w 3218688"/>
                <a:gd name="connsiteY1" fmla="*/ 2297630 h 2382604"/>
                <a:gd name="connsiteX2" fmla="*/ 1344168 w 3218688"/>
                <a:gd name="connsiteY2" fmla="*/ 1721558 h 2382604"/>
                <a:gd name="connsiteX3" fmla="*/ 1901952 w 3218688"/>
                <a:gd name="connsiteY3" fmla="*/ 642566 h 2382604"/>
                <a:gd name="connsiteX4" fmla="*/ 2487168 w 3218688"/>
                <a:gd name="connsiteY4" fmla="*/ 84782 h 2382604"/>
                <a:gd name="connsiteX5" fmla="*/ 3218688 w 3218688"/>
                <a:gd name="connsiteY5" fmla="*/ 11630 h 2382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8688" h="2382604">
                  <a:moveTo>
                    <a:pt x="0" y="2352494"/>
                  </a:moveTo>
                  <a:cubicBezTo>
                    <a:pt x="322326" y="2396690"/>
                    <a:pt x="644652" y="2402786"/>
                    <a:pt x="868680" y="2297630"/>
                  </a:cubicBezTo>
                  <a:cubicBezTo>
                    <a:pt x="1092708" y="2192474"/>
                    <a:pt x="1171956" y="1997402"/>
                    <a:pt x="1344168" y="1721558"/>
                  </a:cubicBezTo>
                  <a:cubicBezTo>
                    <a:pt x="1516380" y="1445714"/>
                    <a:pt x="1711452" y="915362"/>
                    <a:pt x="1901952" y="642566"/>
                  </a:cubicBezTo>
                  <a:cubicBezTo>
                    <a:pt x="2092452" y="369770"/>
                    <a:pt x="2267712" y="189938"/>
                    <a:pt x="2487168" y="84782"/>
                  </a:cubicBezTo>
                  <a:cubicBezTo>
                    <a:pt x="2706624" y="-20374"/>
                    <a:pt x="2962656" y="-4372"/>
                    <a:pt x="3218688" y="11630"/>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a:extLst>
                <a:ext uri="{FF2B5EF4-FFF2-40B4-BE49-F238E27FC236}">
                  <a16:creationId xmlns:a16="http://schemas.microsoft.com/office/drawing/2014/main" id="{0821B3E8-DBCF-634E-062D-1FBE03CF3C3E}"/>
                </a:ext>
              </a:extLst>
            </p:cNvPr>
            <p:cNvSpPr/>
            <p:nvPr/>
          </p:nvSpPr>
          <p:spPr>
            <a:xfrm>
              <a:off x="6885431" y="2373713"/>
              <a:ext cx="3520411" cy="2472407"/>
            </a:xfrm>
            <a:custGeom>
              <a:avLst/>
              <a:gdLst>
                <a:gd name="connsiteX0" fmla="*/ 0 w 3136392"/>
                <a:gd name="connsiteY0" fmla="*/ 2311176 h 2480509"/>
                <a:gd name="connsiteX1" fmla="*/ 1463040 w 3136392"/>
                <a:gd name="connsiteY1" fmla="*/ 2274600 h 2480509"/>
                <a:gd name="connsiteX2" fmla="*/ 1801368 w 3136392"/>
                <a:gd name="connsiteY2" fmla="*/ 262920 h 2480509"/>
                <a:gd name="connsiteX3" fmla="*/ 3136392 w 3136392"/>
                <a:gd name="connsiteY3" fmla="*/ 6888 h 2480509"/>
                <a:gd name="connsiteX0" fmla="*/ 0 w 3136392"/>
                <a:gd name="connsiteY0" fmla="*/ 2311176 h 2377760"/>
                <a:gd name="connsiteX1" fmla="*/ 1472184 w 3136392"/>
                <a:gd name="connsiteY1" fmla="*/ 2009424 h 2377760"/>
                <a:gd name="connsiteX2" fmla="*/ 1801368 w 3136392"/>
                <a:gd name="connsiteY2" fmla="*/ 262920 h 2377760"/>
                <a:gd name="connsiteX3" fmla="*/ 3136392 w 3136392"/>
                <a:gd name="connsiteY3" fmla="*/ 6888 h 2377760"/>
                <a:gd name="connsiteX0" fmla="*/ 0 w 3136392"/>
                <a:gd name="connsiteY0" fmla="*/ 2430048 h 2480048"/>
                <a:gd name="connsiteX1" fmla="*/ 1472184 w 3136392"/>
                <a:gd name="connsiteY1" fmla="*/ 2009424 h 2480048"/>
                <a:gd name="connsiteX2" fmla="*/ 1801368 w 3136392"/>
                <a:gd name="connsiteY2" fmla="*/ 262920 h 2480048"/>
                <a:gd name="connsiteX3" fmla="*/ 3136392 w 3136392"/>
                <a:gd name="connsiteY3" fmla="*/ 6888 h 2480048"/>
                <a:gd name="connsiteX0" fmla="*/ 0 w 3136392"/>
                <a:gd name="connsiteY0" fmla="*/ 2430048 h 2475723"/>
                <a:gd name="connsiteX1" fmla="*/ 999685 w 3136392"/>
                <a:gd name="connsiteY1" fmla="*/ 1972848 h 2475723"/>
                <a:gd name="connsiteX2" fmla="*/ 1801368 w 3136392"/>
                <a:gd name="connsiteY2" fmla="*/ 262920 h 2475723"/>
                <a:gd name="connsiteX3" fmla="*/ 3136392 w 3136392"/>
                <a:gd name="connsiteY3" fmla="*/ 6888 h 2475723"/>
                <a:gd name="connsiteX0" fmla="*/ 0 w 3136392"/>
                <a:gd name="connsiteY0" fmla="*/ 2426886 h 2472408"/>
                <a:gd name="connsiteX1" fmla="*/ 999685 w 3136392"/>
                <a:gd name="connsiteY1" fmla="*/ 1969686 h 2472408"/>
                <a:gd name="connsiteX2" fmla="*/ 1296283 w 3136392"/>
                <a:gd name="connsiteY2" fmla="*/ 268902 h 2472408"/>
                <a:gd name="connsiteX3" fmla="*/ 3136392 w 3136392"/>
                <a:gd name="connsiteY3" fmla="*/ 3726 h 2472408"/>
              </a:gdLst>
              <a:ahLst/>
              <a:cxnLst>
                <a:cxn ang="0">
                  <a:pos x="connsiteX0" y="connsiteY0"/>
                </a:cxn>
                <a:cxn ang="0">
                  <a:pos x="connsiteX1" y="connsiteY1"/>
                </a:cxn>
                <a:cxn ang="0">
                  <a:pos x="connsiteX2" y="connsiteY2"/>
                </a:cxn>
                <a:cxn ang="0">
                  <a:pos x="connsiteX3" y="connsiteY3"/>
                </a:cxn>
              </a:cxnLst>
              <a:rect l="l" t="t" r="r" b="b"/>
              <a:pathLst>
                <a:path w="3136392" h="2472408">
                  <a:moveTo>
                    <a:pt x="0" y="2426886"/>
                  </a:moveTo>
                  <a:cubicBezTo>
                    <a:pt x="581406" y="2579286"/>
                    <a:pt x="783638" y="2329350"/>
                    <a:pt x="999685" y="1969686"/>
                  </a:cubicBezTo>
                  <a:cubicBezTo>
                    <a:pt x="1215732" y="1610022"/>
                    <a:pt x="1017391" y="646854"/>
                    <a:pt x="1296283" y="268902"/>
                  </a:cubicBezTo>
                  <a:cubicBezTo>
                    <a:pt x="1575175" y="-109050"/>
                    <a:pt x="2889504" y="31158"/>
                    <a:pt x="3136392" y="3726"/>
                  </a:cubicBezTo>
                </a:path>
              </a:pathLst>
            </a:cu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Brace 11">
              <a:extLst>
                <a:ext uri="{FF2B5EF4-FFF2-40B4-BE49-F238E27FC236}">
                  <a16:creationId xmlns:a16="http://schemas.microsoft.com/office/drawing/2014/main" id="{86E4B132-156B-FCB2-CE45-A5E17AC40BE7}"/>
                </a:ext>
              </a:extLst>
            </p:cNvPr>
            <p:cNvSpPr/>
            <p:nvPr/>
          </p:nvSpPr>
          <p:spPr>
            <a:xfrm rot="16200000">
              <a:off x="8046705" y="1959493"/>
              <a:ext cx="137160" cy="484632"/>
            </a:xfrm>
            <a:prstGeom prst="righ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B9150F74-2D3F-3BBB-F117-6378A17BA7D3}"/>
                </a:ext>
              </a:extLst>
            </p:cNvPr>
            <p:cNvSpPr txBox="1"/>
            <p:nvPr/>
          </p:nvSpPr>
          <p:spPr>
            <a:xfrm>
              <a:off x="7561992" y="1798622"/>
              <a:ext cx="1106585" cy="369332"/>
            </a:xfrm>
            <a:prstGeom prst="rect">
              <a:avLst/>
            </a:prstGeom>
            <a:noFill/>
          </p:spPr>
          <p:txBody>
            <a:bodyPr wrap="none" rtlCol="0">
              <a:spAutoFit/>
            </a:bodyPr>
            <a:lstStyle/>
            <a:p>
              <a:r>
                <a:rPr lang="en-US" dirty="0">
                  <a:solidFill>
                    <a:srgbClr val="FF0000"/>
                  </a:solidFill>
                </a:rPr>
                <a:t>Transition</a:t>
              </a:r>
            </a:p>
          </p:txBody>
        </p:sp>
        <p:sp>
          <p:nvSpPr>
            <p:cNvPr id="14" name="TextBox 13">
              <a:extLst>
                <a:ext uri="{FF2B5EF4-FFF2-40B4-BE49-F238E27FC236}">
                  <a16:creationId xmlns:a16="http://schemas.microsoft.com/office/drawing/2014/main" id="{F6D4F634-6A0B-1F5A-F23F-8749901ABE57}"/>
                </a:ext>
              </a:extLst>
            </p:cNvPr>
            <p:cNvSpPr txBox="1"/>
            <p:nvPr/>
          </p:nvSpPr>
          <p:spPr>
            <a:xfrm>
              <a:off x="9423778" y="2924743"/>
              <a:ext cx="1048685" cy="646331"/>
            </a:xfrm>
            <a:prstGeom prst="rect">
              <a:avLst/>
            </a:prstGeom>
            <a:noFill/>
          </p:spPr>
          <p:txBody>
            <a:bodyPr wrap="none" rtlCol="0">
              <a:spAutoFit/>
            </a:bodyPr>
            <a:lstStyle/>
            <a:p>
              <a:r>
                <a:rPr lang="en-US" dirty="0">
                  <a:solidFill>
                    <a:schemeClr val="accent1"/>
                  </a:solidFill>
                </a:rPr>
                <a:t>Audio</a:t>
              </a:r>
            </a:p>
            <a:p>
              <a:r>
                <a:rPr lang="en-US" dirty="0">
                  <a:solidFill>
                    <a:schemeClr val="accent1"/>
                  </a:solidFill>
                </a:rPr>
                <a:t>Amplifier</a:t>
              </a:r>
            </a:p>
          </p:txBody>
        </p:sp>
        <p:sp>
          <p:nvSpPr>
            <p:cNvPr id="15" name="TextBox 14">
              <a:extLst>
                <a:ext uri="{FF2B5EF4-FFF2-40B4-BE49-F238E27FC236}">
                  <a16:creationId xmlns:a16="http://schemas.microsoft.com/office/drawing/2014/main" id="{B5BAFA32-7041-3312-95B6-E98649FC7617}"/>
                </a:ext>
              </a:extLst>
            </p:cNvPr>
            <p:cNvSpPr txBox="1"/>
            <p:nvPr/>
          </p:nvSpPr>
          <p:spPr>
            <a:xfrm>
              <a:off x="7019682" y="3025297"/>
              <a:ext cx="870110" cy="646331"/>
            </a:xfrm>
            <a:prstGeom prst="rect">
              <a:avLst/>
            </a:prstGeom>
            <a:noFill/>
          </p:spPr>
          <p:txBody>
            <a:bodyPr wrap="none" rtlCol="0">
              <a:spAutoFit/>
            </a:bodyPr>
            <a:lstStyle/>
            <a:p>
              <a:r>
                <a:rPr lang="en-US" dirty="0">
                  <a:solidFill>
                    <a:srgbClr val="FF0000"/>
                  </a:solidFill>
                </a:rPr>
                <a:t>Digital</a:t>
              </a:r>
            </a:p>
            <a:p>
              <a:r>
                <a:rPr lang="en-US" dirty="0">
                  <a:solidFill>
                    <a:srgbClr val="FF0000"/>
                  </a:solidFill>
                </a:rPr>
                <a:t>"Valve"</a:t>
              </a:r>
            </a:p>
          </p:txBody>
        </p:sp>
        <p:sp>
          <p:nvSpPr>
            <p:cNvPr id="16" name="TextBox 15">
              <a:extLst>
                <a:ext uri="{FF2B5EF4-FFF2-40B4-BE49-F238E27FC236}">
                  <a16:creationId xmlns:a16="http://schemas.microsoft.com/office/drawing/2014/main" id="{EE3ED635-71FD-4F56-C168-C5D16CDA93A9}"/>
                </a:ext>
              </a:extLst>
            </p:cNvPr>
            <p:cNvSpPr txBox="1"/>
            <p:nvPr/>
          </p:nvSpPr>
          <p:spPr>
            <a:xfrm>
              <a:off x="8121293" y="5084890"/>
              <a:ext cx="1441420" cy="369332"/>
            </a:xfrm>
            <a:prstGeom prst="rect">
              <a:avLst/>
            </a:prstGeom>
            <a:noFill/>
          </p:spPr>
          <p:txBody>
            <a:bodyPr wrap="none" rtlCol="0">
              <a:spAutoFit/>
            </a:bodyPr>
            <a:lstStyle/>
            <a:p>
              <a:r>
                <a:rPr lang="en-US" dirty="0"/>
                <a:t>Input Voltage</a:t>
              </a:r>
            </a:p>
          </p:txBody>
        </p:sp>
        <p:sp>
          <p:nvSpPr>
            <p:cNvPr id="17" name="TextBox 16">
              <a:extLst>
                <a:ext uri="{FF2B5EF4-FFF2-40B4-BE49-F238E27FC236}">
                  <a16:creationId xmlns:a16="http://schemas.microsoft.com/office/drawing/2014/main" id="{4E92C306-821E-E47D-66D6-EE9DFC6ACE40}"/>
                </a:ext>
              </a:extLst>
            </p:cNvPr>
            <p:cNvSpPr txBox="1"/>
            <p:nvPr/>
          </p:nvSpPr>
          <p:spPr>
            <a:xfrm rot="16200000">
              <a:off x="5474195" y="3335416"/>
              <a:ext cx="1612942" cy="369332"/>
            </a:xfrm>
            <a:prstGeom prst="rect">
              <a:avLst/>
            </a:prstGeom>
            <a:noFill/>
          </p:spPr>
          <p:txBody>
            <a:bodyPr wrap="none" rtlCol="0">
              <a:spAutoFit/>
            </a:bodyPr>
            <a:lstStyle/>
            <a:p>
              <a:r>
                <a:rPr lang="en-US" dirty="0"/>
                <a:t>Output Voltage</a:t>
              </a:r>
            </a:p>
          </p:txBody>
        </p:sp>
        <p:sp>
          <p:nvSpPr>
            <p:cNvPr id="20" name="Right Brace 19">
              <a:extLst>
                <a:ext uri="{FF2B5EF4-FFF2-40B4-BE49-F238E27FC236}">
                  <a16:creationId xmlns:a16="http://schemas.microsoft.com/office/drawing/2014/main" id="{C6AF2BBA-DF16-F82B-5676-6BDD7E60D557}"/>
                </a:ext>
              </a:extLst>
            </p:cNvPr>
            <p:cNvSpPr/>
            <p:nvPr/>
          </p:nvSpPr>
          <p:spPr>
            <a:xfrm rot="5400000" flipV="1">
              <a:off x="9309457" y="3371786"/>
              <a:ext cx="181122" cy="2048225"/>
            </a:xfrm>
            <a:prstGeom prst="righ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DF3056CE-CA16-AB56-B80A-8F540FF3A34A}"/>
                </a:ext>
              </a:extLst>
            </p:cNvPr>
            <p:cNvSpPr txBox="1"/>
            <p:nvPr/>
          </p:nvSpPr>
          <p:spPr>
            <a:xfrm>
              <a:off x="8772731" y="4489224"/>
              <a:ext cx="1254574" cy="369332"/>
            </a:xfrm>
            <a:prstGeom prst="rect">
              <a:avLst/>
            </a:prstGeom>
            <a:noFill/>
          </p:spPr>
          <p:txBody>
            <a:bodyPr wrap="none" rtlCol="0">
              <a:spAutoFit/>
            </a:bodyPr>
            <a:lstStyle/>
            <a:p>
              <a:r>
                <a:rPr lang="en-US" dirty="0">
                  <a:solidFill>
                    <a:srgbClr val="FF0000"/>
                  </a:solidFill>
                </a:rPr>
                <a:t>Regenerate</a:t>
              </a:r>
            </a:p>
          </p:txBody>
        </p:sp>
        <p:pic>
          <p:nvPicPr>
            <p:cNvPr id="22" name="Picture 21" descr="A sound waveform with black background&#10;&#10;AI-generated content may be incorrect.">
              <a:extLst>
                <a:ext uri="{FF2B5EF4-FFF2-40B4-BE49-F238E27FC236}">
                  <a16:creationId xmlns:a16="http://schemas.microsoft.com/office/drawing/2014/main" id="{BFA6A733-A271-941B-E020-7A2161564E2E}"/>
                </a:ext>
              </a:extLst>
            </p:cNvPr>
            <p:cNvPicPr>
              <a:picLocks noChangeAspect="1"/>
            </p:cNvPicPr>
            <p:nvPr/>
          </p:nvPicPr>
          <p:blipFill>
            <a:blip r:embed="rId3" cstate="print">
              <a:extLst>
                <a:ext uri="{28A0092B-C50C-407E-A947-70E740481C1C}">
                  <a14:useLocalDpi xmlns:a14="http://schemas.microsoft.com/office/drawing/2010/main"/>
                </a:ext>
              </a:extLst>
            </a:blip>
            <a:srcRect r="37059"/>
            <a:stretch/>
          </p:blipFill>
          <p:spPr>
            <a:xfrm>
              <a:off x="9252455" y="3429899"/>
              <a:ext cx="1220008" cy="488997"/>
            </a:xfrm>
            <a:prstGeom prst="rect">
              <a:avLst/>
            </a:prstGeom>
          </p:spPr>
        </p:pic>
        <p:grpSp>
          <p:nvGrpSpPr>
            <p:cNvPr id="47" name="Group 46">
              <a:extLst>
                <a:ext uri="{FF2B5EF4-FFF2-40B4-BE49-F238E27FC236}">
                  <a16:creationId xmlns:a16="http://schemas.microsoft.com/office/drawing/2014/main" id="{33A685B9-950E-97C1-F9D6-EDD2DA08E055}"/>
                </a:ext>
              </a:extLst>
            </p:cNvPr>
            <p:cNvGrpSpPr/>
            <p:nvPr/>
          </p:nvGrpSpPr>
          <p:grpSpPr>
            <a:xfrm>
              <a:off x="7101371" y="3693306"/>
              <a:ext cx="734091" cy="279132"/>
              <a:chOff x="6885431" y="5702808"/>
              <a:chExt cx="1069849" cy="313944"/>
            </a:xfrm>
          </p:grpSpPr>
          <p:cxnSp>
            <p:nvCxnSpPr>
              <p:cNvPr id="24" name="Straight Connector 23">
                <a:extLst>
                  <a:ext uri="{FF2B5EF4-FFF2-40B4-BE49-F238E27FC236}">
                    <a16:creationId xmlns:a16="http://schemas.microsoft.com/office/drawing/2014/main" id="{F29E3396-A0AE-BCFF-3078-F86049E77607}"/>
                  </a:ext>
                </a:extLst>
              </p:cNvPr>
              <p:cNvCxnSpPr>
                <a:cxnSpLocks/>
              </p:cNvCxnSpPr>
              <p:nvPr/>
            </p:nvCxnSpPr>
            <p:spPr>
              <a:xfrm>
                <a:off x="6885431" y="6016752"/>
                <a:ext cx="1823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001854E-97E1-C8F9-1620-F4A4CD7EF360}"/>
                  </a:ext>
                </a:extLst>
              </p:cNvPr>
              <p:cNvCxnSpPr>
                <a:cxnSpLocks/>
              </p:cNvCxnSpPr>
              <p:nvPr/>
            </p:nvCxnSpPr>
            <p:spPr>
              <a:xfrm>
                <a:off x="7067789" y="5705856"/>
                <a:ext cx="0" cy="31089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B915329-6707-1C92-8D1D-4A858FD03035}"/>
                  </a:ext>
                </a:extLst>
              </p:cNvPr>
              <p:cNvCxnSpPr>
                <a:cxnSpLocks/>
              </p:cNvCxnSpPr>
              <p:nvPr/>
            </p:nvCxnSpPr>
            <p:spPr>
              <a:xfrm>
                <a:off x="7067789" y="5705856"/>
                <a:ext cx="23826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62A619B-42EE-1B30-102F-5EB1ADFEE72D}"/>
                  </a:ext>
                </a:extLst>
              </p:cNvPr>
              <p:cNvCxnSpPr>
                <a:cxnSpLocks/>
              </p:cNvCxnSpPr>
              <p:nvPr/>
            </p:nvCxnSpPr>
            <p:spPr>
              <a:xfrm>
                <a:off x="7306056" y="5705856"/>
                <a:ext cx="0" cy="31089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424F982-3EB6-61E3-D4AB-70B8EAEBABF9}"/>
                  </a:ext>
                </a:extLst>
              </p:cNvPr>
              <p:cNvCxnSpPr>
                <a:cxnSpLocks/>
              </p:cNvCxnSpPr>
              <p:nvPr/>
            </p:nvCxnSpPr>
            <p:spPr>
              <a:xfrm flipV="1">
                <a:off x="7306056" y="6013704"/>
                <a:ext cx="255936" cy="304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FB1755C-3BF1-4FDF-6F65-63BC584FA75A}"/>
                  </a:ext>
                </a:extLst>
              </p:cNvPr>
              <p:cNvCxnSpPr>
                <a:cxnSpLocks/>
              </p:cNvCxnSpPr>
              <p:nvPr/>
            </p:nvCxnSpPr>
            <p:spPr>
              <a:xfrm>
                <a:off x="7561992" y="5702808"/>
                <a:ext cx="0" cy="31089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5F9F064-4DCF-C0C6-6255-B44E4E90F87A}"/>
                  </a:ext>
                </a:extLst>
              </p:cNvPr>
              <p:cNvCxnSpPr>
                <a:cxnSpLocks/>
              </p:cNvCxnSpPr>
              <p:nvPr/>
            </p:nvCxnSpPr>
            <p:spPr>
              <a:xfrm>
                <a:off x="7561992" y="5702808"/>
                <a:ext cx="23826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D3D0234-D350-F862-2F12-244D1312E404}"/>
                  </a:ext>
                </a:extLst>
              </p:cNvPr>
              <p:cNvCxnSpPr>
                <a:cxnSpLocks/>
              </p:cNvCxnSpPr>
              <p:nvPr/>
            </p:nvCxnSpPr>
            <p:spPr>
              <a:xfrm>
                <a:off x="7800259" y="5702808"/>
                <a:ext cx="0" cy="31089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08EA389-B89A-6ECD-AFDA-FD82CEB9BF62}"/>
                  </a:ext>
                </a:extLst>
              </p:cNvPr>
              <p:cNvCxnSpPr>
                <a:cxnSpLocks/>
              </p:cNvCxnSpPr>
              <p:nvPr/>
            </p:nvCxnSpPr>
            <p:spPr>
              <a:xfrm flipH="1">
                <a:off x="7800259" y="6013704"/>
                <a:ext cx="15502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99590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4F7AC-7923-56FC-2F2A-A4C6FC0D1EC0}"/>
              </a:ext>
            </a:extLst>
          </p:cNvPr>
          <p:cNvSpPr>
            <a:spLocks noGrp="1"/>
          </p:cNvSpPr>
          <p:nvPr>
            <p:ph type="title"/>
          </p:nvPr>
        </p:nvSpPr>
        <p:spPr/>
        <p:txBody>
          <a:bodyPr/>
          <a:lstStyle/>
          <a:p>
            <a:r>
              <a:rPr lang="en-US" dirty="0"/>
              <a:t>Flaws of Valves</a:t>
            </a:r>
          </a:p>
        </p:txBody>
      </p:sp>
      <p:sp>
        <p:nvSpPr>
          <p:cNvPr id="3" name="Content Placeholder 2">
            <a:extLst>
              <a:ext uri="{FF2B5EF4-FFF2-40B4-BE49-F238E27FC236}">
                <a16:creationId xmlns:a16="http://schemas.microsoft.com/office/drawing/2014/main" id="{94098027-C3D2-69D4-B0B2-C7F7C16333A3}"/>
              </a:ext>
            </a:extLst>
          </p:cNvPr>
          <p:cNvSpPr>
            <a:spLocks noGrp="1"/>
          </p:cNvSpPr>
          <p:nvPr>
            <p:ph idx="1"/>
          </p:nvPr>
        </p:nvSpPr>
        <p:spPr>
          <a:xfrm>
            <a:off x="838200" y="1825625"/>
            <a:ext cx="6192187" cy="4351338"/>
          </a:xfrm>
        </p:spPr>
        <p:txBody>
          <a:bodyPr/>
          <a:lstStyle/>
          <a:p>
            <a:r>
              <a:rPr lang="en-US" dirty="0"/>
              <a:t>Take lots of power </a:t>
            </a:r>
          </a:p>
          <a:p>
            <a:r>
              <a:rPr lang="en-US" dirty="0"/>
              <a:t>Lots of heat because tubes had an internal heater that helped release electrons from the cathode.</a:t>
            </a:r>
          </a:p>
          <a:p>
            <a:r>
              <a:rPr lang="en-US" dirty="0"/>
              <a:t>Physically large</a:t>
            </a:r>
          </a:p>
          <a:p>
            <a:r>
              <a:rPr lang="en-US" dirty="0"/>
              <a:t>Expensive to manufacture</a:t>
            </a:r>
          </a:p>
          <a:p>
            <a:r>
              <a:rPr lang="en-US" dirty="0"/>
              <a:t>Soft electronic glow in the dark</a:t>
            </a:r>
          </a:p>
        </p:txBody>
      </p:sp>
      <p:pic>
        <p:nvPicPr>
          <p:cNvPr id="4" name="Picture 3" descr="A close-up of a vacum tube amplifier.  It has a beautiful bue and orange glow as it is in operation.">
            <a:extLst>
              <a:ext uri="{FF2B5EF4-FFF2-40B4-BE49-F238E27FC236}">
                <a16:creationId xmlns:a16="http://schemas.microsoft.com/office/drawing/2014/main" id="{B3C84D36-7A1D-0098-40B2-6125137F4B6B}"/>
              </a:ext>
            </a:extLst>
          </p:cNvPr>
          <p:cNvPicPr>
            <a:picLocks noChangeAspect="1"/>
          </p:cNvPicPr>
          <p:nvPr/>
        </p:nvPicPr>
        <p:blipFill>
          <a:blip r:embed="rId3"/>
          <a:srcRect r="1" b="39185"/>
          <a:stretch>
            <a:fillRect/>
          </a:stretch>
        </p:blipFill>
        <p:spPr>
          <a:xfrm>
            <a:off x="6430780" y="10"/>
            <a:ext cx="5759697"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41710107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203D64-DFBE-C6C6-B26A-893D08133D8A}"/>
              </a:ext>
            </a:extLst>
          </p:cNvPr>
          <p:cNvSpPr>
            <a:spLocks noGrp="1"/>
          </p:cNvSpPr>
          <p:nvPr>
            <p:ph type="title"/>
          </p:nvPr>
        </p:nvSpPr>
        <p:spPr/>
        <p:txBody>
          <a:bodyPr/>
          <a:lstStyle/>
          <a:p>
            <a:r>
              <a:rPr lang="en-US" dirty="0"/>
              <a:t>Semi-Conductors</a:t>
            </a:r>
          </a:p>
        </p:txBody>
      </p:sp>
      <p:sp>
        <p:nvSpPr>
          <p:cNvPr id="5" name="Text Placeholder 4">
            <a:extLst>
              <a:ext uri="{FF2B5EF4-FFF2-40B4-BE49-F238E27FC236}">
                <a16:creationId xmlns:a16="http://schemas.microsoft.com/office/drawing/2014/main" id="{DFF883B0-0A39-83DE-14CD-9F103D1FAE2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62409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6CFE3-5B27-3F25-AD4D-6B6620B92036}"/>
              </a:ext>
            </a:extLst>
          </p:cNvPr>
          <p:cNvSpPr>
            <a:spLocks noGrp="1"/>
          </p:cNvSpPr>
          <p:nvPr>
            <p:ph type="title"/>
          </p:nvPr>
        </p:nvSpPr>
        <p:spPr/>
        <p:txBody>
          <a:bodyPr/>
          <a:lstStyle/>
          <a:p>
            <a:r>
              <a:rPr lang="en-US" dirty="0"/>
              <a:t>Transistors</a:t>
            </a:r>
          </a:p>
        </p:txBody>
      </p:sp>
      <p:sp>
        <p:nvSpPr>
          <p:cNvPr id="3" name="Content Placeholder 2">
            <a:extLst>
              <a:ext uri="{FF2B5EF4-FFF2-40B4-BE49-F238E27FC236}">
                <a16:creationId xmlns:a16="http://schemas.microsoft.com/office/drawing/2014/main" id="{8C577C38-19F9-61A0-0D8C-C231B9546522}"/>
              </a:ext>
            </a:extLst>
          </p:cNvPr>
          <p:cNvSpPr>
            <a:spLocks noGrp="1"/>
          </p:cNvSpPr>
          <p:nvPr>
            <p:ph idx="1"/>
          </p:nvPr>
        </p:nvSpPr>
        <p:spPr>
          <a:xfrm>
            <a:off x="838200" y="1825625"/>
            <a:ext cx="5855208" cy="4351338"/>
          </a:xfrm>
        </p:spPr>
        <p:txBody>
          <a:bodyPr>
            <a:normAutofit lnSpcReduction="10000"/>
          </a:bodyPr>
          <a:lstStyle/>
          <a:p>
            <a:r>
              <a:rPr lang="en-US" dirty="0"/>
              <a:t>Building a better Triode (Tube)</a:t>
            </a:r>
          </a:p>
          <a:p>
            <a:r>
              <a:rPr lang="en-US" dirty="0"/>
              <a:t>Three kinds of materials </a:t>
            </a:r>
            <a:r>
              <a:rPr lang="en-US" dirty="0" err="1"/>
              <a:t>w.r.t</a:t>
            </a:r>
            <a:r>
              <a:rPr lang="en-US" dirty="0"/>
              <a:t> electricity</a:t>
            </a:r>
          </a:p>
          <a:p>
            <a:pPr lvl="1"/>
            <a:r>
              <a:rPr lang="en-US" dirty="0"/>
              <a:t>Conducting like metal</a:t>
            </a:r>
          </a:p>
          <a:p>
            <a:pPr lvl="1"/>
            <a:r>
              <a:rPr lang="en-US" dirty="0"/>
              <a:t>Insulating like plastic</a:t>
            </a:r>
          </a:p>
          <a:p>
            <a:pPr lvl="1"/>
            <a:r>
              <a:rPr lang="en-US" dirty="0"/>
              <a:t>Semi-conductor</a:t>
            </a:r>
          </a:p>
          <a:p>
            <a:r>
              <a:rPr lang="en-US" dirty="0"/>
              <a:t>Certain crystalline materials like silicon can be modified by adding impurities (‘doping’) so they conduct electricity under certain conditions — hence, </a:t>
            </a:r>
            <a:r>
              <a:rPr lang="en-US" i="1" dirty="0"/>
              <a:t>semiconductors</a:t>
            </a:r>
            <a:r>
              <a:rPr lang="en-US" dirty="0"/>
              <a:t>.</a:t>
            </a:r>
          </a:p>
        </p:txBody>
      </p:sp>
      <p:pic>
        <p:nvPicPr>
          <p:cNvPr id="8" name="Picture 7" descr="The first transistor ever made, built by John Bardeen, William Shockley and Walter H. Brattain of Bell Labs in 1947. Original exhibited in Bell Laboratories.">
            <a:extLst>
              <a:ext uri="{FF2B5EF4-FFF2-40B4-BE49-F238E27FC236}">
                <a16:creationId xmlns:a16="http://schemas.microsoft.com/office/drawing/2014/main" id="{BAF39423-326D-1485-A125-B2DF69AFE84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946948" y="451540"/>
            <a:ext cx="3200400" cy="2400300"/>
          </a:xfrm>
          <a:prstGeom prst="rect">
            <a:avLst/>
          </a:prstGeom>
        </p:spPr>
      </p:pic>
      <p:pic>
        <p:nvPicPr>
          <p:cNvPr id="5" name="Picture 4" descr="A few early manufactured transistors.  Each transistor has three inputs.">
            <a:extLst>
              <a:ext uri="{FF2B5EF4-FFF2-40B4-BE49-F238E27FC236}">
                <a16:creationId xmlns:a16="http://schemas.microsoft.com/office/drawing/2014/main" id="{AF892666-4CC3-7DD5-5364-EF5A6178A03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314943" y="3057617"/>
            <a:ext cx="2464410" cy="2066740"/>
          </a:xfrm>
          <a:prstGeom prst="rect">
            <a:avLst/>
          </a:prstGeom>
        </p:spPr>
      </p:pic>
    </p:spTree>
    <p:extLst>
      <p:ext uri="{BB962C8B-B14F-4D97-AF65-F5344CB8AC3E}">
        <p14:creationId xmlns:p14="http://schemas.microsoft.com/office/powerpoint/2010/main" val="4157517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F0624-A7F1-D320-F7E7-12D05FE81B7C}"/>
              </a:ext>
            </a:extLst>
          </p:cNvPr>
          <p:cNvSpPr>
            <a:spLocks noGrp="1"/>
          </p:cNvSpPr>
          <p:nvPr>
            <p:ph type="title"/>
          </p:nvPr>
        </p:nvSpPr>
        <p:spPr>
          <a:xfrm>
            <a:off x="838200" y="365125"/>
            <a:ext cx="5683180" cy="1325563"/>
          </a:xfrm>
        </p:spPr>
        <p:txBody>
          <a:bodyPr/>
          <a:lstStyle/>
          <a:p>
            <a:r>
              <a:rPr lang="en-US" dirty="0"/>
              <a:t>Nobel Prize!</a:t>
            </a:r>
          </a:p>
        </p:txBody>
      </p:sp>
      <p:pic>
        <p:nvPicPr>
          <p:cNvPr id="65" name="Picture 64">
            <a:extLst>
              <a:ext uri="{FF2B5EF4-FFF2-40B4-BE49-F238E27FC236}">
                <a16:creationId xmlns:a16="http://schemas.microsoft.com/office/drawing/2014/main" id="{40073C81-8236-75FC-20C9-398CD4EBAB7D}"/>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039197" y="347548"/>
            <a:ext cx="1347117" cy="1325563"/>
          </a:xfrm>
          <a:prstGeom prst="rect">
            <a:avLst/>
          </a:prstGeom>
        </p:spPr>
      </p:pic>
      <p:sp>
        <p:nvSpPr>
          <p:cNvPr id="3" name="Content Placeholder 2">
            <a:extLst>
              <a:ext uri="{FF2B5EF4-FFF2-40B4-BE49-F238E27FC236}">
                <a16:creationId xmlns:a16="http://schemas.microsoft.com/office/drawing/2014/main" id="{B1F6C5DD-2403-E228-126C-1F8C7C4FDB58}"/>
              </a:ext>
            </a:extLst>
          </p:cNvPr>
          <p:cNvSpPr>
            <a:spLocks noGrp="1"/>
          </p:cNvSpPr>
          <p:nvPr>
            <p:ph idx="1"/>
          </p:nvPr>
        </p:nvSpPr>
        <p:spPr>
          <a:xfrm>
            <a:off x="838200" y="1825625"/>
            <a:ext cx="5683180" cy="3711015"/>
          </a:xfrm>
        </p:spPr>
        <p:txBody>
          <a:bodyPr>
            <a:normAutofit fontScale="92500" lnSpcReduction="10000"/>
          </a:bodyPr>
          <a:lstStyle/>
          <a:p>
            <a:r>
              <a:rPr lang="en-US" dirty="0"/>
              <a:t>Transistors are constructed by layering crystals with carefully designed impurities</a:t>
            </a:r>
          </a:p>
          <a:p>
            <a:pPr lvl="1"/>
            <a:r>
              <a:rPr lang="en-US" dirty="0"/>
              <a:t>Silicon with N-Doping</a:t>
            </a:r>
          </a:p>
          <a:p>
            <a:pPr lvl="1"/>
            <a:r>
              <a:rPr lang="en-US" dirty="0"/>
              <a:t>Silicon with P-Doping</a:t>
            </a:r>
          </a:p>
          <a:p>
            <a:r>
              <a:rPr lang="en-US" dirty="0"/>
              <a:t>When voltages are applied to the crystals, sub-atomic stuff happens at the boundaries between the different types of crystals that affect the flow of electrons through the crystals</a:t>
            </a:r>
          </a:p>
          <a:p>
            <a:pPr lvl="1"/>
            <a:endParaRPr lang="en-US" dirty="0"/>
          </a:p>
        </p:txBody>
      </p:sp>
      <p:grpSp>
        <p:nvGrpSpPr>
          <p:cNvPr id="4" name="Group 3" descr="A schematic of a vacuum tube amplifer showing the  cathode, anode, and grid.  It is showing a flow of electorns from the cathid to the and through and affected by the grid.  A small input wave form is shown on the grid and an amplified waveform is shown on the output anode.">
            <a:extLst>
              <a:ext uri="{FF2B5EF4-FFF2-40B4-BE49-F238E27FC236}">
                <a16:creationId xmlns:a16="http://schemas.microsoft.com/office/drawing/2014/main" id="{5A4BCB24-DBA1-7403-CF90-A9572CDFE906}"/>
              </a:ext>
            </a:extLst>
          </p:cNvPr>
          <p:cNvGrpSpPr/>
          <p:nvPr/>
        </p:nvGrpSpPr>
        <p:grpSpPr>
          <a:xfrm>
            <a:off x="7336190" y="514620"/>
            <a:ext cx="4214503" cy="2712097"/>
            <a:chOff x="7768269" y="2835782"/>
            <a:chExt cx="4214503" cy="2712097"/>
          </a:xfrm>
        </p:grpSpPr>
        <p:sp>
          <p:nvSpPr>
            <p:cNvPr id="5" name="Right Arrow 4">
              <a:extLst>
                <a:ext uri="{FF2B5EF4-FFF2-40B4-BE49-F238E27FC236}">
                  <a16:creationId xmlns:a16="http://schemas.microsoft.com/office/drawing/2014/main" id="{56E4CFA4-EAAE-1CD9-8AB5-28840E5F6165}"/>
                </a:ext>
              </a:extLst>
            </p:cNvPr>
            <p:cNvSpPr/>
            <p:nvPr/>
          </p:nvSpPr>
          <p:spPr>
            <a:xfrm rot="16200000">
              <a:off x="9623749" y="3916809"/>
              <a:ext cx="438528" cy="644989"/>
            </a:xfrm>
            <a:prstGeom prst="rightArrow">
              <a:avLst>
                <a:gd name="adj1" fmla="val 50000"/>
                <a:gd name="adj2" fmla="val 35014"/>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4B5C048-B66B-A8BB-169D-0FDB03B007E1}"/>
                </a:ext>
              </a:extLst>
            </p:cNvPr>
            <p:cNvSpPr/>
            <p:nvPr/>
          </p:nvSpPr>
          <p:spPr>
            <a:xfrm>
              <a:off x="9286486" y="3700305"/>
              <a:ext cx="1107831" cy="1107831"/>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2E7C2F3-B19C-9EBB-D4B0-5FA917F22C22}"/>
                </a:ext>
              </a:extLst>
            </p:cNvPr>
            <p:cNvCxnSpPr>
              <a:cxnSpLocks/>
            </p:cNvCxnSpPr>
            <p:nvPr/>
          </p:nvCxnSpPr>
          <p:spPr>
            <a:xfrm>
              <a:off x="9568476" y="3994273"/>
              <a:ext cx="54385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9F39C861-3033-58C5-6A86-A0BDD6397E7D}"/>
                </a:ext>
              </a:extLst>
            </p:cNvPr>
            <p:cNvGrpSpPr/>
            <p:nvPr/>
          </p:nvGrpSpPr>
          <p:grpSpPr>
            <a:xfrm>
              <a:off x="9597413" y="4514291"/>
              <a:ext cx="485977" cy="130560"/>
              <a:chOff x="4096796" y="4190231"/>
              <a:chExt cx="4302808" cy="1155969"/>
            </a:xfrm>
          </p:grpSpPr>
          <p:cxnSp>
            <p:nvCxnSpPr>
              <p:cNvPr id="23" name="Straight Connector 22">
                <a:extLst>
                  <a:ext uri="{FF2B5EF4-FFF2-40B4-BE49-F238E27FC236}">
                    <a16:creationId xmlns:a16="http://schemas.microsoft.com/office/drawing/2014/main" id="{D31FBD6E-F38E-B05B-B0F8-903138AC4127}"/>
                  </a:ext>
                </a:extLst>
              </p:cNvPr>
              <p:cNvCxnSpPr>
                <a:cxnSpLocks/>
              </p:cNvCxnSpPr>
              <p:nvPr/>
            </p:nvCxnSpPr>
            <p:spPr>
              <a:xfrm flipV="1">
                <a:off x="4553578" y="4190231"/>
                <a:ext cx="3384863" cy="14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A2C56F5-659E-F4FC-F504-BFF63EF964C2}"/>
                  </a:ext>
                </a:extLst>
              </p:cNvPr>
              <p:cNvCxnSpPr>
                <a:cxnSpLocks/>
              </p:cNvCxnSpPr>
              <p:nvPr/>
            </p:nvCxnSpPr>
            <p:spPr>
              <a:xfrm flipH="1">
                <a:off x="4096796" y="4190231"/>
                <a:ext cx="461163" cy="11559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A20B541-A0C5-5EF5-0200-E17403F146F2}"/>
                  </a:ext>
                </a:extLst>
              </p:cNvPr>
              <p:cNvCxnSpPr>
                <a:cxnSpLocks/>
              </p:cNvCxnSpPr>
              <p:nvPr/>
            </p:nvCxnSpPr>
            <p:spPr>
              <a:xfrm>
                <a:off x="7938441" y="4190231"/>
                <a:ext cx="461163" cy="11559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 name="Straight Connector 8">
              <a:extLst>
                <a:ext uri="{FF2B5EF4-FFF2-40B4-BE49-F238E27FC236}">
                  <a16:creationId xmlns:a16="http://schemas.microsoft.com/office/drawing/2014/main" id="{EBB46174-1A0F-C17D-5D52-3DAE4B3CAC03}"/>
                </a:ext>
              </a:extLst>
            </p:cNvPr>
            <p:cNvCxnSpPr>
              <a:cxnSpLocks/>
            </p:cNvCxnSpPr>
            <p:nvPr/>
          </p:nvCxnSpPr>
          <p:spPr>
            <a:xfrm>
              <a:off x="9514024" y="4254220"/>
              <a:ext cx="652755" cy="0"/>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2D78516-DC8C-7E0B-F7C3-D225E9894D28}"/>
                </a:ext>
              </a:extLst>
            </p:cNvPr>
            <p:cNvCxnSpPr>
              <a:cxnSpLocks/>
            </p:cNvCxnSpPr>
            <p:nvPr/>
          </p:nvCxnSpPr>
          <p:spPr>
            <a:xfrm>
              <a:off x="8623295" y="4254220"/>
              <a:ext cx="94518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F6EBD06-A24E-D4E5-C3C5-4FD961D27CEC}"/>
                </a:ext>
              </a:extLst>
            </p:cNvPr>
            <p:cNvCxnSpPr>
              <a:cxnSpLocks/>
            </p:cNvCxnSpPr>
            <p:nvPr/>
          </p:nvCxnSpPr>
          <p:spPr>
            <a:xfrm>
              <a:off x="9840154" y="3009766"/>
              <a:ext cx="0" cy="98450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5CBF181-632E-555A-BA65-D7D0757EE941}"/>
                </a:ext>
              </a:extLst>
            </p:cNvPr>
            <p:cNvCxnSpPr>
              <a:cxnSpLocks/>
            </p:cNvCxnSpPr>
            <p:nvPr/>
          </p:nvCxnSpPr>
          <p:spPr>
            <a:xfrm>
              <a:off x="9840154" y="4514291"/>
              <a:ext cx="0" cy="57891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C7FC2C3-B82E-60F1-BBB2-15404BAD81D5}"/>
                </a:ext>
              </a:extLst>
            </p:cNvPr>
            <p:cNvSpPr txBox="1"/>
            <p:nvPr/>
          </p:nvSpPr>
          <p:spPr>
            <a:xfrm>
              <a:off x="9498963" y="2915877"/>
              <a:ext cx="300082" cy="369332"/>
            </a:xfrm>
            <a:prstGeom prst="rect">
              <a:avLst/>
            </a:prstGeom>
            <a:noFill/>
          </p:spPr>
          <p:txBody>
            <a:bodyPr wrap="none" rtlCol="0">
              <a:spAutoFit/>
            </a:bodyPr>
            <a:lstStyle/>
            <a:p>
              <a:r>
                <a:rPr lang="en-US" dirty="0"/>
                <a:t>+</a:t>
              </a:r>
            </a:p>
          </p:txBody>
        </p:sp>
        <p:cxnSp>
          <p:nvCxnSpPr>
            <p:cNvPr id="14" name="Straight Connector 13">
              <a:extLst>
                <a:ext uri="{FF2B5EF4-FFF2-40B4-BE49-F238E27FC236}">
                  <a16:creationId xmlns:a16="http://schemas.microsoft.com/office/drawing/2014/main" id="{60A1ED5F-C08A-2EFD-A388-1BE8C86E5F1B}"/>
                </a:ext>
              </a:extLst>
            </p:cNvPr>
            <p:cNvCxnSpPr>
              <a:cxnSpLocks/>
            </p:cNvCxnSpPr>
            <p:nvPr/>
          </p:nvCxnSpPr>
          <p:spPr>
            <a:xfrm>
              <a:off x="9840154" y="3429000"/>
              <a:ext cx="935363" cy="34401"/>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ADCDA11-6DD7-0E92-4382-5251C619A94C}"/>
                </a:ext>
              </a:extLst>
            </p:cNvPr>
            <p:cNvSpPr txBox="1"/>
            <p:nvPr/>
          </p:nvSpPr>
          <p:spPr>
            <a:xfrm>
              <a:off x="9618809" y="4963104"/>
              <a:ext cx="499109" cy="584775"/>
            </a:xfrm>
            <a:prstGeom prst="rect">
              <a:avLst/>
            </a:prstGeom>
            <a:noFill/>
          </p:spPr>
          <p:txBody>
            <a:bodyPr wrap="square" rtlCol="0">
              <a:spAutoFit/>
            </a:bodyPr>
            <a:lstStyle/>
            <a:p>
              <a:r>
                <a:rPr lang="en-US" sz="3200" dirty="0">
                  <a:solidFill>
                    <a:schemeClr val="accent1"/>
                  </a:solidFill>
                </a:rPr>
                <a:t>⏚</a:t>
              </a:r>
            </a:p>
          </p:txBody>
        </p:sp>
        <p:pic>
          <p:nvPicPr>
            <p:cNvPr id="16" name="Picture 15" descr="A sound waveform with black background&#10;&#10;AI-generated content may be incorrect.">
              <a:extLst>
                <a:ext uri="{FF2B5EF4-FFF2-40B4-BE49-F238E27FC236}">
                  <a16:creationId xmlns:a16="http://schemas.microsoft.com/office/drawing/2014/main" id="{E855C7E5-64E1-1324-3E64-CE6ECE4723CC}"/>
                </a:ext>
              </a:extLst>
            </p:cNvPr>
            <p:cNvPicPr>
              <a:picLocks noChangeAspect="1"/>
            </p:cNvPicPr>
            <p:nvPr/>
          </p:nvPicPr>
          <p:blipFill>
            <a:blip r:embed="rId4" cstate="print">
              <a:extLst>
                <a:ext uri="{28A0092B-C50C-407E-A947-70E740481C1C}">
                  <a14:useLocalDpi xmlns:a14="http://schemas.microsoft.com/office/drawing/2010/main"/>
                </a:ext>
              </a:extLst>
            </a:blip>
            <a:srcRect r="37059"/>
            <a:stretch/>
          </p:blipFill>
          <p:spPr>
            <a:xfrm>
              <a:off x="7768269" y="4025294"/>
              <a:ext cx="1220008" cy="488997"/>
            </a:xfrm>
            <a:prstGeom prst="rect">
              <a:avLst/>
            </a:prstGeom>
          </p:spPr>
        </p:pic>
        <p:pic>
          <p:nvPicPr>
            <p:cNvPr id="17" name="Picture 16" descr="A sound waveform with black background&#10;&#10;AI-generated content may be incorrect.">
              <a:extLst>
                <a:ext uri="{FF2B5EF4-FFF2-40B4-BE49-F238E27FC236}">
                  <a16:creationId xmlns:a16="http://schemas.microsoft.com/office/drawing/2014/main" id="{F3E0692D-32FE-9E2C-C8B3-3FEAC558D160}"/>
                </a:ext>
              </a:extLst>
            </p:cNvPr>
            <p:cNvPicPr>
              <a:picLocks noChangeAspect="1"/>
            </p:cNvPicPr>
            <p:nvPr/>
          </p:nvPicPr>
          <p:blipFill>
            <a:blip r:embed="rId5" cstate="print">
              <a:extLst>
                <a:ext uri="{28A0092B-C50C-407E-A947-70E740481C1C}">
                  <a14:useLocalDpi xmlns:a14="http://schemas.microsoft.com/office/drawing/2010/main"/>
                </a:ext>
              </a:extLst>
            </a:blip>
            <a:srcRect r="37059"/>
            <a:stretch/>
          </p:blipFill>
          <p:spPr>
            <a:xfrm>
              <a:off x="10337981" y="2835782"/>
              <a:ext cx="1220008" cy="1255237"/>
            </a:xfrm>
            <a:prstGeom prst="rect">
              <a:avLst/>
            </a:prstGeom>
          </p:spPr>
        </p:pic>
        <p:sp>
          <p:nvSpPr>
            <p:cNvPr id="18" name="TextBox 17">
              <a:extLst>
                <a:ext uri="{FF2B5EF4-FFF2-40B4-BE49-F238E27FC236}">
                  <a16:creationId xmlns:a16="http://schemas.microsoft.com/office/drawing/2014/main" id="{4C7CB2EB-8FBD-EC0D-55E6-45A08E3245F2}"/>
                </a:ext>
              </a:extLst>
            </p:cNvPr>
            <p:cNvSpPr txBox="1"/>
            <p:nvPr/>
          </p:nvSpPr>
          <p:spPr>
            <a:xfrm>
              <a:off x="8019170" y="4460185"/>
              <a:ext cx="684803" cy="369332"/>
            </a:xfrm>
            <a:prstGeom prst="rect">
              <a:avLst/>
            </a:prstGeom>
            <a:noFill/>
          </p:spPr>
          <p:txBody>
            <a:bodyPr wrap="none" rtlCol="0">
              <a:spAutoFit/>
            </a:bodyPr>
            <a:lstStyle/>
            <a:p>
              <a:r>
                <a:rPr lang="en-US" dirty="0"/>
                <a:t>Input</a:t>
              </a:r>
            </a:p>
          </p:txBody>
        </p:sp>
        <p:sp>
          <p:nvSpPr>
            <p:cNvPr id="19" name="TextBox 18">
              <a:extLst>
                <a:ext uri="{FF2B5EF4-FFF2-40B4-BE49-F238E27FC236}">
                  <a16:creationId xmlns:a16="http://schemas.microsoft.com/office/drawing/2014/main" id="{4DD6904A-AA46-A472-EBB3-C869F6DF9267}"/>
                </a:ext>
              </a:extLst>
            </p:cNvPr>
            <p:cNvSpPr txBox="1"/>
            <p:nvPr/>
          </p:nvSpPr>
          <p:spPr>
            <a:xfrm>
              <a:off x="10423502" y="4090853"/>
              <a:ext cx="585417" cy="369332"/>
            </a:xfrm>
            <a:prstGeom prst="rect">
              <a:avLst/>
            </a:prstGeom>
            <a:noFill/>
          </p:spPr>
          <p:txBody>
            <a:bodyPr wrap="none" rtlCol="0">
              <a:spAutoFit/>
            </a:bodyPr>
            <a:lstStyle/>
            <a:p>
              <a:r>
                <a:rPr lang="en-US" dirty="0"/>
                <a:t>Grid</a:t>
              </a:r>
            </a:p>
          </p:txBody>
        </p:sp>
        <p:sp>
          <p:nvSpPr>
            <p:cNvPr id="20" name="TextBox 19">
              <a:extLst>
                <a:ext uri="{FF2B5EF4-FFF2-40B4-BE49-F238E27FC236}">
                  <a16:creationId xmlns:a16="http://schemas.microsoft.com/office/drawing/2014/main" id="{8BF509F0-EB77-8BB2-C1F2-78BE10E3E0C0}"/>
                </a:ext>
              </a:extLst>
            </p:cNvPr>
            <p:cNvSpPr txBox="1"/>
            <p:nvPr/>
          </p:nvSpPr>
          <p:spPr>
            <a:xfrm>
              <a:off x="8779238" y="4718204"/>
              <a:ext cx="974434" cy="369332"/>
            </a:xfrm>
            <a:prstGeom prst="rect">
              <a:avLst/>
            </a:prstGeom>
            <a:noFill/>
          </p:spPr>
          <p:txBody>
            <a:bodyPr wrap="none" rtlCol="0">
              <a:spAutoFit/>
            </a:bodyPr>
            <a:lstStyle/>
            <a:p>
              <a:r>
                <a:rPr lang="en-US" dirty="0"/>
                <a:t>Cathode</a:t>
              </a:r>
            </a:p>
          </p:txBody>
        </p:sp>
        <p:sp>
          <p:nvSpPr>
            <p:cNvPr id="21" name="TextBox 20">
              <a:extLst>
                <a:ext uri="{FF2B5EF4-FFF2-40B4-BE49-F238E27FC236}">
                  <a16:creationId xmlns:a16="http://schemas.microsoft.com/office/drawing/2014/main" id="{9D37B2AA-36E2-5C03-F51F-ECC5AE0BF1B1}"/>
                </a:ext>
              </a:extLst>
            </p:cNvPr>
            <p:cNvSpPr txBox="1"/>
            <p:nvPr/>
          </p:nvSpPr>
          <p:spPr>
            <a:xfrm>
              <a:off x="8764703" y="3477957"/>
              <a:ext cx="798617" cy="369332"/>
            </a:xfrm>
            <a:prstGeom prst="rect">
              <a:avLst/>
            </a:prstGeom>
            <a:noFill/>
          </p:spPr>
          <p:txBody>
            <a:bodyPr wrap="none" rtlCol="0">
              <a:spAutoFit/>
            </a:bodyPr>
            <a:lstStyle/>
            <a:p>
              <a:r>
                <a:rPr lang="en-US" dirty="0"/>
                <a:t>Anode</a:t>
              </a:r>
            </a:p>
          </p:txBody>
        </p:sp>
        <p:sp>
          <p:nvSpPr>
            <p:cNvPr id="22" name="TextBox 21">
              <a:extLst>
                <a:ext uri="{FF2B5EF4-FFF2-40B4-BE49-F238E27FC236}">
                  <a16:creationId xmlns:a16="http://schemas.microsoft.com/office/drawing/2014/main" id="{EEF58B91-07AB-D2A3-2CFC-3696949E56E1}"/>
                </a:ext>
              </a:extLst>
            </p:cNvPr>
            <p:cNvSpPr txBox="1"/>
            <p:nvPr/>
          </p:nvSpPr>
          <p:spPr>
            <a:xfrm>
              <a:off x="11126447" y="2988182"/>
              <a:ext cx="856325" cy="369332"/>
            </a:xfrm>
            <a:prstGeom prst="rect">
              <a:avLst/>
            </a:prstGeom>
            <a:noFill/>
          </p:spPr>
          <p:txBody>
            <a:bodyPr wrap="none" rtlCol="0">
              <a:spAutoFit/>
            </a:bodyPr>
            <a:lstStyle/>
            <a:p>
              <a:r>
                <a:rPr lang="en-US" dirty="0"/>
                <a:t>Output</a:t>
              </a:r>
            </a:p>
          </p:txBody>
        </p:sp>
      </p:grpSp>
      <p:grpSp>
        <p:nvGrpSpPr>
          <p:cNvPr id="29" name="Group 28" descr="The is a transistor version of a tube.  it has an N-doped Emitter,  P-doped Base and N-Doped Collector.  We see  low amplitude wave form connected to the Base and a higher amplitude wave form coming out of the emitter to show amplification.">
            <a:extLst>
              <a:ext uri="{FF2B5EF4-FFF2-40B4-BE49-F238E27FC236}">
                <a16:creationId xmlns:a16="http://schemas.microsoft.com/office/drawing/2014/main" id="{9436EE4B-5093-B39E-39AC-F0D6B4ED2F37}"/>
              </a:ext>
            </a:extLst>
          </p:cNvPr>
          <p:cNvGrpSpPr/>
          <p:nvPr/>
        </p:nvGrpSpPr>
        <p:grpSpPr>
          <a:xfrm>
            <a:off x="7339551" y="3452018"/>
            <a:ext cx="4214503" cy="2496412"/>
            <a:chOff x="7339551" y="3452018"/>
            <a:chExt cx="4214503" cy="2496412"/>
          </a:xfrm>
        </p:grpSpPr>
        <p:sp>
          <p:nvSpPr>
            <p:cNvPr id="26" name="Rectangle 25">
              <a:extLst>
                <a:ext uri="{FF2B5EF4-FFF2-40B4-BE49-F238E27FC236}">
                  <a16:creationId xmlns:a16="http://schemas.microsoft.com/office/drawing/2014/main" id="{1BBCA666-F364-10AF-0F24-45E944183AAA}"/>
                </a:ext>
              </a:extLst>
            </p:cNvPr>
            <p:cNvSpPr/>
            <p:nvPr/>
          </p:nvSpPr>
          <p:spPr>
            <a:xfrm>
              <a:off x="9035817" y="4356301"/>
              <a:ext cx="744515" cy="364713"/>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t>
              </a:r>
            </a:p>
          </p:txBody>
        </p:sp>
        <p:sp>
          <p:nvSpPr>
            <p:cNvPr id="27" name="Rectangle 26">
              <a:extLst>
                <a:ext uri="{FF2B5EF4-FFF2-40B4-BE49-F238E27FC236}">
                  <a16:creationId xmlns:a16="http://schemas.microsoft.com/office/drawing/2014/main" id="{FA0EB1CD-2C54-9F1B-3AE4-8C193AD0280B}"/>
                </a:ext>
              </a:extLst>
            </p:cNvPr>
            <p:cNvSpPr/>
            <p:nvPr/>
          </p:nvSpPr>
          <p:spPr>
            <a:xfrm>
              <a:off x="9035817" y="5075297"/>
              <a:ext cx="744515" cy="364713"/>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t>
              </a:r>
            </a:p>
          </p:txBody>
        </p:sp>
        <p:sp>
          <p:nvSpPr>
            <p:cNvPr id="28" name="Rectangle 27">
              <a:extLst>
                <a:ext uri="{FF2B5EF4-FFF2-40B4-BE49-F238E27FC236}">
                  <a16:creationId xmlns:a16="http://schemas.microsoft.com/office/drawing/2014/main" id="{3CB976A5-3CF9-778A-8FCE-EC49671B9823}"/>
                </a:ext>
              </a:extLst>
            </p:cNvPr>
            <p:cNvSpPr/>
            <p:nvPr/>
          </p:nvSpPr>
          <p:spPr>
            <a:xfrm>
              <a:off x="9035817" y="4718422"/>
              <a:ext cx="744515" cy="364713"/>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
              </a:r>
            </a:p>
          </p:txBody>
        </p:sp>
        <p:cxnSp>
          <p:nvCxnSpPr>
            <p:cNvPr id="32" name="Straight Connector 31">
              <a:extLst>
                <a:ext uri="{FF2B5EF4-FFF2-40B4-BE49-F238E27FC236}">
                  <a16:creationId xmlns:a16="http://schemas.microsoft.com/office/drawing/2014/main" id="{8274820B-14E9-7435-805A-8D0AEFA9E6A6}"/>
                </a:ext>
              </a:extLst>
            </p:cNvPr>
            <p:cNvCxnSpPr>
              <a:cxnSpLocks/>
            </p:cNvCxnSpPr>
            <p:nvPr/>
          </p:nvCxnSpPr>
          <p:spPr>
            <a:xfrm>
              <a:off x="9131241" y="4356301"/>
              <a:ext cx="54385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7956F8D-522B-D4FA-D75C-2A1028CE844E}"/>
                </a:ext>
              </a:extLst>
            </p:cNvPr>
            <p:cNvCxnSpPr>
              <a:cxnSpLocks/>
            </p:cNvCxnSpPr>
            <p:nvPr/>
          </p:nvCxnSpPr>
          <p:spPr>
            <a:xfrm>
              <a:off x="8191216" y="4910827"/>
              <a:ext cx="84460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5D55292-5D56-39C9-DB88-E2EC6BC07790}"/>
                </a:ext>
              </a:extLst>
            </p:cNvPr>
            <p:cNvCxnSpPr>
              <a:cxnSpLocks/>
              <a:endCxn id="26" idx="0"/>
            </p:cNvCxnSpPr>
            <p:nvPr/>
          </p:nvCxnSpPr>
          <p:spPr>
            <a:xfrm flipH="1">
              <a:off x="9408075" y="3626002"/>
              <a:ext cx="3361" cy="73029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0EDB248F-5939-37F3-A4E3-457911B5F7DB}"/>
                </a:ext>
              </a:extLst>
            </p:cNvPr>
            <p:cNvSpPr txBox="1"/>
            <p:nvPr/>
          </p:nvSpPr>
          <p:spPr>
            <a:xfrm>
              <a:off x="9070245" y="3532113"/>
              <a:ext cx="300082" cy="369332"/>
            </a:xfrm>
            <a:prstGeom prst="rect">
              <a:avLst/>
            </a:prstGeom>
            <a:noFill/>
          </p:spPr>
          <p:txBody>
            <a:bodyPr wrap="none" rtlCol="0">
              <a:spAutoFit/>
            </a:bodyPr>
            <a:lstStyle/>
            <a:p>
              <a:r>
                <a:rPr lang="en-US" dirty="0"/>
                <a:t>+</a:t>
              </a:r>
            </a:p>
          </p:txBody>
        </p:sp>
        <p:cxnSp>
          <p:nvCxnSpPr>
            <p:cNvPr id="39" name="Straight Connector 38">
              <a:extLst>
                <a:ext uri="{FF2B5EF4-FFF2-40B4-BE49-F238E27FC236}">
                  <a16:creationId xmlns:a16="http://schemas.microsoft.com/office/drawing/2014/main" id="{37BD642A-D203-BE03-9C46-B19DFC859365}"/>
                </a:ext>
              </a:extLst>
            </p:cNvPr>
            <p:cNvCxnSpPr>
              <a:cxnSpLocks/>
            </p:cNvCxnSpPr>
            <p:nvPr/>
          </p:nvCxnSpPr>
          <p:spPr>
            <a:xfrm>
              <a:off x="9411436" y="4045236"/>
              <a:ext cx="935363" cy="34401"/>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57428C8B-93A5-8119-6819-4BD331349B1C}"/>
                </a:ext>
              </a:extLst>
            </p:cNvPr>
            <p:cNvSpPr txBox="1"/>
            <p:nvPr/>
          </p:nvSpPr>
          <p:spPr>
            <a:xfrm>
              <a:off x="9191377" y="5363655"/>
              <a:ext cx="499109" cy="584775"/>
            </a:xfrm>
            <a:prstGeom prst="rect">
              <a:avLst/>
            </a:prstGeom>
            <a:noFill/>
          </p:spPr>
          <p:txBody>
            <a:bodyPr wrap="square" rtlCol="0">
              <a:spAutoFit/>
            </a:bodyPr>
            <a:lstStyle/>
            <a:p>
              <a:r>
                <a:rPr lang="en-US" sz="3200" dirty="0">
                  <a:solidFill>
                    <a:schemeClr val="accent1"/>
                  </a:solidFill>
                </a:rPr>
                <a:t>⏚</a:t>
              </a:r>
            </a:p>
          </p:txBody>
        </p:sp>
        <p:pic>
          <p:nvPicPr>
            <p:cNvPr id="41" name="Picture 40" descr="A sound waveform">
              <a:extLst>
                <a:ext uri="{FF2B5EF4-FFF2-40B4-BE49-F238E27FC236}">
                  <a16:creationId xmlns:a16="http://schemas.microsoft.com/office/drawing/2014/main" id="{684A69FF-BA57-6E60-B063-CDDEEAE1D648}"/>
                </a:ext>
              </a:extLst>
            </p:cNvPr>
            <p:cNvPicPr>
              <a:picLocks noChangeAspect="1"/>
            </p:cNvPicPr>
            <p:nvPr/>
          </p:nvPicPr>
          <p:blipFill>
            <a:blip r:embed="rId4" cstate="print">
              <a:extLst>
                <a:ext uri="{28A0092B-C50C-407E-A947-70E740481C1C}">
                  <a14:useLocalDpi xmlns:a14="http://schemas.microsoft.com/office/drawing/2010/main"/>
                </a:ext>
              </a:extLst>
            </a:blip>
            <a:srcRect r="37059"/>
            <a:stretch/>
          </p:blipFill>
          <p:spPr>
            <a:xfrm>
              <a:off x="7339551" y="4661626"/>
              <a:ext cx="1220008" cy="488997"/>
            </a:xfrm>
            <a:prstGeom prst="rect">
              <a:avLst/>
            </a:prstGeom>
          </p:spPr>
        </p:pic>
        <p:pic>
          <p:nvPicPr>
            <p:cNvPr id="42" name="Picture 41" descr="An aplified sound waveform&#10;&#10;">
              <a:extLst>
                <a:ext uri="{FF2B5EF4-FFF2-40B4-BE49-F238E27FC236}">
                  <a16:creationId xmlns:a16="http://schemas.microsoft.com/office/drawing/2014/main" id="{4F6FD644-244A-15B9-7769-7F17ED93DF59}"/>
                </a:ext>
              </a:extLst>
            </p:cNvPr>
            <p:cNvPicPr>
              <a:picLocks noChangeAspect="1"/>
            </p:cNvPicPr>
            <p:nvPr/>
          </p:nvPicPr>
          <p:blipFill>
            <a:blip r:embed="rId5" cstate="print">
              <a:extLst>
                <a:ext uri="{28A0092B-C50C-407E-A947-70E740481C1C}">
                  <a14:useLocalDpi xmlns:a14="http://schemas.microsoft.com/office/drawing/2010/main"/>
                </a:ext>
              </a:extLst>
            </a:blip>
            <a:srcRect r="37059"/>
            <a:stretch/>
          </p:blipFill>
          <p:spPr>
            <a:xfrm>
              <a:off x="9909263" y="3452018"/>
              <a:ext cx="1220008" cy="1255237"/>
            </a:xfrm>
            <a:prstGeom prst="rect">
              <a:avLst/>
            </a:prstGeom>
          </p:spPr>
        </p:pic>
        <p:sp>
          <p:nvSpPr>
            <p:cNvPr id="43" name="TextBox 42">
              <a:extLst>
                <a:ext uri="{FF2B5EF4-FFF2-40B4-BE49-F238E27FC236}">
                  <a16:creationId xmlns:a16="http://schemas.microsoft.com/office/drawing/2014/main" id="{E2CEFA35-8EF1-23AD-48E1-7CAA4E23A9DC}"/>
                </a:ext>
              </a:extLst>
            </p:cNvPr>
            <p:cNvSpPr txBox="1"/>
            <p:nvPr/>
          </p:nvSpPr>
          <p:spPr>
            <a:xfrm>
              <a:off x="7590452" y="5076421"/>
              <a:ext cx="684803" cy="369332"/>
            </a:xfrm>
            <a:prstGeom prst="rect">
              <a:avLst/>
            </a:prstGeom>
            <a:noFill/>
          </p:spPr>
          <p:txBody>
            <a:bodyPr wrap="none" rtlCol="0">
              <a:spAutoFit/>
            </a:bodyPr>
            <a:lstStyle/>
            <a:p>
              <a:r>
                <a:rPr lang="en-US" dirty="0"/>
                <a:t>Input</a:t>
              </a:r>
            </a:p>
          </p:txBody>
        </p:sp>
        <p:sp>
          <p:nvSpPr>
            <p:cNvPr id="44" name="TextBox 43">
              <a:extLst>
                <a:ext uri="{FF2B5EF4-FFF2-40B4-BE49-F238E27FC236}">
                  <a16:creationId xmlns:a16="http://schemas.microsoft.com/office/drawing/2014/main" id="{71D0E773-2363-EA37-3F23-0242F0323B51}"/>
                </a:ext>
              </a:extLst>
            </p:cNvPr>
            <p:cNvSpPr txBox="1"/>
            <p:nvPr/>
          </p:nvSpPr>
          <p:spPr>
            <a:xfrm>
              <a:off x="9812827" y="4711161"/>
              <a:ext cx="1265283" cy="369332"/>
            </a:xfrm>
            <a:prstGeom prst="rect">
              <a:avLst/>
            </a:prstGeom>
            <a:noFill/>
          </p:spPr>
          <p:txBody>
            <a:bodyPr wrap="none" rtlCol="0">
              <a:spAutoFit/>
            </a:bodyPr>
            <a:lstStyle/>
            <a:p>
              <a:r>
                <a:rPr lang="en-US" dirty="0"/>
                <a:t>Base / Gate</a:t>
              </a:r>
            </a:p>
          </p:txBody>
        </p:sp>
        <p:sp>
          <p:nvSpPr>
            <p:cNvPr id="45" name="TextBox 44">
              <a:extLst>
                <a:ext uri="{FF2B5EF4-FFF2-40B4-BE49-F238E27FC236}">
                  <a16:creationId xmlns:a16="http://schemas.microsoft.com/office/drawing/2014/main" id="{8B96E2EF-0879-8DEE-2C4A-0DC0B6743EFD}"/>
                </a:ext>
              </a:extLst>
            </p:cNvPr>
            <p:cNvSpPr txBox="1"/>
            <p:nvPr/>
          </p:nvSpPr>
          <p:spPr>
            <a:xfrm>
              <a:off x="9840468" y="5242205"/>
              <a:ext cx="1025602" cy="369332"/>
            </a:xfrm>
            <a:prstGeom prst="rect">
              <a:avLst/>
            </a:prstGeom>
            <a:noFill/>
          </p:spPr>
          <p:txBody>
            <a:bodyPr wrap="none" rtlCol="0">
              <a:spAutoFit/>
            </a:bodyPr>
            <a:lstStyle/>
            <a:p>
              <a:r>
                <a:rPr lang="en-US" dirty="0"/>
                <a:t>Collector</a:t>
              </a:r>
            </a:p>
          </p:txBody>
        </p:sp>
        <p:sp>
          <p:nvSpPr>
            <p:cNvPr id="46" name="TextBox 45">
              <a:extLst>
                <a:ext uri="{FF2B5EF4-FFF2-40B4-BE49-F238E27FC236}">
                  <a16:creationId xmlns:a16="http://schemas.microsoft.com/office/drawing/2014/main" id="{AE36F433-2606-055D-378E-B8E3545CB04C}"/>
                </a:ext>
              </a:extLst>
            </p:cNvPr>
            <p:cNvSpPr txBox="1"/>
            <p:nvPr/>
          </p:nvSpPr>
          <p:spPr>
            <a:xfrm>
              <a:off x="7944213" y="4072212"/>
              <a:ext cx="877804" cy="369332"/>
            </a:xfrm>
            <a:prstGeom prst="rect">
              <a:avLst/>
            </a:prstGeom>
            <a:noFill/>
          </p:spPr>
          <p:txBody>
            <a:bodyPr wrap="none" rtlCol="0">
              <a:spAutoFit/>
            </a:bodyPr>
            <a:lstStyle/>
            <a:p>
              <a:r>
                <a:rPr lang="en-US" dirty="0"/>
                <a:t>Emitter</a:t>
              </a:r>
            </a:p>
          </p:txBody>
        </p:sp>
        <p:sp>
          <p:nvSpPr>
            <p:cNvPr id="47" name="TextBox 46">
              <a:extLst>
                <a:ext uri="{FF2B5EF4-FFF2-40B4-BE49-F238E27FC236}">
                  <a16:creationId xmlns:a16="http://schemas.microsoft.com/office/drawing/2014/main" id="{1B19E0DA-4D47-6D1D-7557-6771B1DB16AB}"/>
                </a:ext>
              </a:extLst>
            </p:cNvPr>
            <p:cNvSpPr txBox="1"/>
            <p:nvPr/>
          </p:nvSpPr>
          <p:spPr>
            <a:xfrm>
              <a:off x="10697729" y="3604418"/>
              <a:ext cx="856325" cy="369332"/>
            </a:xfrm>
            <a:prstGeom prst="rect">
              <a:avLst/>
            </a:prstGeom>
            <a:noFill/>
          </p:spPr>
          <p:txBody>
            <a:bodyPr wrap="none" rtlCol="0">
              <a:spAutoFit/>
            </a:bodyPr>
            <a:lstStyle/>
            <a:p>
              <a:r>
                <a:rPr lang="en-US" dirty="0"/>
                <a:t>Output</a:t>
              </a:r>
            </a:p>
          </p:txBody>
        </p:sp>
        <p:cxnSp>
          <p:nvCxnSpPr>
            <p:cNvPr id="54" name="Straight Connector 53">
              <a:extLst>
                <a:ext uri="{FF2B5EF4-FFF2-40B4-BE49-F238E27FC236}">
                  <a16:creationId xmlns:a16="http://schemas.microsoft.com/office/drawing/2014/main" id="{50363771-8BAF-FA9B-7F36-BB439B5795EF}"/>
                </a:ext>
              </a:extLst>
            </p:cNvPr>
            <p:cNvCxnSpPr>
              <a:cxnSpLocks/>
            </p:cNvCxnSpPr>
            <p:nvPr/>
          </p:nvCxnSpPr>
          <p:spPr>
            <a:xfrm>
              <a:off x="9131241" y="5453910"/>
              <a:ext cx="54385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EBB7CB3-8ED5-9602-EFE1-5CEFFDCF0445}"/>
                </a:ext>
              </a:extLst>
            </p:cNvPr>
            <p:cNvCxnSpPr>
              <a:cxnSpLocks/>
            </p:cNvCxnSpPr>
            <p:nvPr/>
          </p:nvCxnSpPr>
          <p:spPr>
            <a:xfrm flipV="1">
              <a:off x="9013369" y="4774033"/>
              <a:ext cx="0" cy="2476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C57436F8-5A70-9FFC-A8C9-36D1DBF8C714}"/>
                </a:ext>
              </a:extLst>
            </p:cNvPr>
            <p:cNvSpPr/>
            <p:nvPr/>
          </p:nvSpPr>
          <p:spPr>
            <a:xfrm>
              <a:off x="9037053" y="4695204"/>
              <a:ext cx="744515" cy="65520"/>
            </a:xfrm>
            <a:prstGeom prst="rect">
              <a:avLst/>
            </a:prstGeom>
            <a:blipFill>
              <a:blip r:embed="rId6"/>
              <a:tile tx="0" ty="0" sx="100000" sy="100000" flip="none" algn="tl"/>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1" name="Rectangle 60">
              <a:extLst>
                <a:ext uri="{FF2B5EF4-FFF2-40B4-BE49-F238E27FC236}">
                  <a16:creationId xmlns:a16="http://schemas.microsoft.com/office/drawing/2014/main" id="{895253C8-9F1B-9496-594C-B6E8675A5C89}"/>
                </a:ext>
              </a:extLst>
            </p:cNvPr>
            <p:cNvSpPr/>
            <p:nvPr/>
          </p:nvSpPr>
          <p:spPr>
            <a:xfrm>
              <a:off x="9039103" y="5057325"/>
              <a:ext cx="744515" cy="65520"/>
            </a:xfrm>
            <a:prstGeom prst="rect">
              <a:avLst/>
            </a:prstGeom>
            <a:blipFill>
              <a:blip r:embed="rId6"/>
              <a:tile tx="0" ty="0" sx="100000" sy="100000" flip="none" algn="tl"/>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Tree>
    <p:extLst>
      <p:ext uri="{BB962C8B-B14F-4D97-AF65-F5344CB8AC3E}">
        <p14:creationId xmlns:p14="http://schemas.microsoft.com/office/powerpoint/2010/main" val="532609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63546-47CD-EBA8-6B1D-22B117D2D2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13A61F-45A3-A138-CCC6-42559391F7BF}"/>
              </a:ext>
            </a:extLst>
          </p:cNvPr>
          <p:cNvSpPr>
            <a:spLocks noGrp="1"/>
          </p:cNvSpPr>
          <p:nvPr>
            <p:ph type="title"/>
          </p:nvPr>
        </p:nvSpPr>
        <p:spPr>
          <a:xfrm>
            <a:off x="838199" y="365125"/>
            <a:ext cx="9829801" cy="1325563"/>
          </a:xfrm>
        </p:spPr>
        <p:txBody>
          <a:bodyPr/>
          <a:lstStyle/>
          <a:p>
            <a:r>
              <a:rPr lang="en-US" dirty="0"/>
              <a:t>Transistor audio amplifiers – not so simple</a:t>
            </a:r>
          </a:p>
        </p:txBody>
      </p:sp>
      <p:sp>
        <p:nvSpPr>
          <p:cNvPr id="3" name="Content Placeholder 2">
            <a:extLst>
              <a:ext uri="{FF2B5EF4-FFF2-40B4-BE49-F238E27FC236}">
                <a16:creationId xmlns:a16="http://schemas.microsoft.com/office/drawing/2014/main" id="{5B2F11D4-44E0-3793-83A0-AEF26D2B8CF4}"/>
              </a:ext>
            </a:extLst>
          </p:cNvPr>
          <p:cNvSpPr>
            <a:spLocks noGrp="1"/>
          </p:cNvSpPr>
          <p:nvPr>
            <p:ph idx="1"/>
          </p:nvPr>
        </p:nvSpPr>
        <p:spPr>
          <a:xfrm>
            <a:off x="838200" y="1825626"/>
            <a:ext cx="10886790" cy="1344930"/>
          </a:xfrm>
        </p:spPr>
        <p:txBody>
          <a:bodyPr>
            <a:normAutofit lnSpcReduction="10000"/>
          </a:bodyPr>
          <a:lstStyle/>
          <a:p>
            <a:r>
              <a:rPr lang="en-US" dirty="0">
                <a:solidFill>
                  <a:srgbClr val="000000"/>
                </a:solidFill>
                <a:effectLst/>
                <a:latin typeface="Calibri" panose="020F0502020204030204" pitchFamily="34" charset="0"/>
              </a:rPr>
              <a:t>A typical transistor amplifier (whether NMOS or BJT) inverts the signal — so an additional stage is used to restore phase.</a:t>
            </a:r>
          </a:p>
          <a:p>
            <a:r>
              <a:rPr lang="en-US" dirty="0"/>
              <a:t> A few more transistors improve the quality of the amplified signal.</a:t>
            </a:r>
          </a:p>
          <a:p>
            <a:pPr lvl="1"/>
            <a:endParaRPr lang="en-US" dirty="0"/>
          </a:p>
        </p:txBody>
      </p:sp>
      <p:grpSp>
        <p:nvGrpSpPr>
          <p:cNvPr id="62" name="Group 61" descr="A transistor based audio amplifier circuit with five transistors, 7 resistors, and two capacitors.">
            <a:extLst>
              <a:ext uri="{FF2B5EF4-FFF2-40B4-BE49-F238E27FC236}">
                <a16:creationId xmlns:a16="http://schemas.microsoft.com/office/drawing/2014/main" id="{721BCB1C-8174-9F33-C90A-F95845BA01A6}"/>
              </a:ext>
            </a:extLst>
          </p:cNvPr>
          <p:cNvGrpSpPr/>
          <p:nvPr/>
        </p:nvGrpSpPr>
        <p:grpSpPr>
          <a:xfrm>
            <a:off x="2550159" y="3429000"/>
            <a:ext cx="6850828" cy="2222500"/>
            <a:chOff x="4558251" y="3553622"/>
            <a:chExt cx="6850828" cy="2222500"/>
          </a:xfrm>
        </p:grpSpPr>
        <p:pic>
          <p:nvPicPr>
            <p:cNvPr id="30" name="Picture 29">
              <a:extLst>
                <a:ext uri="{FF2B5EF4-FFF2-40B4-BE49-F238E27FC236}">
                  <a16:creationId xmlns:a16="http://schemas.microsoft.com/office/drawing/2014/main" id="{138D07EE-BD32-5BD5-5D2F-088FDBC45280}"/>
                </a:ext>
              </a:extLst>
            </p:cNvPr>
            <p:cNvPicPr>
              <a:picLocks noChangeAspect="1"/>
            </p:cNvPicPr>
            <p:nvPr/>
          </p:nvPicPr>
          <p:blipFill>
            <a:blip r:embed="rId3"/>
            <a:stretch>
              <a:fillRect/>
            </a:stretch>
          </p:blipFill>
          <p:spPr>
            <a:xfrm>
              <a:off x="6043497" y="3553622"/>
              <a:ext cx="4064000" cy="2222500"/>
            </a:xfrm>
            <a:prstGeom prst="rect">
              <a:avLst/>
            </a:prstGeom>
          </p:spPr>
        </p:pic>
        <p:cxnSp>
          <p:nvCxnSpPr>
            <p:cNvPr id="31" name="Straight Connector 30">
              <a:extLst>
                <a:ext uri="{FF2B5EF4-FFF2-40B4-BE49-F238E27FC236}">
                  <a16:creationId xmlns:a16="http://schemas.microsoft.com/office/drawing/2014/main" id="{1F75E72A-FA71-60AF-6038-26DC5EF33B2E}"/>
                </a:ext>
              </a:extLst>
            </p:cNvPr>
            <p:cNvCxnSpPr>
              <a:cxnSpLocks/>
            </p:cNvCxnSpPr>
            <p:nvPr/>
          </p:nvCxnSpPr>
          <p:spPr>
            <a:xfrm>
              <a:off x="5409916" y="4606027"/>
              <a:ext cx="84460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3" name="Picture 32" descr="A sound waveform">
              <a:extLst>
                <a:ext uri="{FF2B5EF4-FFF2-40B4-BE49-F238E27FC236}">
                  <a16:creationId xmlns:a16="http://schemas.microsoft.com/office/drawing/2014/main" id="{923FAC20-AD6D-28DF-CF12-1E72BC40A3CC}"/>
                </a:ext>
              </a:extLst>
            </p:cNvPr>
            <p:cNvPicPr>
              <a:picLocks noChangeAspect="1"/>
            </p:cNvPicPr>
            <p:nvPr/>
          </p:nvPicPr>
          <p:blipFill>
            <a:blip r:embed="rId4" cstate="print">
              <a:extLst>
                <a:ext uri="{28A0092B-C50C-407E-A947-70E740481C1C}">
                  <a14:useLocalDpi xmlns:a14="http://schemas.microsoft.com/office/drawing/2010/main"/>
                </a:ext>
              </a:extLst>
            </a:blip>
            <a:srcRect r="37059"/>
            <a:stretch/>
          </p:blipFill>
          <p:spPr>
            <a:xfrm>
              <a:off x="4558251" y="4356826"/>
              <a:ext cx="1220008" cy="488997"/>
            </a:xfrm>
            <a:prstGeom prst="rect">
              <a:avLst/>
            </a:prstGeom>
          </p:spPr>
        </p:pic>
        <p:sp>
          <p:nvSpPr>
            <p:cNvPr id="34" name="TextBox 33">
              <a:extLst>
                <a:ext uri="{FF2B5EF4-FFF2-40B4-BE49-F238E27FC236}">
                  <a16:creationId xmlns:a16="http://schemas.microsoft.com/office/drawing/2014/main" id="{C65F07E0-FD22-5736-7E15-C3E7C5AE4191}"/>
                </a:ext>
              </a:extLst>
            </p:cNvPr>
            <p:cNvSpPr txBox="1"/>
            <p:nvPr/>
          </p:nvSpPr>
          <p:spPr>
            <a:xfrm>
              <a:off x="4809152" y="4771621"/>
              <a:ext cx="684803" cy="369332"/>
            </a:xfrm>
            <a:prstGeom prst="rect">
              <a:avLst/>
            </a:prstGeom>
            <a:noFill/>
          </p:spPr>
          <p:txBody>
            <a:bodyPr wrap="none" rtlCol="0">
              <a:spAutoFit/>
            </a:bodyPr>
            <a:lstStyle/>
            <a:p>
              <a:r>
                <a:rPr lang="en-US" dirty="0"/>
                <a:t>Input</a:t>
              </a:r>
            </a:p>
          </p:txBody>
        </p:sp>
        <p:cxnSp>
          <p:nvCxnSpPr>
            <p:cNvPr id="37" name="Straight Connector 36">
              <a:extLst>
                <a:ext uri="{FF2B5EF4-FFF2-40B4-BE49-F238E27FC236}">
                  <a16:creationId xmlns:a16="http://schemas.microsoft.com/office/drawing/2014/main" id="{C5541536-4120-5FB5-8B74-35498BDAD2C1}"/>
                </a:ext>
              </a:extLst>
            </p:cNvPr>
            <p:cNvCxnSpPr>
              <a:cxnSpLocks/>
            </p:cNvCxnSpPr>
            <p:nvPr/>
          </p:nvCxnSpPr>
          <p:spPr>
            <a:xfrm flipV="1">
              <a:off x="6232069" y="4469233"/>
              <a:ext cx="0" cy="2476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62281685-392D-1CEA-4126-018D2099794A}"/>
                </a:ext>
              </a:extLst>
            </p:cNvPr>
            <p:cNvCxnSpPr>
              <a:cxnSpLocks/>
            </p:cNvCxnSpPr>
            <p:nvPr/>
          </p:nvCxnSpPr>
          <p:spPr>
            <a:xfrm>
              <a:off x="9691244" y="4808189"/>
              <a:ext cx="935363" cy="34401"/>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7" name="Picture 56" descr="An aplified sound waveform&#10;&#10;">
              <a:extLst>
                <a:ext uri="{FF2B5EF4-FFF2-40B4-BE49-F238E27FC236}">
                  <a16:creationId xmlns:a16="http://schemas.microsoft.com/office/drawing/2014/main" id="{A4C32538-538B-F805-8102-F8003AB35491}"/>
                </a:ext>
              </a:extLst>
            </p:cNvPr>
            <p:cNvPicPr>
              <a:picLocks noChangeAspect="1"/>
            </p:cNvPicPr>
            <p:nvPr/>
          </p:nvPicPr>
          <p:blipFill>
            <a:blip r:embed="rId5" cstate="print">
              <a:extLst>
                <a:ext uri="{28A0092B-C50C-407E-A947-70E740481C1C}">
                  <a14:useLocalDpi xmlns:a14="http://schemas.microsoft.com/office/drawing/2010/main"/>
                </a:ext>
              </a:extLst>
            </a:blip>
            <a:srcRect r="37059"/>
            <a:stretch/>
          </p:blipFill>
          <p:spPr>
            <a:xfrm>
              <a:off x="10189071" y="4214971"/>
              <a:ext cx="1220008" cy="1255237"/>
            </a:xfrm>
            <a:prstGeom prst="rect">
              <a:avLst/>
            </a:prstGeom>
          </p:spPr>
        </p:pic>
        <p:sp>
          <p:nvSpPr>
            <p:cNvPr id="58" name="TextBox 57">
              <a:extLst>
                <a:ext uri="{FF2B5EF4-FFF2-40B4-BE49-F238E27FC236}">
                  <a16:creationId xmlns:a16="http://schemas.microsoft.com/office/drawing/2014/main" id="{90B1B092-9E04-9493-C09B-22430CF61D2C}"/>
                </a:ext>
              </a:extLst>
            </p:cNvPr>
            <p:cNvSpPr txBox="1"/>
            <p:nvPr/>
          </p:nvSpPr>
          <p:spPr>
            <a:xfrm>
              <a:off x="10423715" y="4099901"/>
              <a:ext cx="856325" cy="369332"/>
            </a:xfrm>
            <a:prstGeom prst="rect">
              <a:avLst/>
            </a:prstGeom>
            <a:noFill/>
          </p:spPr>
          <p:txBody>
            <a:bodyPr wrap="none" rtlCol="0">
              <a:spAutoFit/>
            </a:bodyPr>
            <a:lstStyle/>
            <a:p>
              <a:r>
                <a:rPr lang="en-US" dirty="0"/>
                <a:t>Output</a:t>
              </a:r>
            </a:p>
          </p:txBody>
        </p:sp>
      </p:grpSp>
    </p:spTree>
    <p:extLst>
      <p:ext uri="{BB962C8B-B14F-4D97-AF65-F5344CB8AC3E}">
        <p14:creationId xmlns:p14="http://schemas.microsoft.com/office/powerpoint/2010/main" val="283232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4F49-014A-D1BD-E528-87FB3E6C5F6C}"/>
              </a:ext>
            </a:extLst>
          </p:cNvPr>
          <p:cNvSpPr>
            <a:spLocks noGrp="1"/>
          </p:cNvSpPr>
          <p:nvPr>
            <p:ph type="title"/>
          </p:nvPr>
        </p:nvSpPr>
        <p:spPr/>
        <p:txBody>
          <a:bodyPr/>
          <a:lstStyle/>
          <a:p>
            <a:r>
              <a:rPr lang="en-US" dirty="0"/>
              <a:t>Transistor Radios</a:t>
            </a:r>
          </a:p>
        </p:txBody>
      </p:sp>
      <p:sp>
        <p:nvSpPr>
          <p:cNvPr id="3" name="Content Placeholder 2">
            <a:extLst>
              <a:ext uri="{FF2B5EF4-FFF2-40B4-BE49-F238E27FC236}">
                <a16:creationId xmlns:a16="http://schemas.microsoft.com/office/drawing/2014/main" id="{72A1BB83-94E6-8794-4EC9-97D921FFFA2E}"/>
              </a:ext>
            </a:extLst>
          </p:cNvPr>
          <p:cNvSpPr>
            <a:spLocks noGrp="1"/>
          </p:cNvSpPr>
          <p:nvPr>
            <p:ph idx="1"/>
          </p:nvPr>
        </p:nvSpPr>
        <p:spPr>
          <a:xfrm>
            <a:off x="838200" y="1825625"/>
            <a:ext cx="4813092" cy="4351338"/>
          </a:xfrm>
        </p:spPr>
        <p:txBody>
          <a:bodyPr/>
          <a:lstStyle/>
          <a:p>
            <a:r>
              <a:rPr lang="en-US" dirty="0"/>
              <a:t>Once amplifier style transistors were available, during the 1940's there was an effort to build small, battery-powered "transistor radios"</a:t>
            </a:r>
          </a:p>
          <a:p>
            <a:r>
              <a:rPr lang="en-US" dirty="0"/>
              <a:t>Often the marketing included the number of transistors – "The Sony TR-826 radio has eight transistors!"</a:t>
            </a:r>
          </a:p>
        </p:txBody>
      </p:sp>
      <p:pic>
        <p:nvPicPr>
          <p:cNvPr id="9" name="Picture 8" descr="Ebay photo of a Sony TR-826 vintage AM radio.">
            <a:extLst>
              <a:ext uri="{FF2B5EF4-FFF2-40B4-BE49-F238E27FC236}">
                <a16:creationId xmlns:a16="http://schemas.microsoft.com/office/drawing/2014/main" id="{E3D135A3-0DD2-EEBE-F441-2DBBE7C3439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311153" y="1410982"/>
            <a:ext cx="2310606" cy="2310606"/>
          </a:xfrm>
          <a:prstGeom prst="rect">
            <a:avLst/>
          </a:prstGeom>
        </p:spPr>
      </p:pic>
      <p:pic>
        <p:nvPicPr>
          <p:cNvPr id="5" name="Picture 4" descr="Pocket transistor radio, late 1960s to 1970s, with 7 germanium transistors, that received long wave and medium wave (AM broadcast) bands. View with back open, showing parts. Powered by 2 button cells supplying 3V (removed).">
            <a:extLst>
              <a:ext uri="{FF2B5EF4-FFF2-40B4-BE49-F238E27FC236}">
                <a16:creationId xmlns:a16="http://schemas.microsoft.com/office/drawing/2014/main" id="{F982FDCD-139D-000C-6D0F-D95FDA8DE44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773247" y="1027906"/>
            <a:ext cx="3418753" cy="3567395"/>
          </a:xfrm>
          <a:prstGeom prst="rect">
            <a:avLst/>
          </a:prstGeom>
        </p:spPr>
      </p:pic>
    </p:spTree>
    <p:extLst>
      <p:ext uri="{BB962C8B-B14F-4D97-AF65-F5344CB8AC3E}">
        <p14:creationId xmlns:p14="http://schemas.microsoft.com/office/powerpoint/2010/main" val="9758071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2EA56-09BE-162A-66E4-11E9DAAFF8F8}"/>
              </a:ext>
            </a:extLst>
          </p:cNvPr>
          <p:cNvSpPr>
            <a:spLocks noGrp="1"/>
          </p:cNvSpPr>
          <p:nvPr>
            <p:ph type="title"/>
          </p:nvPr>
        </p:nvSpPr>
        <p:spPr/>
        <p:txBody>
          <a:bodyPr/>
          <a:lstStyle/>
          <a:p>
            <a:r>
              <a:rPr lang="en-US" dirty="0"/>
              <a:t>Hi End Tube-Based Audio Amplifiers</a:t>
            </a:r>
          </a:p>
        </p:txBody>
      </p:sp>
      <p:sp>
        <p:nvSpPr>
          <p:cNvPr id="3" name="Content Placeholder 2">
            <a:extLst>
              <a:ext uri="{FF2B5EF4-FFF2-40B4-BE49-F238E27FC236}">
                <a16:creationId xmlns:a16="http://schemas.microsoft.com/office/drawing/2014/main" id="{25AD1E6D-9C76-B63D-7B8E-F1D131F8480B}"/>
              </a:ext>
            </a:extLst>
          </p:cNvPr>
          <p:cNvSpPr>
            <a:spLocks noGrp="1"/>
          </p:cNvSpPr>
          <p:nvPr>
            <p:ph idx="1"/>
          </p:nvPr>
        </p:nvSpPr>
        <p:spPr>
          <a:xfrm>
            <a:off x="838200" y="1825625"/>
            <a:ext cx="5410200" cy="3679825"/>
          </a:xfrm>
        </p:spPr>
        <p:txBody>
          <a:bodyPr>
            <a:normAutofit lnSpcReduction="10000"/>
          </a:bodyPr>
          <a:lstStyle/>
          <a:p>
            <a:r>
              <a:rPr lang="en-US" dirty="0"/>
              <a:t>Many and professional musical performers feel that that amplifiers that use tubes produce better sound with less distortion</a:t>
            </a:r>
          </a:p>
          <a:p>
            <a:r>
              <a:rPr lang="en-US" dirty="0"/>
              <a:t>New high-end audio amplifiers can cost upwards of $50,000</a:t>
            </a:r>
          </a:p>
          <a:p>
            <a:endParaRPr lang="en-US" dirty="0"/>
          </a:p>
          <a:p>
            <a:r>
              <a:rPr lang="en-US" dirty="0"/>
              <a:t>This is not an audio class </a:t>
            </a:r>
            <a:r>
              <a:rPr lang="en-US" dirty="0">
                <a:sym typeface="Wingdings" pitchFamily="2" charset="2"/>
              </a:rPr>
              <a:t> - so back to </a:t>
            </a:r>
            <a:r>
              <a:rPr lang="en-US">
                <a:sym typeface="Wingdings" pitchFamily="2" charset="2"/>
              </a:rPr>
              <a:t>digital logic </a:t>
            </a:r>
            <a:endParaRPr lang="en-US" dirty="0"/>
          </a:p>
          <a:p>
            <a:endParaRPr lang="en-US" dirty="0"/>
          </a:p>
        </p:txBody>
      </p:sp>
      <p:grpSp>
        <p:nvGrpSpPr>
          <p:cNvPr id="5" name="Group 4" descr="MC240 tube amplifier (early version), manufactured by McIntosh Laboratories in 1961.  It is powers on with 12 beautiful exposed tubes glowing a soft orange and blue.  Costs about $3500 on eBay.">
            <a:extLst>
              <a:ext uri="{FF2B5EF4-FFF2-40B4-BE49-F238E27FC236}">
                <a16:creationId xmlns:a16="http://schemas.microsoft.com/office/drawing/2014/main" id="{E213A583-1867-1075-BD19-C09B873A7EBD}"/>
              </a:ext>
            </a:extLst>
          </p:cNvPr>
          <p:cNvGrpSpPr/>
          <p:nvPr/>
        </p:nvGrpSpPr>
        <p:grpSpPr>
          <a:xfrm>
            <a:off x="6809316" y="1589087"/>
            <a:ext cx="4906433" cy="4251621"/>
            <a:chOff x="6809316" y="1589087"/>
            <a:chExt cx="4906433" cy="4251621"/>
          </a:xfrm>
        </p:grpSpPr>
        <p:pic>
          <p:nvPicPr>
            <p:cNvPr id="8" name="Picture 7" descr="MC240 tube amplifier (early version), manufactured by McIntosh Laboratories in 1961.  It is powers on with 12 beautiful exposed tubes glowing a soft orange and blue.  Costs about $3500 on eBay.">
              <a:extLst>
                <a:ext uri="{FF2B5EF4-FFF2-40B4-BE49-F238E27FC236}">
                  <a16:creationId xmlns:a16="http://schemas.microsoft.com/office/drawing/2014/main" id="{150FD1CE-D7F2-6AB2-E4AB-88BD66950134}"/>
                </a:ext>
              </a:extLst>
            </p:cNvPr>
            <p:cNvPicPr>
              <a:picLocks noChangeAspect="1"/>
            </p:cNvPicPr>
            <p:nvPr/>
          </p:nvPicPr>
          <p:blipFill>
            <a:blip r:embed="rId3"/>
            <a:stretch>
              <a:fillRect/>
            </a:stretch>
          </p:blipFill>
          <p:spPr>
            <a:xfrm>
              <a:off x="6809316" y="1589087"/>
              <a:ext cx="4906433" cy="3679825"/>
            </a:xfrm>
            <a:prstGeom prst="rect">
              <a:avLst/>
            </a:prstGeom>
          </p:spPr>
        </p:pic>
        <p:sp>
          <p:nvSpPr>
            <p:cNvPr id="9" name="TextBox 8">
              <a:extLst>
                <a:ext uri="{FF2B5EF4-FFF2-40B4-BE49-F238E27FC236}">
                  <a16:creationId xmlns:a16="http://schemas.microsoft.com/office/drawing/2014/main" id="{ACF81575-5CAB-114A-560C-9D751F1AF026}"/>
                </a:ext>
              </a:extLst>
            </p:cNvPr>
            <p:cNvSpPr txBox="1"/>
            <p:nvPr/>
          </p:nvSpPr>
          <p:spPr>
            <a:xfrm>
              <a:off x="7881160" y="5471376"/>
              <a:ext cx="2762744" cy="369332"/>
            </a:xfrm>
            <a:prstGeom prst="rect">
              <a:avLst/>
            </a:prstGeom>
            <a:noFill/>
          </p:spPr>
          <p:txBody>
            <a:bodyPr wrap="none" rtlCol="0">
              <a:spAutoFit/>
            </a:bodyPr>
            <a:lstStyle/>
            <a:p>
              <a:r>
                <a:rPr lang="en-US" dirty="0"/>
                <a:t>Macintosh MC240 - $3500 </a:t>
              </a:r>
            </a:p>
          </p:txBody>
        </p:sp>
      </p:grpSp>
    </p:spTree>
    <p:extLst>
      <p:ext uri="{BB962C8B-B14F-4D97-AF65-F5344CB8AC3E}">
        <p14:creationId xmlns:p14="http://schemas.microsoft.com/office/powerpoint/2010/main" val="3424251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C750B-2AEC-AC78-AA3A-F5466C2E5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34A444-7B7A-BE08-70DB-37622C47DF00}"/>
              </a:ext>
            </a:extLst>
          </p:cNvPr>
          <p:cNvSpPr>
            <a:spLocks noGrp="1"/>
          </p:cNvSpPr>
          <p:nvPr>
            <p:ph type="title"/>
          </p:nvPr>
        </p:nvSpPr>
        <p:spPr/>
        <p:txBody>
          <a:bodyPr/>
          <a:lstStyle/>
          <a:p>
            <a:r>
              <a:rPr lang="en-US" dirty="0"/>
              <a:t>Building "Digital" Transistors</a:t>
            </a:r>
          </a:p>
        </p:txBody>
      </p:sp>
      <p:sp>
        <p:nvSpPr>
          <p:cNvPr id="3" name="Content Placeholder 2">
            <a:extLst>
              <a:ext uri="{FF2B5EF4-FFF2-40B4-BE49-F238E27FC236}">
                <a16:creationId xmlns:a16="http://schemas.microsoft.com/office/drawing/2014/main" id="{553DF4FD-71CF-CCA0-78BF-88BC10502A73}"/>
              </a:ext>
            </a:extLst>
          </p:cNvPr>
          <p:cNvSpPr>
            <a:spLocks noGrp="1"/>
          </p:cNvSpPr>
          <p:nvPr>
            <p:ph idx="1"/>
          </p:nvPr>
        </p:nvSpPr>
        <p:spPr>
          <a:xfrm>
            <a:off x="838200" y="1825625"/>
            <a:ext cx="4319016" cy="4365624"/>
          </a:xfrm>
        </p:spPr>
        <p:txBody>
          <a:bodyPr>
            <a:normAutofit fontScale="92500" lnSpcReduction="20000"/>
          </a:bodyPr>
          <a:lstStyle/>
          <a:p>
            <a:r>
              <a:rPr lang="en-US" dirty="0"/>
              <a:t>The design of transistors could be tweaked to move quickly from high voltage to low voltage as the input voltage increased</a:t>
            </a:r>
          </a:p>
          <a:p>
            <a:pPr lvl="1"/>
            <a:r>
              <a:rPr lang="en-US" dirty="0"/>
              <a:t>Voltage low = off</a:t>
            </a:r>
          </a:p>
          <a:p>
            <a:pPr lvl="1"/>
            <a:r>
              <a:rPr lang="en-US" dirty="0"/>
              <a:t>Voltage high = on</a:t>
            </a:r>
          </a:p>
          <a:p>
            <a:r>
              <a:rPr lang="en-US" dirty="0"/>
              <a:t>With the right design, a range of slightly lower input would be corrected on output</a:t>
            </a:r>
          </a:p>
          <a:p>
            <a:r>
              <a:rPr lang="en-US" dirty="0"/>
              <a:t>AI: Difference between a Bipolar Junction Transistor and NMOS transistor</a:t>
            </a:r>
          </a:p>
        </p:txBody>
      </p:sp>
      <p:grpSp>
        <p:nvGrpSpPr>
          <p:cNvPr id="55" name="Group 54" descr="This is the transistor equivalent of the tube diagram a few slides back.  The diagram on this page shows a graph of input voltage and output voltage comparing the response of an amplifier type transistor to a transistor that is designed more for digital applications (0/1).  The amplifier graph starts low and then is a curve going up almost linearly over the range of the input voltage.  The digital curve stays low longer and then goes up more vertically before tapering off at the top of the output voltage.  The concept is that the transition from low to high if gradual and almost linear for the amplifier and quick and almost vertical for the transistor tuned for digital applications. The digital tube goes &quot;vertical&quot; at about the 1/3 point of the input voltage – this means that the transistor &quot;pulls up&quot; low non-zero voltages like 0.3 to 1 on output.&#13;&#10;">
            <a:extLst>
              <a:ext uri="{FF2B5EF4-FFF2-40B4-BE49-F238E27FC236}">
                <a16:creationId xmlns:a16="http://schemas.microsoft.com/office/drawing/2014/main" id="{0815570E-7C18-04B1-5065-3E191238B3F7}"/>
              </a:ext>
            </a:extLst>
          </p:cNvPr>
          <p:cNvGrpSpPr/>
          <p:nvPr/>
        </p:nvGrpSpPr>
        <p:grpSpPr>
          <a:xfrm>
            <a:off x="6096000" y="1798622"/>
            <a:ext cx="4362218" cy="3655600"/>
            <a:chOff x="6096000" y="1798622"/>
            <a:chExt cx="4362218" cy="3655600"/>
          </a:xfrm>
        </p:grpSpPr>
        <p:cxnSp>
          <p:nvCxnSpPr>
            <p:cNvPr id="5" name="Straight Connector 4">
              <a:extLst>
                <a:ext uri="{FF2B5EF4-FFF2-40B4-BE49-F238E27FC236}">
                  <a16:creationId xmlns:a16="http://schemas.microsoft.com/office/drawing/2014/main" id="{8FDE11DA-92C0-9561-7FBE-06F24E0E880E}"/>
                </a:ext>
              </a:extLst>
            </p:cNvPr>
            <p:cNvCxnSpPr/>
            <p:nvPr/>
          </p:nvCxnSpPr>
          <p:spPr>
            <a:xfrm>
              <a:off x="6766560" y="2075688"/>
              <a:ext cx="0" cy="29169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descr="This is the transistor equivalent of the tube diagram a few slides back.  The diagram on this page shows a graph of input voltage and output voltage comparing the response of an amplifier type transistor to a transistor that is designed more for digital applications (0/1).  The amplifier graph starts high and then is a curve going up almost linearly over the range of the input voltage.  Recall that a single transistor amplifier inverts its output.   The digital transistor curve stays high longer and then goes down more vertically before tapering off at the bottom of the output voltage.  The concept is that the transition from high to low is gradual and almost linear for the amplifier applicartion and quick and almost vertical for the transistor tuned for digital applications. ">
              <a:extLst>
                <a:ext uri="{FF2B5EF4-FFF2-40B4-BE49-F238E27FC236}">
                  <a16:creationId xmlns:a16="http://schemas.microsoft.com/office/drawing/2014/main" id="{CB1446E7-0217-A1BF-EFB7-47F81F44F2D6}"/>
                </a:ext>
              </a:extLst>
            </p:cNvPr>
            <p:cNvCxnSpPr>
              <a:cxnSpLocks/>
            </p:cNvCxnSpPr>
            <p:nvPr/>
          </p:nvCxnSpPr>
          <p:spPr>
            <a:xfrm>
              <a:off x="6766560" y="4992624"/>
              <a:ext cx="363928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reeform 8">
              <a:extLst>
                <a:ext uri="{FF2B5EF4-FFF2-40B4-BE49-F238E27FC236}">
                  <a16:creationId xmlns:a16="http://schemas.microsoft.com/office/drawing/2014/main" id="{4C90E82B-7D6A-18E0-4701-BFC4C548DCB1}"/>
                </a:ext>
              </a:extLst>
            </p:cNvPr>
            <p:cNvSpPr/>
            <p:nvPr/>
          </p:nvSpPr>
          <p:spPr>
            <a:xfrm flipV="1">
              <a:off x="6867144" y="2404459"/>
              <a:ext cx="3538698" cy="2407964"/>
            </a:xfrm>
            <a:custGeom>
              <a:avLst/>
              <a:gdLst>
                <a:gd name="connsiteX0" fmla="*/ 0 w 3218688"/>
                <a:gd name="connsiteY0" fmla="*/ 2306774 h 2356133"/>
                <a:gd name="connsiteX1" fmla="*/ 868680 w 3218688"/>
                <a:gd name="connsiteY1" fmla="*/ 2297630 h 2356133"/>
                <a:gd name="connsiteX2" fmla="*/ 1344168 w 3218688"/>
                <a:gd name="connsiteY2" fmla="*/ 1721558 h 2356133"/>
                <a:gd name="connsiteX3" fmla="*/ 1901952 w 3218688"/>
                <a:gd name="connsiteY3" fmla="*/ 642566 h 2356133"/>
                <a:gd name="connsiteX4" fmla="*/ 2487168 w 3218688"/>
                <a:gd name="connsiteY4" fmla="*/ 84782 h 2356133"/>
                <a:gd name="connsiteX5" fmla="*/ 3218688 w 3218688"/>
                <a:gd name="connsiteY5" fmla="*/ 11630 h 2356133"/>
                <a:gd name="connsiteX0" fmla="*/ 0 w 3218688"/>
                <a:gd name="connsiteY0" fmla="*/ 2352494 h 2382604"/>
                <a:gd name="connsiteX1" fmla="*/ 868680 w 3218688"/>
                <a:gd name="connsiteY1" fmla="*/ 2297630 h 2382604"/>
                <a:gd name="connsiteX2" fmla="*/ 1344168 w 3218688"/>
                <a:gd name="connsiteY2" fmla="*/ 1721558 h 2382604"/>
                <a:gd name="connsiteX3" fmla="*/ 1901952 w 3218688"/>
                <a:gd name="connsiteY3" fmla="*/ 642566 h 2382604"/>
                <a:gd name="connsiteX4" fmla="*/ 2487168 w 3218688"/>
                <a:gd name="connsiteY4" fmla="*/ 84782 h 2382604"/>
                <a:gd name="connsiteX5" fmla="*/ 3218688 w 3218688"/>
                <a:gd name="connsiteY5" fmla="*/ 11630 h 2382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8688" h="2382604">
                  <a:moveTo>
                    <a:pt x="0" y="2352494"/>
                  </a:moveTo>
                  <a:cubicBezTo>
                    <a:pt x="322326" y="2396690"/>
                    <a:pt x="644652" y="2402786"/>
                    <a:pt x="868680" y="2297630"/>
                  </a:cubicBezTo>
                  <a:cubicBezTo>
                    <a:pt x="1092708" y="2192474"/>
                    <a:pt x="1171956" y="1997402"/>
                    <a:pt x="1344168" y="1721558"/>
                  </a:cubicBezTo>
                  <a:cubicBezTo>
                    <a:pt x="1516380" y="1445714"/>
                    <a:pt x="1711452" y="915362"/>
                    <a:pt x="1901952" y="642566"/>
                  </a:cubicBezTo>
                  <a:cubicBezTo>
                    <a:pt x="2092452" y="369770"/>
                    <a:pt x="2267712" y="189938"/>
                    <a:pt x="2487168" y="84782"/>
                  </a:cubicBezTo>
                  <a:cubicBezTo>
                    <a:pt x="2706624" y="-20374"/>
                    <a:pt x="2962656" y="-4372"/>
                    <a:pt x="3218688" y="11630"/>
                  </a:cubicBezTo>
                </a:path>
              </a:pathLst>
            </a:cu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a:extLst>
                <a:ext uri="{FF2B5EF4-FFF2-40B4-BE49-F238E27FC236}">
                  <a16:creationId xmlns:a16="http://schemas.microsoft.com/office/drawing/2014/main" id="{68A2A305-0958-F4A2-F38A-FF4C954A183F}"/>
                </a:ext>
              </a:extLst>
            </p:cNvPr>
            <p:cNvSpPr/>
            <p:nvPr/>
          </p:nvSpPr>
          <p:spPr>
            <a:xfrm flipV="1">
              <a:off x="6876287" y="2395134"/>
              <a:ext cx="3520411" cy="2472407"/>
            </a:xfrm>
            <a:custGeom>
              <a:avLst/>
              <a:gdLst>
                <a:gd name="connsiteX0" fmla="*/ 0 w 3136392"/>
                <a:gd name="connsiteY0" fmla="*/ 2311176 h 2480509"/>
                <a:gd name="connsiteX1" fmla="*/ 1463040 w 3136392"/>
                <a:gd name="connsiteY1" fmla="*/ 2274600 h 2480509"/>
                <a:gd name="connsiteX2" fmla="*/ 1801368 w 3136392"/>
                <a:gd name="connsiteY2" fmla="*/ 262920 h 2480509"/>
                <a:gd name="connsiteX3" fmla="*/ 3136392 w 3136392"/>
                <a:gd name="connsiteY3" fmla="*/ 6888 h 2480509"/>
                <a:gd name="connsiteX0" fmla="*/ 0 w 3136392"/>
                <a:gd name="connsiteY0" fmla="*/ 2311176 h 2377760"/>
                <a:gd name="connsiteX1" fmla="*/ 1472184 w 3136392"/>
                <a:gd name="connsiteY1" fmla="*/ 2009424 h 2377760"/>
                <a:gd name="connsiteX2" fmla="*/ 1801368 w 3136392"/>
                <a:gd name="connsiteY2" fmla="*/ 262920 h 2377760"/>
                <a:gd name="connsiteX3" fmla="*/ 3136392 w 3136392"/>
                <a:gd name="connsiteY3" fmla="*/ 6888 h 2377760"/>
                <a:gd name="connsiteX0" fmla="*/ 0 w 3136392"/>
                <a:gd name="connsiteY0" fmla="*/ 2430048 h 2480048"/>
                <a:gd name="connsiteX1" fmla="*/ 1472184 w 3136392"/>
                <a:gd name="connsiteY1" fmla="*/ 2009424 h 2480048"/>
                <a:gd name="connsiteX2" fmla="*/ 1801368 w 3136392"/>
                <a:gd name="connsiteY2" fmla="*/ 262920 h 2480048"/>
                <a:gd name="connsiteX3" fmla="*/ 3136392 w 3136392"/>
                <a:gd name="connsiteY3" fmla="*/ 6888 h 2480048"/>
                <a:gd name="connsiteX0" fmla="*/ 0 w 3136392"/>
                <a:gd name="connsiteY0" fmla="*/ 2430048 h 2475723"/>
                <a:gd name="connsiteX1" fmla="*/ 999685 w 3136392"/>
                <a:gd name="connsiteY1" fmla="*/ 1972848 h 2475723"/>
                <a:gd name="connsiteX2" fmla="*/ 1801368 w 3136392"/>
                <a:gd name="connsiteY2" fmla="*/ 262920 h 2475723"/>
                <a:gd name="connsiteX3" fmla="*/ 3136392 w 3136392"/>
                <a:gd name="connsiteY3" fmla="*/ 6888 h 2475723"/>
                <a:gd name="connsiteX0" fmla="*/ 0 w 3136392"/>
                <a:gd name="connsiteY0" fmla="*/ 2426886 h 2472408"/>
                <a:gd name="connsiteX1" fmla="*/ 999685 w 3136392"/>
                <a:gd name="connsiteY1" fmla="*/ 1969686 h 2472408"/>
                <a:gd name="connsiteX2" fmla="*/ 1296283 w 3136392"/>
                <a:gd name="connsiteY2" fmla="*/ 268902 h 2472408"/>
                <a:gd name="connsiteX3" fmla="*/ 3136392 w 3136392"/>
                <a:gd name="connsiteY3" fmla="*/ 3726 h 2472408"/>
              </a:gdLst>
              <a:ahLst/>
              <a:cxnLst>
                <a:cxn ang="0">
                  <a:pos x="connsiteX0" y="connsiteY0"/>
                </a:cxn>
                <a:cxn ang="0">
                  <a:pos x="connsiteX1" y="connsiteY1"/>
                </a:cxn>
                <a:cxn ang="0">
                  <a:pos x="connsiteX2" y="connsiteY2"/>
                </a:cxn>
                <a:cxn ang="0">
                  <a:pos x="connsiteX3" y="connsiteY3"/>
                </a:cxn>
              </a:cxnLst>
              <a:rect l="l" t="t" r="r" b="b"/>
              <a:pathLst>
                <a:path w="3136392" h="2472408">
                  <a:moveTo>
                    <a:pt x="0" y="2426886"/>
                  </a:moveTo>
                  <a:cubicBezTo>
                    <a:pt x="581406" y="2579286"/>
                    <a:pt x="783638" y="2329350"/>
                    <a:pt x="999685" y="1969686"/>
                  </a:cubicBezTo>
                  <a:cubicBezTo>
                    <a:pt x="1215732" y="1610022"/>
                    <a:pt x="1017391" y="646854"/>
                    <a:pt x="1296283" y="268902"/>
                  </a:cubicBezTo>
                  <a:cubicBezTo>
                    <a:pt x="1575175" y="-109050"/>
                    <a:pt x="2889504" y="31158"/>
                    <a:pt x="3136392" y="3726"/>
                  </a:cubicBezTo>
                </a:path>
              </a:pathLst>
            </a:cu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Brace 11">
              <a:extLst>
                <a:ext uri="{FF2B5EF4-FFF2-40B4-BE49-F238E27FC236}">
                  <a16:creationId xmlns:a16="http://schemas.microsoft.com/office/drawing/2014/main" id="{D70D06C3-B439-9C5A-66AB-C9B1AA16E8C8}"/>
                </a:ext>
              </a:extLst>
            </p:cNvPr>
            <p:cNvSpPr/>
            <p:nvPr/>
          </p:nvSpPr>
          <p:spPr>
            <a:xfrm rot="16200000">
              <a:off x="8046705" y="1959493"/>
              <a:ext cx="137160" cy="484632"/>
            </a:xfrm>
            <a:prstGeom prst="righ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DF99C5F9-2BD4-1D7F-37AB-046D15DF0454}"/>
                </a:ext>
              </a:extLst>
            </p:cNvPr>
            <p:cNvSpPr txBox="1"/>
            <p:nvPr/>
          </p:nvSpPr>
          <p:spPr>
            <a:xfrm>
              <a:off x="7561992" y="1798622"/>
              <a:ext cx="1106585" cy="369332"/>
            </a:xfrm>
            <a:prstGeom prst="rect">
              <a:avLst/>
            </a:prstGeom>
            <a:noFill/>
          </p:spPr>
          <p:txBody>
            <a:bodyPr wrap="none" rtlCol="0">
              <a:spAutoFit/>
            </a:bodyPr>
            <a:lstStyle/>
            <a:p>
              <a:r>
                <a:rPr lang="en-US" dirty="0">
                  <a:solidFill>
                    <a:srgbClr val="FF0000"/>
                  </a:solidFill>
                </a:rPr>
                <a:t>Transition</a:t>
              </a:r>
            </a:p>
          </p:txBody>
        </p:sp>
        <p:sp>
          <p:nvSpPr>
            <p:cNvPr id="14" name="TextBox 13">
              <a:extLst>
                <a:ext uri="{FF2B5EF4-FFF2-40B4-BE49-F238E27FC236}">
                  <a16:creationId xmlns:a16="http://schemas.microsoft.com/office/drawing/2014/main" id="{60443C5D-51A4-813E-D77B-7774D0836076}"/>
                </a:ext>
              </a:extLst>
            </p:cNvPr>
            <p:cNvSpPr txBox="1"/>
            <p:nvPr/>
          </p:nvSpPr>
          <p:spPr>
            <a:xfrm>
              <a:off x="9299731" y="3475385"/>
              <a:ext cx="1096967" cy="923330"/>
            </a:xfrm>
            <a:prstGeom prst="rect">
              <a:avLst/>
            </a:prstGeom>
            <a:noFill/>
            <a:ln>
              <a:solidFill>
                <a:schemeClr val="tx1"/>
              </a:solidFill>
            </a:ln>
          </p:spPr>
          <p:txBody>
            <a:bodyPr wrap="none" rtlCol="0">
              <a:spAutoFit/>
            </a:bodyPr>
            <a:lstStyle/>
            <a:p>
              <a:r>
                <a:rPr lang="en-US" dirty="0"/>
                <a:t>Bipolar</a:t>
              </a:r>
            </a:p>
            <a:p>
              <a:r>
                <a:rPr lang="en-US" dirty="0"/>
                <a:t>Junction</a:t>
              </a:r>
            </a:p>
            <a:p>
              <a:r>
                <a:rPr lang="en-US" dirty="0"/>
                <a:t>Transistor</a:t>
              </a:r>
            </a:p>
          </p:txBody>
        </p:sp>
        <p:sp>
          <p:nvSpPr>
            <p:cNvPr id="15" name="TextBox 14">
              <a:extLst>
                <a:ext uri="{FF2B5EF4-FFF2-40B4-BE49-F238E27FC236}">
                  <a16:creationId xmlns:a16="http://schemas.microsoft.com/office/drawing/2014/main" id="{8540058B-C4CA-251A-4E1A-E936E5172D3A}"/>
                </a:ext>
              </a:extLst>
            </p:cNvPr>
            <p:cNvSpPr txBox="1"/>
            <p:nvPr/>
          </p:nvSpPr>
          <p:spPr>
            <a:xfrm>
              <a:off x="6944710" y="4202048"/>
              <a:ext cx="1167219" cy="646331"/>
            </a:xfrm>
            <a:prstGeom prst="rect">
              <a:avLst/>
            </a:prstGeom>
            <a:noFill/>
          </p:spPr>
          <p:txBody>
            <a:bodyPr wrap="square" rtlCol="0">
              <a:spAutoFit/>
            </a:bodyPr>
            <a:lstStyle/>
            <a:p>
              <a:r>
                <a:rPr lang="en-US" dirty="0">
                  <a:solidFill>
                    <a:srgbClr val="FF0000"/>
                  </a:solidFill>
                </a:rPr>
                <a:t>NMOS</a:t>
              </a:r>
            </a:p>
            <a:p>
              <a:r>
                <a:rPr lang="en-US" dirty="0">
                  <a:solidFill>
                    <a:srgbClr val="FF0000"/>
                  </a:solidFill>
                </a:rPr>
                <a:t>Transistor</a:t>
              </a:r>
            </a:p>
          </p:txBody>
        </p:sp>
        <p:sp>
          <p:nvSpPr>
            <p:cNvPr id="16" name="TextBox 15">
              <a:extLst>
                <a:ext uri="{FF2B5EF4-FFF2-40B4-BE49-F238E27FC236}">
                  <a16:creationId xmlns:a16="http://schemas.microsoft.com/office/drawing/2014/main" id="{F796DB15-859E-60C1-9DF6-09121683D078}"/>
                </a:ext>
              </a:extLst>
            </p:cNvPr>
            <p:cNvSpPr txBox="1"/>
            <p:nvPr/>
          </p:nvSpPr>
          <p:spPr>
            <a:xfrm>
              <a:off x="8121293" y="5084890"/>
              <a:ext cx="1441420" cy="369332"/>
            </a:xfrm>
            <a:prstGeom prst="rect">
              <a:avLst/>
            </a:prstGeom>
            <a:noFill/>
          </p:spPr>
          <p:txBody>
            <a:bodyPr wrap="none" rtlCol="0">
              <a:spAutoFit/>
            </a:bodyPr>
            <a:lstStyle/>
            <a:p>
              <a:r>
                <a:rPr lang="en-US" dirty="0"/>
                <a:t>Input Voltage</a:t>
              </a:r>
            </a:p>
          </p:txBody>
        </p:sp>
        <p:sp>
          <p:nvSpPr>
            <p:cNvPr id="17" name="TextBox 16">
              <a:extLst>
                <a:ext uri="{FF2B5EF4-FFF2-40B4-BE49-F238E27FC236}">
                  <a16:creationId xmlns:a16="http://schemas.microsoft.com/office/drawing/2014/main" id="{B665A5DC-D750-83AD-96FC-BE1945953984}"/>
                </a:ext>
              </a:extLst>
            </p:cNvPr>
            <p:cNvSpPr txBox="1"/>
            <p:nvPr/>
          </p:nvSpPr>
          <p:spPr>
            <a:xfrm rot="16200000">
              <a:off x="5474195" y="3335416"/>
              <a:ext cx="1612942" cy="369332"/>
            </a:xfrm>
            <a:prstGeom prst="rect">
              <a:avLst/>
            </a:prstGeom>
            <a:noFill/>
          </p:spPr>
          <p:txBody>
            <a:bodyPr wrap="none" rtlCol="0">
              <a:spAutoFit/>
            </a:bodyPr>
            <a:lstStyle/>
            <a:p>
              <a:r>
                <a:rPr lang="en-US" dirty="0"/>
                <a:t>Output Voltage</a:t>
              </a:r>
            </a:p>
          </p:txBody>
        </p:sp>
        <p:pic>
          <p:nvPicPr>
            <p:cNvPr id="22" name="Picture 21" descr="A sound waveform">
              <a:extLst>
                <a:ext uri="{FF2B5EF4-FFF2-40B4-BE49-F238E27FC236}">
                  <a16:creationId xmlns:a16="http://schemas.microsoft.com/office/drawing/2014/main" id="{C879D452-1F92-920E-6B6D-4A32DA951CF3}"/>
                </a:ext>
              </a:extLst>
            </p:cNvPr>
            <p:cNvPicPr>
              <a:picLocks noChangeAspect="1"/>
            </p:cNvPicPr>
            <p:nvPr/>
          </p:nvPicPr>
          <p:blipFill>
            <a:blip r:embed="rId3" cstate="print">
              <a:extLst>
                <a:ext uri="{28A0092B-C50C-407E-A947-70E740481C1C}">
                  <a14:useLocalDpi xmlns:a14="http://schemas.microsoft.com/office/drawing/2010/main"/>
                </a:ext>
              </a:extLst>
            </a:blip>
            <a:srcRect r="37059"/>
            <a:stretch/>
          </p:blipFill>
          <p:spPr>
            <a:xfrm>
              <a:off x="9238210" y="1979465"/>
              <a:ext cx="1220008" cy="488997"/>
            </a:xfrm>
            <a:prstGeom prst="rect">
              <a:avLst/>
            </a:prstGeom>
          </p:spPr>
        </p:pic>
        <p:grpSp>
          <p:nvGrpSpPr>
            <p:cNvPr id="4" name="Group 3" descr="A bipolor transitor schema with emitter, collector and base.  This is showing a amplifier oriented transistor tuned to amplify signal with as little distortion as possible.">
              <a:extLst>
                <a:ext uri="{FF2B5EF4-FFF2-40B4-BE49-F238E27FC236}">
                  <a16:creationId xmlns:a16="http://schemas.microsoft.com/office/drawing/2014/main" id="{ADE13D89-DE80-818E-C30D-F505EDC4EDD2}"/>
                </a:ext>
              </a:extLst>
            </p:cNvPr>
            <p:cNvGrpSpPr/>
            <p:nvPr/>
          </p:nvGrpSpPr>
          <p:grpSpPr>
            <a:xfrm>
              <a:off x="9525159" y="2510452"/>
              <a:ext cx="591310" cy="808172"/>
              <a:chOff x="7666056" y="2280976"/>
              <a:chExt cx="839968" cy="1148024"/>
            </a:xfrm>
          </p:grpSpPr>
          <p:cxnSp>
            <p:nvCxnSpPr>
              <p:cNvPr id="7" name="Straight Connector 6">
                <a:extLst>
                  <a:ext uri="{FF2B5EF4-FFF2-40B4-BE49-F238E27FC236}">
                    <a16:creationId xmlns:a16="http://schemas.microsoft.com/office/drawing/2014/main" id="{B3C40EAD-7648-4D82-7C10-9FE4B1D9B67C}"/>
                  </a:ext>
                </a:extLst>
              </p:cNvPr>
              <p:cNvCxnSpPr>
                <a:cxnSpLocks/>
              </p:cNvCxnSpPr>
              <p:nvPr/>
            </p:nvCxnSpPr>
            <p:spPr>
              <a:xfrm>
                <a:off x="8288026" y="2280976"/>
                <a:ext cx="0" cy="215374"/>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05597ED2-0AA8-5C8F-5320-C40C0351DFF8}"/>
                  </a:ext>
                </a:extLst>
              </p:cNvPr>
              <p:cNvSpPr/>
              <p:nvPr/>
            </p:nvSpPr>
            <p:spPr>
              <a:xfrm>
                <a:off x="7773560" y="2466704"/>
                <a:ext cx="732464" cy="755967"/>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50660A0D-3A8C-C507-9CB6-DA7B950CD6C0}"/>
                  </a:ext>
                </a:extLst>
              </p:cNvPr>
              <p:cNvCxnSpPr>
                <a:cxnSpLocks/>
              </p:cNvCxnSpPr>
              <p:nvPr/>
            </p:nvCxnSpPr>
            <p:spPr>
              <a:xfrm>
                <a:off x="8012997" y="2615326"/>
                <a:ext cx="0" cy="4974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5B4515-38C4-312F-87D7-BA16FE51259B}"/>
                  </a:ext>
                </a:extLst>
              </p:cNvPr>
              <p:cNvCxnSpPr>
                <a:cxnSpLocks/>
              </p:cNvCxnSpPr>
              <p:nvPr/>
            </p:nvCxnSpPr>
            <p:spPr>
              <a:xfrm flipH="1">
                <a:off x="8012997" y="2496350"/>
                <a:ext cx="275029" cy="2379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02DDA30-4E0A-00AD-3153-9C462EAE6F78}"/>
                  </a:ext>
                </a:extLst>
              </p:cNvPr>
              <p:cNvCxnSpPr>
                <a:cxnSpLocks/>
              </p:cNvCxnSpPr>
              <p:nvPr/>
            </p:nvCxnSpPr>
            <p:spPr>
              <a:xfrm flipH="1" flipV="1">
                <a:off x="8012997" y="2979675"/>
                <a:ext cx="275029" cy="213316"/>
              </a:xfrm>
              <a:prstGeom prst="line">
                <a:avLst/>
              </a:prstGeom>
              <a:ln w="28575">
                <a:solidFill>
                  <a:schemeClr val="tx1"/>
                </a:solidFill>
                <a:headEnd type="arrow"/>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EF57A56-A06E-237D-A8BB-F415C85DD87C}"/>
                  </a:ext>
                </a:extLst>
              </p:cNvPr>
              <p:cNvCxnSpPr>
                <a:cxnSpLocks/>
              </p:cNvCxnSpPr>
              <p:nvPr/>
            </p:nvCxnSpPr>
            <p:spPr>
              <a:xfrm flipV="1">
                <a:off x="8288026" y="3192991"/>
                <a:ext cx="0" cy="2360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A6714CC-B346-8E5E-150A-6829E8C79B1F}"/>
                  </a:ext>
                </a:extLst>
              </p:cNvPr>
              <p:cNvCxnSpPr>
                <a:cxnSpLocks/>
              </p:cNvCxnSpPr>
              <p:nvPr/>
            </p:nvCxnSpPr>
            <p:spPr>
              <a:xfrm flipH="1">
                <a:off x="7666056" y="2844687"/>
                <a:ext cx="346941" cy="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7" name="Group 26" descr="A transitor schema with emitter, collector and base.  This is showing a digital oriented NMOS style transistor tuned to operate as an on / off switch.">
              <a:extLst>
                <a:ext uri="{FF2B5EF4-FFF2-40B4-BE49-F238E27FC236}">
                  <a16:creationId xmlns:a16="http://schemas.microsoft.com/office/drawing/2014/main" id="{14D6A346-3C96-2012-6AF2-7AA9606F6048}"/>
                </a:ext>
              </a:extLst>
            </p:cNvPr>
            <p:cNvGrpSpPr/>
            <p:nvPr/>
          </p:nvGrpSpPr>
          <p:grpSpPr>
            <a:xfrm>
              <a:off x="7031694" y="3328352"/>
              <a:ext cx="645435" cy="719897"/>
              <a:chOff x="9033468" y="2344020"/>
              <a:chExt cx="2502035" cy="2790688"/>
            </a:xfrm>
          </p:grpSpPr>
          <p:cxnSp>
            <p:nvCxnSpPr>
              <p:cNvPr id="29" name="Straight Connector 28">
                <a:extLst>
                  <a:ext uri="{FF2B5EF4-FFF2-40B4-BE49-F238E27FC236}">
                    <a16:creationId xmlns:a16="http://schemas.microsoft.com/office/drawing/2014/main" id="{3DA7A8F8-C777-B3F6-4D54-03B4DC6125DC}"/>
                  </a:ext>
                </a:extLst>
              </p:cNvPr>
              <p:cNvCxnSpPr>
                <a:cxnSpLocks/>
              </p:cNvCxnSpPr>
              <p:nvPr/>
            </p:nvCxnSpPr>
            <p:spPr>
              <a:xfrm>
                <a:off x="10771041" y="2344020"/>
                <a:ext cx="0" cy="1096223"/>
              </a:xfrm>
              <a:prstGeom prst="line">
                <a:avLst/>
              </a:prstGeom>
              <a:ln w="28575" cap="rnd">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0FC2C73A-FF4E-B6F1-1BD6-EBF069359A1C}"/>
                  </a:ext>
                </a:extLst>
              </p:cNvPr>
              <p:cNvSpPr/>
              <p:nvPr/>
            </p:nvSpPr>
            <p:spPr>
              <a:xfrm>
                <a:off x="9384607" y="2714725"/>
                <a:ext cx="2150896" cy="2219913"/>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2" name="Straight Connector 31">
                <a:extLst>
                  <a:ext uri="{FF2B5EF4-FFF2-40B4-BE49-F238E27FC236}">
                    <a16:creationId xmlns:a16="http://schemas.microsoft.com/office/drawing/2014/main" id="{043DD966-31FA-14CB-7677-5631C4A91015}"/>
                  </a:ext>
                </a:extLst>
              </p:cNvPr>
              <p:cNvCxnSpPr>
                <a:cxnSpLocks/>
              </p:cNvCxnSpPr>
              <p:nvPr/>
            </p:nvCxnSpPr>
            <p:spPr>
              <a:xfrm>
                <a:off x="10238440" y="3151157"/>
                <a:ext cx="0" cy="146086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DFE1CEF-DB53-5F34-8F1E-4A467B04E6E4}"/>
                  </a:ext>
                </a:extLst>
              </p:cNvPr>
              <p:cNvCxnSpPr>
                <a:cxnSpLocks/>
              </p:cNvCxnSpPr>
              <p:nvPr/>
            </p:nvCxnSpPr>
            <p:spPr>
              <a:xfrm flipH="1" flipV="1">
                <a:off x="10238440" y="3440243"/>
                <a:ext cx="532601" cy="400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5079BF2-3754-E17A-1C3A-56A484D69617}"/>
                  </a:ext>
                </a:extLst>
              </p:cNvPr>
              <p:cNvCxnSpPr>
                <a:cxnSpLocks/>
              </p:cNvCxnSpPr>
              <p:nvPr/>
            </p:nvCxnSpPr>
            <p:spPr>
              <a:xfrm flipV="1">
                <a:off x="10763924" y="4221078"/>
                <a:ext cx="0" cy="91363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067C7C1-7769-2E65-9E74-302C77303983}"/>
                  </a:ext>
                </a:extLst>
              </p:cNvPr>
              <p:cNvCxnSpPr>
                <a:cxnSpLocks/>
              </p:cNvCxnSpPr>
              <p:nvPr/>
            </p:nvCxnSpPr>
            <p:spPr>
              <a:xfrm flipH="1">
                <a:off x="9033468" y="3824681"/>
                <a:ext cx="1045871" cy="0"/>
              </a:xfrm>
              <a:prstGeom prst="line">
                <a:avLst/>
              </a:prstGeom>
              <a:ln w="28575"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058FE7C-A686-B48F-54CE-A7B8C15B6733}"/>
                  </a:ext>
                </a:extLst>
              </p:cNvPr>
              <p:cNvCxnSpPr>
                <a:cxnSpLocks/>
              </p:cNvCxnSpPr>
              <p:nvPr/>
            </p:nvCxnSpPr>
            <p:spPr>
              <a:xfrm>
                <a:off x="10079339" y="3429000"/>
                <a:ext cx="0" cy="79207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528F335-9AB5-A760-9EB8-F5D7E0A02969}"/>
                  </a:ext>
                </a:extLst>
              </p:cNvPr>
              <p:cNvCxnSpPr>
                <a:cxnSpLocks/>
              </p:cNvCxnSpPr>
              <p:nvPr/>
            </p:nvCxnSpPr>
            <p:spPr>
              <a:xfrm flipH="1" flipV="1">
                <a:off x="10238440" y="4221380"/>
                <a:ext cx="532601" cy="400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43" name="Group 42" descr="A square wave">
              <a:extLst>
                <a:ext uri="{FF2B5EF4-FFF2-40B4-BE49-F238E27FC236}">
                  <a16:creationId xmlns:a16="http://schemas.microsoft.com/office/drawing/2014/main" id="{CB0E418A-48C6-5697-6B12-3656C1597938}"/>
                </a:ext>
              </a:extLst>
            </p:cNvPr>
            <p:cNvGrpSpPr/>
            <p:nvPr/>
          </p:nvGrpSpPr>
          <p:grpSpPr>
            <a:xfrm>
              <a:off x="6996223" y="2816903"/>
              <a:ext cx="734091" cy="279132"/>
              <a:chOff x="6885431" y="5702808"/>
              <a:chExt cx="1069849" cy="313944"/>
            </a:xfrm>
          </p:grpSpPr>
          <p:cxnSp>
            <p:nvCxnSpPr>
              <p:cNvPr id="45" name="Straight Connector 44">
                <a:extLst>
                  <a:ext uri="{FF2B5EF4-FFF2-40B4-BE49-F238E27FC236}">
                    <a16:creationId xmlns:a16="http://schemas.microsoft.com/office/drawing/2014/main" id="{647C9E6B-A8E0-81A4-3240-8846826B2DE4}"/>
                  </a:ext>
                </a:extLst>
              </p:cNvPr>
              <p:cNvCxnSpPr>
                <a:cxnSpLocks/>
              </p:cNvCxnSpPr>
              <p:nvPr/>
            </p:nvCxnSpPr>
            <p:spPr>
              <a:xfrm>
                <a:off x="6885431" y="6016752"/>
                <a:ext cx="18235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FC6124E-E12E-72A8-9FC1-CC5D28F28245}"/>
                  </a:ext>
                </a:extLst>
              </p:cNvPr>
              <p:cNvCxnSpPr>
                <a:cxnSpLocks/>
              </p:cNvCxnSpPr>
              <p:nvPr/>
            </p:nvCxnSpPr>
            <p:spPr>
              <a:xfrm>
                <a:off x="7067789" y="5705856"/>
                <a:ext cx="0" cy="31089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A890924-3FEB-D591-E347-910C77EE2463}"/>
                  </a:ext>
                </a:extLst>
              </p:cNvPr>
              <p:cNvCxnSpPr>
                <a:cxnSpLocks/>
              </p:cNvCxnSpPr>
              <p:nvPr/>
            </p:nvCxnSpPr>
            <p:spPr>
              <a:xfrm>
                <a:off x="7067789" y="5705856"/>
                <a:ext cx="23826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7D6449A1-00D0-B8CD-EFAA-AE66F61448E6}"/>
                  </a:ext>
                </a:extLst>
              </p:cNvPr>
              <p:cNvCxnSpPr>
                <a:cxnSpLocks/>
              </p:cNvCxnSpPr>
              <p:nvPr/>
            </p:nvCxnSpPr>
            <p:spPr>
              <a:xfrm>
                <a:off x="7306056" y="5705856"/>
                <a:ext cx="0" cy="31089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FB29683-E99F-F9BD-6C9D-BF52E351D69A}"/>
                  </a:ext>
                </a:extLst>
              </p:cNvPr>
              <p:cNvCxnSpPr>
                <a:cxnSpLocks/>
              </p:cNvCxnSpPr>
              <p:nvPr/>
            </p:nvCxnSpPr>
            <p:spPr>
              <a:xfrm flipV="1">
                <a:off x="7306056" y="6013704"/>
                <a:ext cx="255936" cy="304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FBD81830-3224-054E-246C-72CF5F18E4A8}"/>
                  </a:ext>
                </a:extLst>
              </p:cNvPr>
              <p:cNvCxnSpPr>
                <a:cxnSpLocks/>
              </p:cNvCxnSpPr>
              <p:nvPr/>
            </p:nvCxnSpPr>
            <p:spPr>
              <a:xfrm>
                <a:off x="7561992" y="5702808"/>
                <a:ext cx="0" cy="31089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549BCD25-1A95-0538-B99B-2E8F0BDDBEE4}"/>
                  </a:ext>
                </a:extLst>
              </p:cNvPr>
              <p:cNvCxnSpPr>
                <a:cxnSpLocks/>
              </p:cNvCxnSpPr>
              <p:nvPr/>
            </p:nvCxnSpPr>
            <p:spPr>
              <a:xfrm>
                <a:off x="7561992" y="5702808"/>
                <a:ext cx="23826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356E628-309E-6503-7A68-F8A6D6788E77}"/>
                  </a:ext>
                </a:extLst>
              </p:cNvPr>
              <p:cNvCxnSpPr>
                <a:cxnSpLocks/>
              </p:cNvCxnSpPr>
              <p:nvPr/>
            </p:nvCxnSpPr>
            <p:spPr>
              <a:xfrm>
                <a:off x="7800259" y="5702808"/>
                <a:ext cx="0" cy="31089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EC307058-9F1F-614D-7E57-E2CCD62BEDB0}"/>
                  </a:ext>
                </a:extLst>
              </p:cNvPr>
              <p:cNvCxnSpPr>
                <a:cxnSpLocks/>
              </p:cNvCxnSpPr>
              <p:nvPr/>
            </p:nvCxnSpPr>
            <p:spPr>
              <a:xfrm flipH="1">
                <a:off x="7800259" y="6013704"/>
                <a:ext cx="15502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185787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359A0-F472-6FE8-A46B-5C2C94A893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951CC7-712B-6820-52A3-7951977D00A4}"/>
              </a:ext>
            </a:extLst>
          </p:cNvPr>
          <p:cNvSpPr>
            <a:spLocks noGrp="1"/>
          </p:cNvSpPr>
          <p:nvPr>
            <p:ph type="title"/>
          </p:nvPr>
        </p:nvSpPr>
        <p:spPr/>
        <p:txBody>
          <a:bodyPr/>
          <a:lstStyle/>
          <a:p>
            <a:r>
              <a:rPr lang="en-US" dirty="0"/>
              <a:t>Two Kinds of "Digital" Transistors</a:t>
            </a:r>
          </a:p>
        </p:txBody>
      </p:sp>
      <p:sp>
        <p:nvSpPr>
          <p:cNvPr id="3" name="Content Placeholder 2">
            <a:extLst>
              <a:ext uri="{FF2B5EF4-FFF2-40B4-BE49-F238E27FC236}">
                <a16:creationId xmlns:a16="http://schemas.microsoft.com/office/drawing/2014/main" id="{813134A6-4A79-2043-98EB-8D6AF58F33B8}"/>
              </a:ext>
            </a:extLst>
          </p:cNvPr>
          <p:cNvSpPr>
            <a:spLocks noGrp="1"/>
          </p:cNvSpPr>
          <p:nvPr>
            <p:ph idx="1"/>
          </p:nvPr>
        </p:nvSpPr>
        <p:spPr>
          <a:xfrm>
            <a:off x="838199" y="1825625"/>
            <a:ext cx="4513285" cy="4127111"/>
          </a:xfrm>
        </p:spPr>
        <p:txBody>
          <a:bodyPr>
            <a:normAutofit/>
          </a:bodyPr>
          <a:lstStyle/>
          <a:p>
            <a:r>
              <a:rPr lang="en-US" dirty="0"/>
              <a:t>NMOS conducts when the input (gate) voltage is high</a:t>
            </a:r>
          </a:p>
          <a:p>
            <a:r>
              <a:rPr lang="en-US" dirty="0"/>
              <a:t>PMOS conducts when the input is low.</a:t>
            </a:r>
          </a:p>
          <a:p>
            <a:r>
              <a:rPr lang="en-US" dirty="0"/>
              <a:t>Modern chips use both</a:t>
            </a:r>
          </a:p>
          <a:p>
            <a:r>
              <a:rPr lang="en-US" dirty="0"/>
              <a:t>CMOS – </a:t>
            </a:r>
            <a:r>
              <a:rPr lang="en-US" dirty="0">
                <a:solidFill>
                  <a:srgbClr val="000000"/>
                </a:solidFill>
                <a:effectLst/>
                <a:latin typeface="Calibri" panose="020F0502020204030204" pitchFamily="34" charset="0"/>
              </a:rPr>
              <a:t>Complementary Metal-Oxide-Semiconductor</a:t>
            </a:r>
          </a:p>
        </p:txBody>
      </p:sp>
      <p:grpSp>
        <p:nvGrpSpPr>
          <p:cNvPr id="25" name="Group 24" descr="The graph on this slide shows an PMOS S-curve going from low to high output voltage with an almost vertical transition at the 2/3 point in the input voltage.  The 2/3 point helps pull up voltages that might not quite be 1 on input to 1 on output.  The NMOS S-Curve goes from high to low with an almost vertical drop at about the 1/3 point in the input voltage.  The 2/3 point helps pull down voltages that might not quite be 1 on input to be 0 on output.&#13;&#10;&#13;&#10;">
            <a:extLst>
              <a:ext uri="{FF2B5EF4-FFF2-40B4-BE49-F238E27FC236}">
                <a16:creationId xmlns:a16="http://schemas.microsoft.com/office/drawing/2014/main" id="{A90CFB1C-DDCC-E0BB-AC5E-B72C9C603E9F}"/>
              </a:ext>
            </a:extLst>
          </p:cNvPr>
          <p:cNvGrpSpPr/>
          <p:nvPr/>
        </p:nvGrpSpPr>
        <p:grpSpPr>
          <a:xfrm>
            <a:off x="6096000" y="1729459"/>
            <a:ext cx="4329090" cy="3724763"/>
            <a:chOff x="6096000" y="1729459"/>
            <a:chExt cx="4329090" cy="3724763"/>
          </a:xfrm>
        </p:grpSpPr>
        <p:sp>
          <p:nvSpPr>
            <p:cNvPr id="17" name="TextBox 16">
              <a:extLst>
                <a:ext uri="{FF2B5EF4-FFF2-40B4-BE49-F238E27FC236}">
                  <a16:creationId xmlns:a16="http://schemas.microsoft.com/office/drawing/2014/main" id="{84891ADE-C669-85A7-9D0F-84EBC64C5CCA}"/>
                </a:ext>
              </a:extLst>
            </p:cNvPr>
            <p:cNvSpPr txBox="1"/>
            <p:nvPr/>
          </p:nvSpPr>
          <p:spPr>
            <a:xfrm rot="16200000">
              <a:off x="5474195" y="3335416"/>
              <a:ext cx="1612942" cy="369332"/>
            </a:xfrm>
            <a:prstGeom prst="rect">
              <a:avLst/>
            </a:prstGeom>
            <a:noFill/>
          </p:spPr>
          <p:txBody>
            <a:bodyPr wrap="none" rtlCol="0">
              <a:spAutoFit/>
            </a:bodyPr>
            <a:lstStyle/>
            <a:p>
              <a:r>
                <a:rPr lang="en-US" dirty="0"/>
                <a:t>Output Voltage</a:t>
              </a:r>
            </a:p>
          </p:txBody>
        </p:sp>
        <p:cxnSp>
          <p:nvCxnSpPr>
            <p:cNvPr id="5" name="Straight Connector 4">
              <a:extLst>
                <a:ext uri="{FF2B5EF4-FFF2-40B4-BE49-F238E27FC236}">
                  <a16:creationId xmlns:a16="http://schemas.microsoft.com/office/drawing/2014/main" id="{1F35751B-31DB-0C98-7137-868B5A677D70}"/>
                </a:ext>
              </a:extLst>
            </p:cNvPr>
            <p:cNvCxnSpPr/>
            <p:nvPr/>
          </p:nvCxnSpPr>
          <p:spPr>
            <a:xfrm>
              <a:off x="6766560" y="2075688"/>
              <a:ext cx="0" cy="29169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4F53A0F-DBCF-9E64-1C7C-EA3721B510B9}"/>
                </a:ext>
              </a:extLst>
            </p:cNvPr>
            <p:cNvCxnSpPr>
              <a:cxnSpLocks/>
            </p:cNvCxnSpPr>
            <p:nvPr/>
          </p:nvCxnSpPr>
          <p:spPr>
            <a:xfrm>
              <a:off x="6766560" y="4992624"/>
              <a:ext cx="363928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5FBDBEB-5182-3024-BDC9-C15779C0AE1D}"/>
                </a:ext>
              </a:extLst>
            </p:cNvPr>
            <p:cNvSpPr txBox="1"/>
            <p:nvPr/>
          </p:nvSpPr>
          <p:spPr>
            <a:xfrm>
              <a:off x="8121293" y="5084890"/>
              <a:ext cx="1441420" cy="369332"/>
            </a:xfrm>
            <a:prstGeom prst="rect">
              <a:avLst/>
            </a:prstGeom>
            <a:noFill/>
          </p:spPr>
          <p:txBody>
            <a:bodyPr wrap="none" rtlCol="0">
              <a:spAutoFit/>
            </a:bodyPr>
            <a:lstStyle/>
            <a:p>
              <a:r>
                <a:rPr lang="en-US" dirty="0"/>
                <a:t>Input Voltage</a:t>
              </a:r>
            </a:p>
          </p:txBody>
        </p:sp>
        <p:sp>
          <p:nvSpPr>
            <p:cNvPr id="15" name="Right Brace 14">
              <a:extLst>
                <a:ext uri="{FF2B5EF4-FFF2-40B4-BE49-F238E27FC236}">
                  <a16:creationId xmlns:a16="http://schemas.microsoft.com/office/drawing/2014/main" id="{5C3F479B-6198-5209-53A0-C6E2BFB53B24}"/>
                </a:ext>
              </a:extLst>
            </p:cNvPr>
            <p:cNvSpPr/>
            <p:nvPr/>
          </p:nvSpPr>
          <p:spPr>
            <a:xfrm rot="16200000">
              <a:off x="8011211" y="1945303"/>
              <a:ext cx="137160" cy="484632"/>
            </a:xfrm>
            <a:prstGeom prst="righ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Right Brace 19">
              <a:extLst>
                <a:ext uri="{FF2B5EF4-FFF2-40B4-BE49-F238E27FC236}">
                  <a16:creationId xmlns:a16="http://schemas.microsoft.com/office/drawing/2014/main" id="{9A038CF7-7C39-E67A-4AE5-4C3AD086BEA1}"/>
                </a:ext>
              </a:extLst>
            </p:cNvPr>
            <p:cNvSpPr/>
            <p:nvPr/>
          </p:nvSpPr>
          <p:spPr>
            <a:xfrm rot="16200000">
              <a:off x="9132712" y="1951459"/>
              <a:ext cx="137160" cy="484632"/>
            </a:xfrm>
            <a:prstGeom prst="rightBrace">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0070C0"/>
                </a:solidFill>
              </a:endParaRPr>
            </a:p>
          </p:txBody>
        </p:sp>
        <p:sp>
          <p:nvSpPr>
            <p:cNvPr id="22" name="TextBox 21">
              <a:extLst>
                <a:ext uri="{FF2B5EF4-FFF2-40B4-BE49-F238E27FC236}">
                  <a16:creationId xmlns:a16="http://schemas.microsoft.com/office/drawing/2014/main" id="{C1388982-4F01-2DC3-BCEB-2F19CF36656D}"/>
                </a:ext>
              </a:extLst>
            </p:cNvPr>
            <p:cNvSpPr txBox="1"/>
            <p:nvPr/>
          </p:nvSpPr>
          <p:spPr>
            <a:xfrm>
              <a:off x="8144206" y="1729459"/>
              <a:ext cx="1106585" cy="369332"/>
            </a:xfrm>
            <a:prstGeom prst="rect">
              <a:avLst/>
            </a:prstGeom>
            <a:noFill/>
          </p:spPr>
          <p:txBody>
            <a:bodyPr wrap="none" rtlCol="0">
              <a:spAutoFit/>
            </a:bodyPr>
            <a:lstStyle/>
            <a:p>
              <a:r>
                <a:rPr lang="en-US" dirty="0"/>
                <a:t>Transition</a:t>
              </a:r>
            </a:p>
          </p:txBody>
        </p:sp>
        <p:sp>
          <p:nvSpPr>
            <p:cNvPr id="23" name="Freeform 22">
              <a:extLst>
                <a:ext uri="{FF2B5EF4-FFF2-40B4-BE49-F238E27FC236}">
                  <a16:creationId xmlns:a16="http://schemas.microsoft.com/office/drawing/2014/main" id="{C7996590-DE54-CDA1-2425-B7FACD79461E}"/>
                </a:ext>
              </a:extLst>
            </p:cNvPr>
            <p:cNvSpPr/>
            <p:nvPr/>
          </p:nvSpPr>
          <p:spPr>
            <a:xfrm flipV="1">
              <a:off x="6876287" y="2395134"/>
              <a:ext cx="3520411" cy="2472407"/>
            </a:xfrm>
            <a:custGeom>
              <a:avLst/>
              <a:gdLst>
                <a:gd name="connsiteX0" fmla="*/ 0 w 3136392"/>
                <a:gd name="connsiteY0" fmla="*/ 2311176 h 2480509"/>
                <a:gd name="connsiteX1" fmla="*/ 1463040 w 3136392"/>
                <a:gd name="connsiteY1" fmla="*/ 2274600 h 2480509"/>
                <a:gd name="connsiteX2" fmla="*/ 1801368 w 3136392"/>
                <a:gd name="connsiteY2" fmla="*/ 262920 h 2480509"/>
                <a:gd name="connsiteX3" fmla="*/ 3136392 w 3136392"/>
                <a:gd name="connsiteY3" fmla="*/ 6888 h 2480509"/>
                <a:gd name="connsiteX0" fmla="*/ 0 w 3136392"/>
                <a:gd name="connsiteY0" fmla="*/ 2311176 h 2377760"/>
                <a:gd name="connsiteX1" fmla="*/ 1472184 w 3136392"/>
                <a:gd name="connsiteY1" fmla="*/ 2009424 h 2377760"/>
                <a:gd name="connsiteX2" fmla="*/ 1801368 w 3136392"/>
                <a:gd name="connsiteY2" fmla="*/ 262920 h 2377760"/>
                <a:gd name="connsiteX3" fmla="*/ 3136392 w 3136392"/>
                <a:gd name="connsiteY3" fmla="*/ 6888 h 2377760"/>
                <a:gd name="connsiteX0" fmla="*/ 0 w 3136392"/>
                <a:gd name="connsiteY0" fmla="*/ 2430048 h 2480048"/>
                <a:gd name="connsiteX1" fmla="*/ 1472184 w 3136392"/>
                <a:gd name="connsiteY1" fmla="*/ 2009424 h 2480048"/>
                <a:gd name="connsiteX2" fmla="*/ 1801368 w 3136392"/>
                <a:gd name="connsiteY2" fmla="*/ 262920 h 2480048"/>
                <a:gd name="connsiteX3" fmla="*/ 3136392 w 3136392"/>
                <a:gd name="connsiteY3" fmla="*/ 6888 h 2480048"/>
                <a:gd name="connsiteX0" fmla="*/ 0 w 3136392"/>
                <a:gd name="connsiteY0" fmla="*/ 2430048 h 2475723"/>
                <a:gd name="connsiteX1" fmla="*/ 999685 w 3136392"/>
                <a:gd name="connsiteY1" fmla="*/ 1972848 h 2475723"/>
                <a:gd name="connsiteX2" fmla="*/ 1801368 w 3136392"/>
                <a:gd name="connsiteY2" fmla="*/ 262920 h 2475723"/>
                <a:gd name="connsiteX3" fmla="*/ 3136392 w 3136392"/>
                <a:gd name="connsiteY3" fmla="*/ 6888 h 2475723"/>
                <a:gd name="connsiteX0" fmla="*/ 0 w 3136392"/>
                <a:gd name="connsiteY0" fmla="*/ 2426886 h 2472408"/>
                <a:gd name="connsiteX1" fmla="*/ 999685 w 3136392"/>
                <a:gd name="connsiteY1" fmla="*/ 1969686 h 2472408"/>
                <a:gd name="connsiteX2" fmla="*/ 1296283 w 3136392"/>
                <a:gd name="connsiteY2" fmla="*/ 268902 h 2472408"/>
                <a:gd name="connsiteX3" fmla="*/ 3136392 w 3136392"/>
                <a:gd name="connsiteY3" fmla="*/ 3726 h 2472408"/>
              </a:gdLst>
              <a:ahLst/>
              <a:cxnLst>
                <a:cxn ang="0">
                  <a:pos x="connsiteX0" y="connsiteY0"/>
                </a:cxn>
                <a:cxn ang="0">
                  <a:pos x="connsiteX1" y="connsiteY1"/>
                </a:cxn>
                <a:cxn ang="0">
                  <a:pos x="connsiteX2" y="connsiteY2"/>
                </a:cxn>
                <a:cxn ang="0">
                  <a:pos x="connsiteX3" y="connsiteY3"/>
                </a:cxn>
              </a:cxnLst>
              <a:rect l="l" t="t" r="r" b="b"/>
              <a:pathLst>
                <a:path w="3136392" h="2472408">
                  <a:moveTo>
                    <a:pt x="0" y="2426886"/>
                  </a:moveTo>
                  <a:cubicBezTo>
                    <a:pt x="581406" y="2579286"/>
                    <a:pt x="783638" y="2329350"/>
                    <a:pt x="999685" y="1969686"/>
                  </a:cubicBezTo>
                  <a:cubicBezTo>
                    <a:pt x="1215732" y="1610022"/>
                    <a:pt x="1017391" y="646854"/>
                    <a:pt x="1296283" y="268902"/>
                  </a:cubicBezTo>
                  <a:cubicBezTo>
                    <a:pt x="1575175" y="-109050"/>
                    <a:pt x="2889504" y="31158"/>
                    <a:pt x="3136392" y="3726"/>
                  </a:cubicBezTo>
                </a:path>
              </a:pathLst>
            </a:cu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a:extLst>
                <a:ext uri="{FF2B5EF4-FFF2-40B4-BE49-F238E27FC236}">
                  <a16:creationId xmlns:a16="http://schemas.microsoft.com/office/drawing/2014/main" id="{430CD0D6-56CC-4020-5E24-36FF68CED59D}"/>
                </a:ext>
              </a:extLst>
            </p:cNvPr>
            <p:cNvSpPr/>
            <p:nvPr/>
          </p:nvSpPr>
          <p:spPr>
            <a:xfrm flipH="1" flipV="1">
              <a:off x="6904679" y="2319716"/>
              <a:ext cx="3520411" cy="2472407"/>
            </a:xfrm>
            <a:custGeom>
              <a:avLst/>
              <a:gdLst>
                <a:gd name="connsiteX0" fmla="*/ 0 w 3136392"/>
                <a:gd name="connsiteY0" fmla="*/ 2311176 h 2480509"/>
                <a:gd name="connsiteX1" fmla="*/ 1463040 w 3136392"/>
                <a:gd name="connsiteY1" fmla="*/ 2274600 h 2480509"/>
                <a:gd name="connsiteX2" fmla="*/ 1801368 w 3136392"/>
                <a:gd name="connsiteY2" fmla="*/ 262920 h 2480509"/>
                <a:gd name="connsiteX3" fmla="*/ 3136392 w 3136392"/>
                <a:gd name="connsiteY3" fmla="*/ 6888 h 2480509"/>
                <a:gd name="connsiteX0" fmla="*/ 0 w 3136392"/>
                <a:gd name="connsiteY0" fmla="*/ 2311176 h 2377760"/>
                <a:gd name="connsiteX1" fmla="*/ 1472184 w 3136392"/>
                <a:gd name="connsiteY1" fmla="*/ 2009424 h 2377760"/>
                <a:gd name="connsiteX2" fmla="*/ 1801368 w 3136392"/>
                <a:gd name="connsiteY2" fmla="*/ 262920 h 2377760"/>
                <a:gd name="connsiteX3" fmla="*/ 3136392 w 3136392"/>
                <a:gd name="connsiteY3" fmla="*/ 6888 h 2377760"/>
                <a:gd name="connsiteX0" fmla="*/ 0 w 3136392"/>
                <a:gd name="connsiteY0" fmla="*/ 2430048 h 2480048"/>
                <a:gd name="connsiteX1" fmla="*/ 1472184 w 3136392"/>
                <a:gd name="connsiteY1" fmla="*/ 2009424 h 2480048"/>
                <a:gd name="connsiteX2" fmla="*/ 1801368 w 3136392"/>
                <a:gd name="connsiteY2" fmla="*/ 262920 h 2480048"/>
                <a:gd name="connsiteX3" fmla="*/ 3136392 w 3136392"/>
                <a:gd name="connsiteY3" fmla="*/ 6888 h 2480048"/>
                <a:gd name="connsiteX0" fmla="*/ 0 w 3136392"/>
                <a:gd name="connsiteY0" fmla="*/ 2430048 h 2475723"/>
                <a:gd name="connsiteX1" fmla="*/ 999685 w 3136392"/>
                <a:gd name="connsiteY1" fmla="*/ 1972848 h 2475723"/>
                <a:gd name="connsiteX2" fmla="*/ 1801368 w 3136392"/>
                <a:gd name="connsiteY2" fmla="*/ 262920 h 2475723"/>
                <a:gd name="connsiteX3" fmla="*/ 3136392 w 3136392"/>
                <a:gd name="connsiteY3" fmla="*/ 6888 h 2475723"/>
                <a:gd name="connsiteX0" fmla="*/ 0 w 3136392"/>
                <a:gd name="connsiteY0" fmla="*/ 2426886 h 2472408"/>
                <a:gd name="connsiteX1" fmla="*/ 999685 w 3136392"/>
                <a:gd name="connsiteY1" fmla="*/ 1969686 h 2472408"/>
                <a:gd name="connsiteX2" fmla="*/ 1296283 w 3136392"/>
                <a:gd name="connsiteY2" fmla="*/ 268902 h 2472408"/>
                <a:gd name="connsiteX3" fmla="*/ 3136392 w 3136392"/>
                <a:gd name="connsiteY3" fmla="*/ 3726 h 2472408"/>
              </a:gdLst>
              <a:ahLst/>
              <a:cxnLst>
                <a:cxn ang="0">
                  <a:pos x="connsiteX0" y="connsiteY0"/>
                </a:cxn>
                <a:cxn ang="0">
                  <a:pos x="connsiteX1" y="connsiteY1"/>
                </a:cxn>
                <a:cxn ang="0">
                  <a:pos x="connsiteX2" y="connsiteY2"/>
                </a:cxn>
                <a:cxn ang="0">
                  <a:pos x="connsiteX3" y="connsiteY3"/>
                </a:cxn>
              </a:cxnLst>
              <a:rect l="l" t="t" r="r" b="b"/>
              <a:pathLst>
                <a:path w="3136392" h="2472408">
                  <a:moveTo>
                    <a:pt x="0" y="2426886"/>
                  </a:moveTo>
                  <a:cubicBezTo>
                    <a:pt x="581406" y="2579286"/>
                    <a:pt x="783638" y="2329350"/>
                    <a:pt x="999685" y="1969686"/>
                  </a:cubicBezTo>
                  <a:cubicBezTo>
                    <a:pt x="1215732" y="1610022"/>
                    <a:pt x="1017391" y="646854"/>
                    <a:pt x="1296283" y="268902"/>
                  </a:cubicBezTo>
                  <a:cubicBezTo>
                    <a:pt x="1575175" y="-109050"/>
                    <a:pt x="2889504" y="31158"/>
                    <a:pt x="3136392" y="3726"/>
                  </a:cubicBezTo>
                </a:path>
              </a:pathLst>
            </a:cu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 name="Group 3" descr="A schematic for a PMOS style transistor.">
            <a:extLst>
              <a:ext uri="{FF2B5EF4-FFF2-40B4-BE49-F238E27FC236}">
                <a16:creationId xmlns:a16="http://schemas.microsoft.com/office/drawing/2014/main" id="{89479347-0395-C3B6-E98C-40482D905D9D}"/>
              </a:ext>
            </a:extLst>
          </p:cNvPr>
          <p:cNvGrpSpPr/>
          <p:nvPr/>
        </p:nvGrpSpPr>
        <p:grpSpPr>
          <a:xfrm>
            <a:off x="10517182" y="1660852"/>
            <a:ext cx="1193253" cy="1269424"/>
            <a:chOff x="10517182" y="1660852"/>
            <a:chExt cx="1193253" cy="1269424"/>
          </a:xfrm>
        </p:grpSpPr>
        <p:sp>
          <p:nvSpPr>
            <p:cNvPr id="56" name="TextBox 55">
              <a:extLst>
                <a:ext uri="{FF2B5EF4-FFF2-40B4-BE49-F238E27FC236}">
                  <a16:creationId xmlns:a16="http://schemas.microsoft.com/office/drawing/2014/main" id="{E1ADAA98-0F88-DC43-F62C-39A7BCBEB926}"/>
                </a:ext>
              </a:extLst>
            </p:cNvPr>
            <p:cNvSpPr txBox="1"/>
            <p:nvPr/>
          </p:nvSpPr>
          <p:spPr>
            <a:xfrm>
              <a:off x="10517182" y="1660852"/>
              <a:ext cx="758541" cy="369332"/>
            </a:xfrm>
            <a:prstGeom prst="rect">
              <a:avLst/>
            </a:prstGeom>
            <a:noFill/>
          </p:spPr>
          <p:txBody>
            <a:bodyPr wrap="none" rtlCol="0">
              <a:spAutoFit/>
            </a:bodyPr>
            <a:lstStyle/>
            <a:p>
              <a:r>
                <a:rPr lang="en-US" dirty="0"/>
                <a:t>PMOS</a:t>
              </a:r>
            </a:p>
          </p:txBody>
        </p:sp>
        <p:grpSp>
          <p:nvGrpSpPr>
            <p:cNvPr id="42" name="Group 41" descr="A schematic for a PMOS style transistor.">
              <a:extLst>
                <a:ext uri="{FF2B5EF4-FFF2-40B4-BE49-F238E27FC236}">
                  <a16:creationId xmlns:a16="http://schemas.microsoft.com/office/drawing/2014/main" id="{E7240B09-0753-9A80-22BB-BFAD3D535B08}"/>
                </a:ext>
              </a:extLst>
            </p:cNvPr>
            <p:cNvGrpSpPr/>
            <p:nvPr/>
          </p:nvGrpSpPr>
          <p:grpSpPr>
            <a:xfrm>
              <a:off x="10789042" y="1855172"/>
              <a:ext cx="921393" cy="1075104"/>
              <a:chOff x="1537398" y="2225045"/>
              <a:chExt cx="2493661" cy="2909663"/>
            </a:xfrm>
          </p:grpSpPr>
          <p:cxnSp>
            <p:nvCxnSpPr>
              <p:cNvPr id="43" name="Straight Connector 42">
                <a:extLst>
                  <a:ext uri="{FF2B5EF4-FFF2-40B4-BE49-F238E27FC236}">
                    <a16:creationId xmlns:a16="http://schemas.microsoft.com/office/drawing/2014/main" id="{3F4B5CF3-6A11-94E2-FCAF-B6D4B7C16514}"/>
                  </a:ext>
                </a:extLst>
              </p:cNvPr>
              <p:cNvCxnSpPr>
                <a:cxnSpLocks/>
              </p:cNvCxnSpPr>
              <p:nvPr/>
            </p:nvCxnSpPr>
            <p:spPr>
              <a:xfrm>
                <a:off x="3266597" y="2225045"/>
                <a:ext cx="0" cy="1061625"/>
              </a:xfrm>
              <a:prstGeom prst="line">
                <a:avLst/>
              </a:prstGeom>
              <a:ln w="38100" cap="rnd">
                <a:solidFill>
                  <a:srgbClr val="0070C0"/>
                </a:solidFill>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7AB23CFF-E787-C9A9-5B89-013A37543101}"/>
                  </a:ext>
                </a:extLst>
              </p:cNvPr>
              <p:cNvSpPr/>
              <p:nvPr/>
            </p:nvSpPr>
            <p:spPr>
              <a:xfrm>
                <a:off x="1880163" y="2561152"/>
                <a:ext cx="2150896" cy="2219913"/>
              </a:xfrm>
              <a:prstGeom prst="ellipse">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171FB870-87CA-FCE0-F910-52964F7DF855}"/>
                  </a:ext>
                </a:extLst>
              </p:cNvPr>
              <p:cNvCxnSpPr>
                <a:cxnSpLocks/>
              </p:cNvCxnSpPr>
              <p:nvPr/>
            </p:nvCxnSpPr>
            <p:spPr>
              <a:xfrm>
                <a:off x="2733996" y="2997584"/>
                <a:ext cx="0" cy="1460863"/>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9310272-0759-9E2D-F0C1-94AE6B41FD4A}"/>
                  </a:ext>
                </a:extLst>
              </p:cNvPr>
              <p:cNvCxnSpPr>
                <a:cxnSpLocks/>
              </p:cNvCxnSpPr>
              <p:nvPr/>
            </p:nvCxnSpPr>
            <p:spPr>
              <a:xfrm flipH="1" flipV="1">
                <a:off x="2733996" y="3286670"/>
                <a:ext cx="532601" cy="4004"/>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AC76FB9B-53C9-47CD-DC05-AEDDBA77B144}"/>
                  </a:ext>
                </a:extLst>
              </p:cNvPr>
              <p:cNvCxnSpPr>
                <a:cxnSpLocks/>
              </p:cNvCxnSpPr>
              <p:nvPr/>
            </p:nvCxnSpPr>
            <p:spPr>
              <a:xfrm flipV="1">
                <a:off x="3259480" y="4067505"/>
                <a:ext cx="0" cy="1067203"/>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3611BBFD-C07D-DC08-BD57-4A1D89C8FD08}"/>
                  </a:ext>
                </a:extLst>
              </p:cNvPr>
              <p:cNvCxnSpPr>
                <a:cxnSpLocks/>
                <a:stCxn id="53" idx="2"/>
              </p:cNvCxnSpPr>
              <p:nvPr/>
            </p:nvCxnSpPr>
            <p:spPr>
              <a:xfrm flipH="1">
                <a:off x="1537398" y="3670785"/>
                <a:ext cx="743579" cy="323"/>
              </a:xfrm>
              <a:prstGeom prst="line">
                <a:avLst/>
              </a:prstGeom>
              <a:ln w="38100" cap="rnd">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27ACD82-7365-9911-4032-3ABB82DCBDFA}"/>
                  </a:ext>
                </a:extLst>
              </p:cNvPr>
              <p:cNvCxnSpPr>
                <a:cxnSpLocks/>
              </p:cNvCxnSpPr>
              <p:nvPr/>
            </p:nvCxnSpPr>
            <p:spPr>
              <a:xfrm>
                <a:off x="2574895" y="3275427"/>
                <a:ext cx="0" cy="792078"/>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30DBA49-4C66-AB2C-E4CC-DC3511B77FB1}"/>
                  </a:ext>
                </a:extLst>
              </p:cNvPr>
              <p:cNvCxnSpPr>
                <a:cxnSpLocks/>
              </p:cNvCxnSpPr>
              <p:nvPr/>
            </p:nvCxnSpPr>
            <p:spPr>
              <a:xfrm flipH="1" flipV="1">
                <a:off x="2733996" y="4067807"/>
                <a:ext cx="532601" cy="4004"/>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497480AB-6D3F-290D-8C74-6CB2147EC8F6}"/>
                  </a:ext>
                </a:extLst>
              </p:cNvPr>
              <p:cNvSpPr/>
              <p:nvPr/>
            </p:nvSpPr>
            <p:spPr>
              <a:xfrm>
                <a:off x="2280977" y="3516889"/>
                <a:ext cx="293918" cy="307792"/>
              </a:xfrm>
              <a:prstGeom prst="ellipse">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 name="Group 6" descr="A schematic for an NMOS style transistor.">
            <a:extLst>
              <a:ext uri="{FF2B5EF4-FFF2-40B4-BE49-F238E27FC236}">
                <a16:creationId xmlns:a16="http://schemas.microsoft.com/office/drawing/2014/main" id="{B00C9C93-441F-7916-0FCC-E3CE181DE525}"/>
              </a:ext>
            </a:extLst>
          </p:cNvPr>
          <p:cNvGrpSpPr/>
          <p:nvPr/>
        </p:nvGrpSpPr>
        <p:grpSpPr>
          <a:xfrm>
            <a:off x="10448971" y="4119120"/>
            <a:ext cx="1125878" cy="1206778"/>
            <a:chOff x="10448971" y="4119120"/>
            <a:chExt cx="1125878" cy="1206778"/>
          </a:xfrm>
        </p:grpSpPr>
        <p:sp>
          <p:nvSpPr>
            <p:cNvPr id="55" name="TextBox 54">
              <a:extLst>
                <a:ext uri="{FF2B5EF4-FFF2-40B4-BE49-F238E27FC236}">
                  <a16:creationId xmlns:a16="http://schemas.microsoft.com/office/drawing/2014/main" id="{346FF26D-D2DA-B866-E85B-9021AC232E8E}"/>
                </a:ext>
              </a:extLst>
            </p:cNvPr>
            <p:cNvSpPr txBox="1"/>
            <p:nvPr/>
          </p:nvSpPr>
          <p:spPr>
            <a:xfrm>
              <a:off x="10448971" y="4119120"/>
              <a:ext cx="788999" cy="369332"/>
            </a:xfrm>
            <a:prstGeom prst="rect">
              <a:avLst/>
            </a:prstGeom>
            <a:noFill/>
          </p:spPr>
          <p:txBody>
            <a:bodyPr wrap="none" rtlCol="0">
              <a:spAutoFit/>
            </a:bodyPr>
            <a:lstStyle/>
            <a:p>
              <a:r>
                <a:rPr lang="en-US" dirty="0"/>
                <a:t>NMOS</a:t>
              </a:r>
            </a:p>
          </p:txBody>
        </p:sp>
        <p:grpSp>
          <p:nvGrpSpPr>
            <p:cNvPr id="27" name="Group 26" descr="A schematic for an NMOS style transistor.">
              <a:extLst>
                <a:ext uri="{FF2B5EF4-FFF2-40B4-BE49-F238E27FC236}">
                  <a16:creationId xmlns:a16="http://schemas.microsoft.com/office/drawing/2014/main" id="{EC62109B-808E-8EEF-31C3-70F410C10C23}"/>
                </a:ext>
              </a:extLst>
            </p:cNvPr>
            <p:cNvGrpSpPr/>
            <p:nvPr/>
          </p:nvGrpSpPr>
          <p:grpSpPr>
            <a:xfrm>
              <a:off x="10681821" y="4329844"/>
              <a:ext cx="893028" cy="996054"/>
              <a:chOff x="9033468" y="2344020"/>
              <a:chExt cx="2502035" cy="2790688"/>
            </a:xfrm>
          </p:grpSpPr>
          <p:cxnSp>
            <p:nvCxnSpPr>
              <p:cNvPr id="29" name="Straight Connector 28">
                <a:extLst>
                  <a:ext uri="{FF2B5EF4-FFF2-40B4-BE49-F238E27FC236}">
                    <a16:creationId xmlns:a16="http://schemas.microsoft.com/office/drawing/2014/main" id="{9AD92EFC-11A5-D9F7-101C-C0EC6B47FA37}"/>
                  </a:ext>
                </a:extLst>
              </p:cNvPr>
              <p:cNvCxnSpPr>
                <a:cxnSpLocks/>
              </p:cNvCxnSpPr>
              <p:nvPr/>
            </p:nvCxnSpPr>
            <p:spPr>
              <a:xfrm>
                <a:off x="10771041" y="2344020"/>
                <a:ext cx="0" cy="1096223"/>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56770A77-81BB-9035-AC9C-AF6011A1E7E5}"/>
                  </a:ext>
                </a:extLst>
              </p:cNvPr>
              <p:cNvSpPr/>
              <p:nvPr/>
            </p:nvSpPr>
            <p:spPr>
              <a:xfrm>
                <a:off x="9384607" y="2714725"/>
                <a:ext cx="2150896" cy="221991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B4C5B3AE-4B94-CBB8-02A6-4130F2E27E18}"/>
                  </a:ext>
                </a:extLst>
              </p:cNvPr>
              <p:cNvCxnSpPr>
                <a:cxnSpLocks/>
              </p:cNvCxnSpPr>
              <p:nvPr/>
            </p:nvCxnSpPr>
            <p:spPr>
              <a:xfrm>
                <a:off x="10238440" y="3151157"/>
                <a:ext cx="0" cy="14608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4667415-FEE8-5DAF-4F4F-30DFD435A49C}"/>
                  </a:ext>
                </a:extLst>
              </p:cNvPr>
              <p:cNvCxnSpPr>
                <a:cxnSpLocks/>
              </p:cNvCxnSpPr>
              <p:nvPr/>
            </p:nvCxnSpPr>
            <p:spPr>
              <a:xfrm flipH="1" flipV="1">
                <a:off x="10238440" y="3440243"/>
                <a:ext cx="532601" cy="400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0E37415-0945-936C-48D2-DC1A3FF4C776}"/>
                  </a:ext>
                </a:extLst>
              </p:cNvPr>
              <p:cNvCxnSpPr>
                <a:cxnSpLocks/>
              </p:cNvCxnSpPr>
              <p:nvPr/>
            </p:nvCxnSpPr>
            <p:spPr>
              <a:xfrm flipV="1">
                <a:off x="10763924" y="4221078"/>
                <a:ext cx="0" cy="91363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32B5146-012F-4367-5E10-6F57FB527668}"/>
                  </a:ext>
                </a:extLst>
              </p:cNvPr>
              <p:cNvCxnSpPr>
                <a:cxnSpLocks/>
              </p:cNvCxnSpPr>
              <p:nvPr/>
            </p:nvCxnSpPr>
            <p:spPr>
              <a:xfrm flipH="1">
                <a:off x="9033468" y="3824681"/>
                <a:ext cx="1045871" cy="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27BCA8B-44B9-8700-96A5-F2545649863A}"/>
                  </a:ext>
                </a:extLst>
              </p:cNvPr>
              <p:cNvCxnSpPr>
                <a:cxnSpLocks/>
              </p:cNvCxnSpPr>
              <p:nvPr/>
            </p:nvCxnSpPr>
            <p:spPr>
              <a:xfrm>
                <a:off x="10079339" y="3429000"/>
                <a:ext cx="0" cy="79207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4E08964-59CD-48CC-3CC9-9D8A2A3BD9B3}"/>
                  </a:ext>
                </a:extLst>
              </p:cNvPr>
              <p:cNvCxnSpPr>
                <a:cxnSpLocks/>
              </p:cNvCxnSpPr>
              <p:nvPr/>
            </p:nvCxnSpPr>
            <p:spPr>
              <a:xfrm flipH="1" flipV="1">
                <a:off x="10238440" y="4221380"/>
                <a:ext cx="532601" cy="400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247719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E7E0D-F771-C3B4-40EE-430840BCEEB9}"/>
              </a:ext>
            </a:extLst>
          </p:cNvPr>
          <p:cNvSpPr>
            <a:spLocks noGrp="1"/>
          </p:cNvSpPr>
          <p:nvPr>
            <p:ph type="title"/>
          </p:nvPr>
        </p:nvSpPr>
        <p:spPr/>
        <p:txBody>
          <a:bodyPr/>
          <a:lstStyle/>
          <a:p>
            <a:r>
              <a:rPr lang="en-US" dirty="0"/>
              <a:t>The Four Eras of Transistor Manufacturing</a:t>
            </a:r>
          </a:p>
        </p:txBody>
      </p:sp>
      <p:graphicFrame>
        <p:nvGraphicFramePr>
          <p:cNvPr id="4" name="Table 3">
            <a:extLst>
              <a:ext uri="{FF2B5EF4-FFF2-40B4-BE49-F238E27FC236}">
                <a16:creationId xmlns:a16="http://schemas.microsoft.com/office/drawing/2014/main" id="{95C574C4-2BC1-A401-281D-C2491DF54CEE}"/>
              </a:ext>
            </a:extLst>
          </p:cNvPr>
          <p:cNvGraphicFramePr>
            <a:graphicFrameLocks noGrp="1"/>
          </p:cNvGraphicFramePr>
          <p:nvPr>
            <p:extLst>
              <p:ext uri="{D42A27DB-BD31-4B8C-83A1-F6EECF244321}">
                <p14:modId xmlns:p14="http://schemas.microsoft.com/office/powerpoint/2010/main" val="3608873777"/>
              </p:ext>
            </p:extLst>
          </p:nvPr>
        </p:nvGraphicFramePr>
        <p:xfrm>
          <a:off x="838200" y="2076351"/>
          <a:ext cx="10515600" cy="2926080"/>
        </p:xfrm>
        <a:graphic>
          <a:graphicData uri="http://schemas.openxmlformats.org/drawingml/2006/table">
            <a:tbl>
              <a:tblPr firstRow="1">
                <a:tableStyleId>{3C2FFA5D-87B4-456A-9821-1D502468CF0F}</a:tableStyleId>
              </a:tblPr>
              <a:tblGrid>
                <a:gridCol w="1825625">
                  <a:extLst>
                    <a:ext uri="{9D8B030D-6E8A-4147-A177-3AD203B41FA5}">
                      <a16:colId xmlns:a16="http://schemas.microsoft.com/office/drawing/2014/main" val="2244586407"/>
                    </a:ext>
                  </a:extLst>
                </a:gridCol>
                <a:gridCol w="1781810">
                  <a:extLst>
                    <a:ext uri="{9D8B030D-6E8A-4147-A177-3AD203B41FA5}">
                      <a16:colId xmlns:a16="http://schemas.microsoft.com/office/drawing/2014/main" val="1445750000"/>
                    </a:ext>
                  </a:extLst>
                </a:gridCol>
                <a:gridCol w="3193415">
                  <a:extLst>
                    <a:ext uri="{9D8B030D-6E8A-4147-A177-3AD203B41FA5}">
                      <a16:colId xmlns:a16="http://schemas.microsoft.com/office/drawing/2014/main" val="3148600266"/>
                    </a:ext>
                  </a:extLst>
                </a:gridCol>
                <a:gridCol w="1713865">
                  <a:extLst>
                    <a:ext uri="{9D8B030D-6E8A-4147-A177-3AD203B41FA5}">
                      <a16:colId xmlns:a16="http://schemas.microsoft.com/office/drawing/2014/main" val="3003422330"/>
                    </a:ext>
                  </a:extLst>
                </a:gridCol>
                <a:gridCol w="2000885">
                  <a:extLst>
                    <a:ext uri="{9D8B030D-6E8A-4147-A177-3AD203B41FA5}">
                      <a16:colId xmlns:a16="http://schemas.microsoft.com/office/drawing/2014/main" val="1598811128"/>
                    </a:ext>
                  </a:extLst>
                </a:gridCol>
              </a:tblGrid>
              <a:tr h="0">
                <a:tc>
                  <a:txBody>
                    <a:bodyPr/>
                    <a:lstStyle/>
                    <a:p>
                      <a:r>
                        <a:rPr lang="en-US" dirty="0"/>
                        <a:t>Approx. Years</a:t>
                      </a:r>
                    </a:p>
                  </a:txBody>
                  <a:tcPr anchor="ctr"/>
                </a:tc>
                <a:tc>
                  <a:txBody>
                    <a:bodyPr/>
                    <a:lstStyle/>
                    <a:p>
                      <a:r>
                        <a:rPr lang="en-US"/>
                        <a:t>Dominant Technology</a:t>
                      </a:r>
                    </a:p>
                  </a:txBody>
                  <a:tcPr anchor="ctr"/>
                </a:tc>
                <a:tc>
                  <a:txBody>
                    <a:bodyPr/>
                    <a:lstStyle/>
                    <a:p>
                      <a:r>
                        <a:rPr lang="en-US" dirty="0"/>
                        <a:t>Key Feature</a:t>
                      </a:r>
                    </a:p>
                  </a:txBody>
                  <a:tcPr anchor="ctr"/>
                </a:tc>
                <a:tc>
                  <a:txBody>
                    <a:bodyPr/>
                    <a:lstStyle/>
                    <a:p>
                      <a:r>
                        <a:rPr lang="en-US" dirty="0"/>
                        <a:t>Processors</a:t>
                      </a:r>
                    </a:p>
                  </a:txBody>
                  <a:tcPr anchor="ctr"/>
                </a:tc>
                <a:tc>
                  <a:txBody>
                    <a:bodyPr/>
                    <a:lstStyle/>
                    <a:p>
                      <a:r>
                        <a:rPr lang="en-US"/>
                        <a:t>Limitation that Led to Next Step</a:t>
                      </a:r>
                    </a:p>
                  </a:txBody>
                  <a:tcPr anchor="ctr"/>
                </a:tc>
                <a:extLst>
                  <a:ext uri="{0D108BD9-81ED-4DB2-BD59-A6C34878D82A}">
                    <a16:rowId xmlns:a16="http://schemas.microsoft.com/office/drawing/2014/main" val="356448025"/>
                  </a:ext>
                </a:extLst>
              </a:tr>
              <a:tr h="0">
                <a:tc>
                  <a:txBody>
                    <a:bodyPr/>
                    <a:lstStyle/>
                    <a:p>
                      <a:r>
                        <a:rPr lang="en-US"/>
                        <a:t>1950s–1960s</a:t>
                      </a:r>
                    </a:p>
                  </a:txBody>
                  <a:tcPr anchor="ctr"/>
                </a:tc>
                <a:tc>
                  <a:txBody>
                    <a:bodyPr/>
                    <a:lstStyle/>
                    <a:p>
                      <a:r>
                        <a:rPr lang="en-US" b="1" dirty="0"/>
                        <a:t>Bipolar Junction Transistor (BJT)</a:t>
                      </a:r>
                      <a:endParaRPr lang="en-US" dirty="0"/>
                    </a:p>
                  </a:txBody>
                  <a:tcPr anchor="ctr"/>
                </a:tc>
                <a:tc>
                  <a:txBody>
                    <a:bodyPr/>
                    <a:lstStyle/>
                    <a:p>
                      <a:r>
                        <a:rPr lang="en-US"/>
                        <a:t>Fast and well-understood</a:t>
                      </a:r>
                    </a:p>
                  </a:txBody>
                  <a:tcPr anchor="ctr"/>
                </a:tc>
                <a:tc>
                  <a:txBody>
                    <a:bodyPr/>
                    <a:lstStyle/>
                    <a:p>
                      <a:endParaRPr lang="en-US" dirty="0"/>
                    </a:p>
                  </a:txBody>
                  <a:tcPr anchor="ctr"/>
                </a:tc>
                <a:tc>
                  <a:txBody>
                    <a:bodyPr/>
                    <a:lstStyle/>
                    <a:p>
                      <a:r>
                        <a:rPr lang="en-US"/>
                        <a:t>Power-hungry, hard to integrate</a:t>
                      </a:r>
                    </a:p>
                  </a:txBody>
                  <a:tcPr anchor="ctr"/>
                </a:tc>
                <a:extLst>
                  <a:ext uri="{0D108BD9-81ED-4DB2-BD59-A6C34878D82A}">
                    <a16:rowId xmlns:a16="http://schemas.microsoft.com/office/drawing/2014/main" val="2842090829"/>
                  </a:ext>
                </a:extLst>
              </a:tr>
              <a:tr h="0">
                <a:tc>
                  <a:txBody>
                    <a:bodyPr/>
                    <a:lstStyle/>
                    <a:p>
                      <a:r>
                        <a:rPr lang="en-US"/>
                        <a:t>Late 1960s–early 1970s</a:t>
                      </a:r>
                    </a:p>
                  </a:txBody>
                  <a:tcPr anchor="ctr"/>
                </a:tc>
                <a:tc>
                  <a:txBody>
                    <a:bodyPr/>
                    <a:lstStyle/>
                    <a:p>
                      <a:r>
                        <a:rPr lang="en-US" b="1"/>
                        <a:t>PMOS</a:t>
                      </a:r>
                      <a:endParaRPr lang="en-US"/>
                    </a:p>
                  </a:txBody>
                  <a:tcPr anchor="ctr"/>
                </a:tc>
                <a:tc>
                  <a:txBody>
                    <a:bodyPr/>
                    <a:lstStyle/>
                    <a:p>
                      <a:r>
                        <a:rPr lang="en-US"/>
                        <a:t>Easier to fabricate MOS logic</a:t>
                      </a:r>
                    </a:p>
                  </a:txBody>
                  <a:tcPr anchor="ctr"/>
                </a:tc>
                <a:tc>
                  <a:txBody>
                    <a:bodyPr/>
                    <a:lstStyle/>
                    <a:p>
                      <a:r>
                        <a:rPr lang="en-US" dirty="0"/>
                        <a:t>Intel 4004</a:t>
                      </a:r>
                    </a:p>
                  </a:txBody>
                  <a:tcPr anchor="ctr"/>
                </a:tc>
                <a:tc>
                  <a:txBody>
                    <a:bodyPr/>
                    <a:lstStyle/>
                    <a:p>
                      <a:r>
                        <a:rPr lang="en-US"/>
                        <a:t>Slow, used negative voltages</a:t>
                      </a:r>
                    </a:p>
                  </a:txBody>
                  <a:tcPr anchor="ctr"/>
                </a:tc>
                <a:extLst>
                  <a:ext uri="{0D108BD9-81ED-4DB2-BD59-A6C34878D82A}">
                    <a16:rowId xmlns:a16="http://schemas.microsoft.com/office/drawing/2014/main" val="3712371232"/>
                  </a:ext>
                </a:extLst>
              </a:tr>
              <a:tr h="0">
                <a:tc>
                  <a:txBody>
                    <a:bodyPr/>
                    <a:lstStyle/>
                    <a:p>
                      <a:r>
                        <a:rPr lang="en-US"/>
                        <a:t>1973–1983</a:t>
                      </a:r>
                    </a:p>
                  </a:txBody>
                  <a:tcPr anchor="ctr"/>
                </a:tc>
                <a:tc>
                  <a:txBody>
                    <a:bodyPr/>
                    <a:lstStyle/>
                    <a:p>
                      <a:r>
                        <a:rPr lang="en-US" b="1" dirty="0"/>
                        <a:t>NMOS</a:t>
                      </a:r>
                      <a:endParaRPr lang="en-US" dirty="0"/>
                    </a:p>
                  </a:txBody>
                  <a:tcPr anchor="ctr"/>
                </a:tc>
                <a:tc>
                  <a:txBody>
                    <a:bodyPr/>
                    <a:lstStyle/>
                    <a:p>
                      <a:r>
                        <a:rPr lang="en-US"/>
                        <a:t>Faster, simpler power supply</a:t>
                      </a:r>
                    </a:p>
                  </a:txBody>
                  <a:tcPr anchor="ctr"/>
                </a:tc>
                <a:tc>
                  <a:txBody>
                    <a:bodyPr/>
                    <a:lstStyle/>
                    <a:p>
                      <a:r>
                        <a:rPr lang="en-US" dirty="0"/>
                        <a:t>Intel 8080</a:t>
                      </a:r>
                    </a:p>
                    <a:p>
                      <a:r>
                        <a:rPr lang="en-US" dirty="0" err="1"/>
                        <a:t>Zilog</a:t>
                      </a:r>
                      <a:r>
                        <a:rPr lang="en-US" dirty="0"/>
                        <a:t> Z-80</a:t>
                      </a:r>
                    </a:p>
                  </a:txBody>
                  <a:tcPr anchor="ctr"/>
                </a:tc>
                <a:tc>
                  <a:txBody>
                    <a:bodyPr/>
                    <a:lstStyle/>
                    <a:p>
                      <a:r>
                        <a:rPr lang="en-US"/>
                        <a:t>Still wasted static power</a:t>
                      </a:r>
                    </a:p>
                  </a:txBody>
                  <a:tcPr anchor="ctr"/>
                </a:tc>
                <a:extLst>
                  <a:ext uri="{0D108BD9-81ED-4DB2-BD59-A6C34878D82A}">
                    <a16:rowId xmlns:a16="http://schemas.microsoft.com/office/drawing/2014/main" val="2549263808"/>
                  </a:ext>
                </a:extLst>
              </a:tr>
              <a:tr h="0">
                <a:tc>
                  <a:txBody>
                    <a:bodyPr/>
                    <a:lstStyle/>
                    <a:p>
                      <a:r>
                        <a:rPr lang="en-US" dirty="0"/>
                        <a:t>1983–present</a:t>
                      </a:r>
                    </a:p>
                  </a:txBody>
                  <a:tcPr anchor="ctr"/>
                </a:tc>
                <a:tc>
                  <a:txBody>
                    <a:bodyPr/>
                    <a:lstStyle/>
                    <a:p>
                      <a:r>
                        <a:rPr lang="en-US" b="1"/>
                        <a:t>CMOS</a:t>
                      </a:r>
                      <a:endParaRPr lang="en-US"/>
                    </a:p>
                  </a:txBody>
                  <a:tcPr anchor="ctr"/>
                </a:tc>
                <a:tc>
                  <a:txBody>
                    <a:bodyPr/>
                    <a:lstStyle/>
                    <a:p>
                      <a:r>
                        <a:rPr lang="en-US"/>
                        <a:t>Extremely low power, scalable</a:t>
                      </a:r>
                    </a:p>
                  </a:txBody>
                  <a:tcPr anchor="ctr"/>
                </a:tc>
                <a:tc>
                  <a:txBody>
                    <a:bodyPr/>
                    <a:lstStyle/>
                    <a:p>
                      <a:r>
                        <a:rPr lang="en-US" dirty="0"/>
                        <a:t>Intel 486</a:t>
                      </a:r>
                    </a:p>
                  </a:txBody>
                  <a:tcPr anchor="ctr"/>
                </a:tc>
                <a:tc>
                  <a:txBody>
                    <a:bodyPr/>
                    <a:lstStyle/>
                    <a:p>
                      <a:r>
                        <a:rPr lang="en-US" dirty="0"/>
                        <a:t>Became universal</a:t>
                      </a:r>
                    </a:p>
                  </a:txBody>
                  <a:tcPr anchor="ctr"/>
                </a:tc>
                <a:extLst>
                  <a:ext uri="{0D108BD9-81ED-4DB2-BD59-A6C34878D82A}">
                    <a16:rowId xmlns:a16="http://schemas.microsoft.com/office/drawing/2014/main" val="2098680537"/>
                  </a:ext>
                </a:extLst>
              </a:tr>
            </a:tbl>
          </a:graphicData>
        </a:graphic>
      </p:graphicFrame>
      <p:sp>
        <p:nvSpPr>
          <p:cNvPr id="5" name="TextBox 4">
            <a:extLst>
              <a:ext uri="{FF2B5EF4-FFF2-40B4-BE49-F238E27FC236}">
                <a16:creationId xmlns:a16="http://schemas.microsoft.com/office/drawing/2014/main" id="{84C5A598-602A-48F0-3FC4-D874F7B8EC0E}"/>
              </a:ext>
            </a:extLst>
          </p:cNvPr>
          <p:cNvSpPr txBox="1"/>
          <p:nvPr/>
        </p:nvSpPr>
        <p:spPr>
          <a:xfrm>
            <a:off x="1524000" y="5388094"/>
            <a:ext cx="9144000" cy="646331"/>
          </a:xfrm>
          <a:prstGeom prst="rect">
            <a:avLst/>
          </a:prstGeom>
          <a:noFill/>
        </p:spPr>
        <p:txBody>
          <a:bodyPr wrap="square" rtlCol="0">
            <a:spAutoFit/>
          </a:bodyPr>
          <a:lstStyle/>
          <a:p>
            <a:r>
              <a:rPr lang="en-US" dirty="0"/>
              <a:t>ChatGPT: Describe the historical timeline for the transition from Bipolar Junction Transistor (BPT) to </a:t>
            </a:r>
            <a:r>
              <a:rPr lang="en-US" dirty="0">
                <a:solidFill>
                  <a:srgbClr val="000000"/>
                </a:solidFill>
                <a:effectLst/>
                <a:latin typeface="Calibri" panose="020F0502020204030204" pitchFamily="34" charset="0"/>
              </a:rPr>
              <a:t>Complementary Metal-Oxide-Semiconductor</a:t>
            </a:r>
            <a:r>
              <a:rPr lang="en-US" dirty="0"/>
              <a:t> (CMOS) transistor technology.</a:t>
            </a:r>
          </a:p>
        </p:txBody>
      </p:sp>
    </p:spTree>
    <p:extLst>
      <p:ext uri="{BB962C8B-B14F-4D97-AF65-F5344CB8AC3E}">
        <p14:creationId xmlns:p14="http://schemas.microsoft.com/office/powerpoint/2010/main" val="2192014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A2DF4F7-E24E-268A-E00F-F7913419FDF0}"/>
              </a:ext>
            </a:extLst>
          </p:cNvPr>
          <p:cNvSpPr>
            <a:spLocks noGrp="1"/>
          </p:cNvSpPr>
          <p:nvPr>
            <p:ph type="title"/>
          </p:nvPr>
        </p:nvSpPr>
        <p:spPr/>
        <p:txBody>
          <a:bodyPr/>
          <a:lstStyle/>
          <a:p>
            <a:r>
              <a:rPr lang="en-US" dirty="0"/>
              <a:t>From Transistors to Gates</a:t>
            </a:r>
          </a:p>
        </p:txBody>
      </p:sp>
      <p:sp>
        <p:nvSpPr>
          <p:cNvPr id="5" name="Text Placeholder 4">
            <a:extLst>
              <a:ext uri="{FF2B5EF4-FFF2-40B4-BE49-F238E27FC236}">
                <a16:creationId xmlns:a16="http://schemas.microsoft.com/office/drawing/2014/main" id="{C36B924C-63C3-2BEE-3832-D1C72A8D7BC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63239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CA20B-F45D-333E-76CA-1264A3F54F7C}"/>
              </a:ext>
            </a:extLst>
          </p:cNvPr>
          <p:cNvSpPr>
            <a:spLocks noGrp="1"/>
          </p:cNvSpPr>
          <p:nvPr>
            <p:ph type="title"/>
          </p:nvPr>
        </p:nvSpPr>
        <p:spPr/>
        <p:txBody>
          <a:bodyPr/>
          <a:lstStyle/>
          <a:p>
            <a:r>
              <a:rPr lang="en-US" dirty="0"/>
              <a:t>We use transistors to implement "gates"</a:t>
            </a:r>
          </a:p>
        </p:txBody>
      </p:sp>
      <p:sp>
        <p:nvSpPr>
          <p:cNvPr id="3" name="Content Placeholder 2">
            <a:extLst>
              <a:ext uri="{FF2B5EF4-FFF2-40B4-BE49-F238E27FC236}">
                <a16:creationId xmlns:a16="http://schemas.microsoft.com/office/drawing/2014/main" id="{2DFF8340-A31F-8E19-83A3-CB2005E5C07F}"/>
              </a:ext>
            </a:extLst>
          </p:cNvPr>
          <p:cNvSpPr>
            <a:spLocks noGrp="1"/>
          </p:cNvSpPr>
          <p:nvPr>
            <p:ph idx="1"/>
          </p:nvPr>
        </p:nvSpPr>
        <p:spPr>
          <a:xfrm>
            <a:off x="838200" y="1825625"/>
            <a:ext cx="6366468" cy="4351338"/>
          </a:xfrm>
        </p:spPr>
        <p:txBody>
          <a:bodyPr>
            <a:normAutofit lnSpcReduction="10000"/>
          </a:bodyPr>
          <a:lstStyle/>
          <a:p>
            <a:r>
              <a:rPr lang="en-US" dirty="0"/>
              <a:t>When we build digital logic we think in terms of </a:t>
            </a:r>
            <a:r>
              <a:rPr lang="en-US" b="1" dirty="0"/>
              <a:t>abstractions</a:t>
            </a:r>
            <a:r>
              <a:rPr lang="en-US" dirty="0"/>
              <a:t> that we call "gates"</a:t>
            </a:r>
          </a:p>
          <a:p>
            <a:r>
              <a:rPr lang="en-US" dirty="0"/>
              <a:t>Gates let us think about in 1's and 0's instead of voltages</a:t>
            </a:r>
          </a:p>
          <a:p>
            <a:r>
              <a:rPr lang="en-US" dirty="0"/>
              <a:t>The simplest gate is a "not" gate where the output is the opposite of the input</a:t>
            </a:r>
          </a:p>
          <a:p>
            <a:r>
              <a:rPr lang="en-US" dirty="0"/>
              <a:t>It demonstrates a circuit that reacts – like a simple "if" statement</a:t>
            </a:r>
          </a:p>
          <a:p>
            <a:r>
              <a:rPr lang="en-US" dirty="0"/>
              <a:t>We will build more complex logic circuits</a:t>
            </a:r>
          </a:p>
          <a:p>
            <a:endParaRPr lang="en-US" dirty="0"/>
          </a:p>
        </p:txBody>
      </p:sp>
      <p:pic>
        <p:nvPicPr>
          <p:cNvPr id="5" name="Picture 4" descr="A logical Not symbol.">
            <a:extLst>
              <a:ext uri="{FF2B5EF4-FFF2-40B4-BE49-F238E27FC236}">
                <a16:creationId xmlns:a16="http://schemas.microsoft.com/office/drawing/2014/main" id="{2087AEBF-5040-8174-9BF1-B74BCD3204C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028634" y="1690689"/>
            <a:ext cx="3486778" cy="1255240"/>
          </a:xfrm>
          <a:prstGeom prst="rect">
            <a:avLst/>
          </a:prstGeom>
        </p:spPr>
      </p:pic>
      <p:graphicFrame>
        <p:nvGraphicFramePr>
          <p:cNvPr id="6" name="Table 5">
            <a:extLst>
              <a:ext uri="{FF2B5EF4-FFF2-40B4-BE49-F238E27FC236}">
                <a16:creationId xmlns:a16="http://schemas.microsoft.com/office/drawing/2014/main" id="{880131AB-DA3E-C7BB-9B9B-6748D78A3622}"/>
              </a:ext>
            </a:extLst>
          </p:cNvPr>
          <p:cNvGraphicFramePr>
            <a:graphicFrameLocks noGrp="1"/>
          </p:cNvGraphicFramePr>
          <p:nvPr>
            <p:extLst>
              <p:ext uri="{D42A27DB-BD31-4B8C-83A1-F6EECF244321}">
                <p14:modId xmlns:p14="http://schemas.microsoft.com/office/powerpoint/2010/main" val="4204216143"/>
              </p:ext>
            </p:extLst>
          </p:nvPr>
        </p:nvGraphicFramePr>
        <p:xfrm>
          <a:off x="8171544" y="3593493"/>
          <a:ext cx="2891692" cy="1255239"/>
        </p:xfrm>
        <a:graphic>
          <a:graphicData uri="http://schemas.openxmlformats.org/drawingml/2006/table">
            <a:tbl>
              <a:tblPr firstRow="1" bandRow="1">
                <a:tableStyleId>{5C22544A-7EE6-4342-B048-85BDC9FD1C3A}</a:tableStyleId>
              </a:tblPr>
              <a:tblGrid>
                <a:gridCol w="1445846">
                  <a:extLst>
                    <a:ext uri="{9D8B030D-6E8A-4147-A177-3AD203B41FA5}">
                      <a16:colId xmlns:a16="http://schemas.microsoft.com/office/drawing/2014/main" val="434005091"/>
                    </a:ext>
                  </a:extLst>
                </a:gridCol>
                <a:gridCol w="1445846">
                  <a:extLst>
                    <a:ext uri="{9D8B030D-6E8A-4147-A177-3AD203B41FA5}">
                      <a16:colId xmlns:a16="http://schemas.microsoft.com/office/drawing/2014/main" val="1017842541"/>
                    </a:ext>
                  </a:extLst>
                </a:gridCol>
              </a:tblGrid>
              <a:tr h="418413">
                <a:tc>
                  <a:txBody>
                    <a:bodyPr/>
                    <a:lstStyle/>
                    <a:p>
                      <a:pPr algn="ctr"/>
                      <a:r>
                        <a:rPr lang="en-US" dirty="0"/>
                        <a:t>Input</a:t>
                      </a:r>
                    </a:p>
                  </a:txBody>
                  <a:tcPr/>
                </a:tc>
                <a:tc>
                  <a:txBody>
                    <a:bodyPr/>
                    <a:lstStyle/>
                    <a:p>
                      <a:pPr algn="ctr"/>
                      <a:r>
                        <a:rPr lang="en-US" dirty="0"/>
                        <a:t>Output</a:t>
                      </a:r>
                    </a:p>
                  </a:txBody>
                  <a:tcPr/>
                </a:tc>
                <a:extLst>
                  <a:ext uri="{0D108BD9-81ED-4DB2-BD59-A6C34878D82A}">
                    <a16:rowId xmlns:a16="http://schemas.microsoft.com/office/drawing/2014/main" val="1893480945"/>
                  </a:ext>
                </a:extLst>
              </a:tr>
              <a:tr h="418413">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2456066162"/>
                  </a:ext>
                </a:extLst>
              </a:tr>
              <a:tr h="418413">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640376286"/>
                  </a:ext>
                </a:extLst>
              </a:tr>
            </a:tbl>
          </a:graphicData>
        </a:graphic>
      </p:graphicFrame>
      <p:sp>
        <p:nvSpPr>
          <p:cNvPr id="4" name="TextBox 3">
            <a:extLst>
              <a:ext uri="{FF2B5EF4-FFF2-40B4-BE49-F238E27FC236}">
                <a16:creationId xmlns:a16="http://schemas.microsoft.com/office/drawing/2014/main" id="{FC79DBCD-9B0A-5DAA-FF6C-944E0BC840A3}"/>
              </a:ext>
            </a:extLst>
          </p:cNvPr>
          <p:cNvSpPr txBox="1"/>
          <p:nvPr/>
        </p:nvSpPr>
        <p:spPr>
          <a:xfrm>
            <a:off x="7483751" y="5496296"/>
            <a:ext cx="4708250" cy="338554"/>
          </a:xfrm>
          <a:prstGeom prst="rect">
            <a:avLst/>
          </a:prstGeom>
          <a:noFill/>
        </p:spPr>
        <p:txBody>
          <a:bodyPr wrap="square">
            <a:spAutoFit/>
          </a:bodyPr>
          <a:lstStyle/>
          <a:p>
            <a:r>
              <a:rPr lang="en-US" sz="1600" dirty="0"/>
              <a:t>https://</a:t>
            </a:r>
            <a:r>
              <a:rPr lang="en-US" sz="1600" dirty="0" err="1"/>
              <a:t>en.wikipedia.org</a:t>
            </a:r>
            <a:r>
              <a:rPr lang="en-US" sz="1600" dirty="0"/>
              <a:t>/wiki/Inverter_(</a:t>
            </a:r>
            <a:r>
              <a:rPr lang="en-US" sz="1600" dirty="0" err="1"/>
              <a:t>logic_gate</a:t>
            </a:r>
            <a:r>
              <a:rPr lang="en-US" sz="1600" dirty="0"/>
              <a:t>)</a:t>
            </a:r>
          </a:p>
        </p:txBody>
      </p:sp>
    </p:spTree>
    <p:extLst>
      <p:ext uri="{BB962C8B-B14F-4D97-AF65-F5344CB8AC3E}">
        <p14:creationId xmlns:p14="http://schemas.microsoft.com/office/powerpoint/2010/main" val="12444675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4EC38-4AF3-0AA0-8211-04502EEA6B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1C7BCA-8424-EB69-C160-0F975D4EB26B}"/>
              </a:ext>
            </a:extLst>
          </p:cNvPr>
          <p:cNvSpPr>
            <a:spLocks noGrp="1"/>
          </p:cNvSpPr>
          <p:nvPr>
            <p:ph type="title"/>
          </p:nvPr>
        </p:nvSpPr>
        <p:spPr/>
        <p:txBody>
          <a:bodyPr/>
          <a:lstStyle/>
          <a:p>
            <a:r>
              <a:rPr lang="en-US" dirty="0"/>
              <a:t>Not gate gate technology…</a:t>
            </a:r>
          </a:p>
        </p:txBody>
      </p:sp>
      <p:pic>
        <p:nvPicPr>
          <p:cNvPr id="4" name="Picture 3" descr="A logical Not symbol.">
            <a:extLst>
              <a:ext uri="{FF2B5EF4-FFF2-40B4-BE49-F238E27FC236}">
                <a16:creationId xmlns:a16="http://schemas.microsoft.com/office/drawing/2014/main" id="{1374D6FB-BE73-55A0-0724-84664A917EF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867022" y="283919"/>
            <a:ext cx="3486778" cy="1255240"/>
          </a:xfrm>
          <a:prstGeom prst="rect">
            <a:avLst/>
          </a:prstGeom>
        </p:spPr>
      </p:pic>
      <p:grpSp>
        <p:nvGrpSpPr>
          <p:cNvPr id="3" name="Group 2" descr="A diagram of a Not gate implemented with a single PMOS transistor and one resistor between the output and ground.  Circa 1972.">
            <a:extLst>
              <a:ext uri="{FF2B5EF4-FFF2-40B4-BE49-F238E27FC236}">
                <a16:creationId xmlns:a16="http://schemas.microsoft.com/office/drawing/2014/main" id="{478F40F6-05C6-4AAB-F37C-666C16CCAC5D}"/>
              </a:ext>
            </a:extLst>
          </p:cNvPr>
          <p:cNvGrpSpPr/>
          <p:nvPr/>
        </p:nvGrpSpPr>
        <p:grpSpPr>
          <a:xfrm>
            <a:off x="1456814" y="2148052"/>
            <a:ext cx="2811183" cy="3727146"/>
            <a:chOff x="1456814" y="2148052"/>
            <a:chExt cx="2811183" cy="3727146"/>
          </a:xfrm>
        </p:grpSpPr>
        <p:grpSp>
          <p:nvGrpSpPr>
            <p:cNvPr id="43" name="Group 42" descr="A diagram of a Not gate implemented with a single PMOS transistor and one resistor between the output and ground.  Circa 1972.">
              <a:extLst>
                <a:ext uri="{FF2B5EF4-FFF2-40B4-BE49-F238E27FC236}">
                  <a16:creationId xmlns:a16="http://schemas.microsoft.com/office/drawing/2014/main" id="{27C5DEA0-3FB9-B517-F098-DBD76E22ED1B}"/>
                </a:ext>
              </a:extLst>
            </p:cNvPr>
            <p:cNvGrpSpPr/>
            <p:nvPr/>
          </p:nvGrpSpPr>
          <p:grpSpPr>
            <a:xfrm>
              <a:off x="1456814" y="2148052"/>
              <a:ext cx="2811183" cy="3211026"/>
              <a:chOff x="1456814" y="2148052"/>
              <a:chExt cx="2811183" cy="3211026"/>
            </a:xfrm>
          </p:grpSpPr>
          <p:pic>
            <p:nvPicPr>
              <p:cNvPr id="30" name="Picture 29" descr="A diagram of a NOT gate using a single PMOS transistor with a resistor between the output and ground.  There is an emoji suggesting that the resistor is getting very warm.">
                <a:extLst>
                  <a:ext uri="{FF2B5EF4-FFF2-40B4-BE49-F238E27FC236}">
                    <a16:creationId xmlns:a16="http://schemas.microsoft.com/office/drawing/2014/main" id="{1BF623EB-E2CD-684E-6E87-24759B02528C}"/>
                  </a:ext>
                </a:extLst>
              </p:cNvPr>
              <p:cNvPicPr>
                <a:picLocks noChangeAspect="1"/>
              </p:cNvPicPr>
              <p:nvPr/>
            </p:nvPicPr>
            <p:blipFill>
              <a:blip r:embed="rId4"/>
              <a:stretch>
                <a:fillRect/>
              </a:stretch>
            </p:blipFill>
            <p:spPr>
              <a:xfrm>
                <a:off x="1811928" y="2362200"/>
                <a:ext cx="1761648" cy="2565400"/>
              </a:xfrm>
              <a:prstGeom prst="rect">
                <a:avLst/>
              </a:prstGeom>
            </p:spPr>
          </p:pic>
          <p:sp>
            <p:nvSpPr>
              <p:cNvPr id="33" name="TextBox 32" descr="A diagram of a NOT gate using a single PMOS transistor with a resistor.  There is an emoji suggesting that the resistor is getting very warm.">
                <a:extLst>
                  <a:ext uri="{FF2B5EF4-FFF2-40B4-BE49-F238E27FC236}">
                    <a16:creationId xmlns:a16="http://schemas.microsoft.com/office/drawing/2014/main" id="{385BC9FB-2127-0899-9E13-E71A41C8A484}"/>
                  </a:ext>
                </a:extLst>
              </p:cNvPr>
              <p:cNvSpPr txBox="1"/>
              <p:nvPr/>
            </p:nvSpPr>
            <p:spPr>
              <a:xfrm>
                <a:off x="2694986" y="4774303"/>
                <a:ext cx="499109" cy="584775"/>
              </a:xfrm>
              <a:prstGeom prst="rect">
                <a:avLst/>
              </a:prstGeom>
              <a:noFill/>
              <a:ln>
                <a:noFill/>
              </a:ln>
            </p:spPr>
            <p:txBody>
              <a:bodyPr wrap="square" rtlCol="0">
                <a:spAutoFit/>
              </a:bodyPr>
              <a:lstStyle/>
              <a:p>
                <a:r>
                  <a:rPr lang="en-US" sz="3200" dirty="0"/>
                  <a:t>⏚</a:t>
                </a:r>
              </a:p>
            </p:txBody>
          </p:sp>
          <p:sp>
            <p:nvSpPr>
              <p:cNvPr id="34" name="TextBox 33" descr="A diagram of a NOT gate using a single PMOS transistor with a resistor.  There is an emoji suggesting that the resistor is getting very warm.">
                <a:extLst>
                  <a:ext uri="{FF2B5EF4-FFF2-40B4-BE49-F238E27FC236}">
                    <a16:creationId xmlns:a16="http://schemas.microsoft.com/office/drawing/2014/main" id="{836FDE38-5796-DCC8-C4D1-EB93DA131801}"/>
                  </a:ext>
                </a:extLst>
              </p:cNvPr>
              <p:cNvSpPr txBox="1"/>
              <p:nvPr/>
            </p:nvSpPr>
            <p:spPr>
              <a:xfrm>
                <a:off x="1456814" y="2823061"/>
                <a:ext cx="402674" cy="523220"/>
              </a:xfrm>
              <a:prstGeom prst="rect">
                <a:avLst/>
              </a:prstGeom>
              <a:solidFill>
                <a:schemeClr val="bg1"/>
              </a:solidFill>
            </p:spPr>
            <p:txBody>
              <a:bodyPr wrap="none" rtlCol="0">
                <a:spAutoFit/>
              </a:bodyPr>
              <a:lstStyle/>
              <a:p>
                <a:r>
                  <a:rPr lang="en-US" sz="2800" dirty="0"/>
                  <a:t>A</a:t>
                </a:r>
              </a:p>
            </p:txBody>
          </p:sp>
          <p:sp>
            <p:nvSpPr>
              <p:cNvPr id="35" name="TextBox 34" descr="A diagram of a NOT gate using a single PMOS transistor with a resistor.  There is an emoji suggesting that the resistor is getting very warm.">
                <a:extLst>
                  <a:ext uri="{FF2B5EF4-FFF2-40B4-BE49-F238E27FC236}">
                    <a16:creationId xmlns:a16="http://schemas.microsoft.com/office/drawing/2014/main" id="{E5ECC3E6-0DAD-3D58-BC59-D35A288DB187}"/>
                  </a:ext>
                </a:extLst>
              </p:cNvPr>
              <p:cNvSpPr txBox="1"/>
              <p:nvPr/>
            </p:nvSpPr>
            <p:spPr>
              <a:xfrm>
                <a:off x="3573576" y="3429000"/>
                <a:ext cx="694421" cy="523220"/>
              </a:xfrm>
              <a:prstGeom prst="rect">
                <a:avLst/>
              </a:prstGeom>
              <a:solidFill>
                <a:schemeClr val="bg1"/>
              </a:solidFill>
            </p:spPr>
            <p:txBody>
              <a:bodyPr wrap="none" rtlCol="0">
                <a:spAutoFit/>
              </a:bodyPr>
              <a:lstStyle/>
              <a:p>
                <a:r>
                  <a:rPr lang="en-US" sz="2800" dirty="0"/>
                  <a:t>out</a:t>
                </a:r>
              </a:p>
            </p:txBody>
          </p:sp>
          <p:sp>
            <p:nvSpPr>
              <p:cNvPr id="37" name="TextBox 36" descr="A diagram of a NOT gate using a single PMOS transistor with a resistor.  There is an emoji suggesting that the resistor is getting very warm.">
                <a:extLst>
                  <a:ext uri="{FF2B5EF4-FFF2-40B4-BE49-F238E27FC236}">
                    <a16:creationId xmlns:a16="http://schemas.microsoft.com/office/drawing/2014/main" id="{31D4F100-164A-923C-98B5-99A334C2E694}"/>
                  </a:ext>
                </a:extLst>
              </p:cNvPr>
              <p:cNvSpPr txBox="1"/>
              <p:nvPr/>
            </p:nvSpPr>
            <p:spPr>
              <a:xfrm>
                <a:off x="1477075" y="2148052"/>
                <a:ext cx="764825" cy="523220"/>
              </a:xfrm>
              <a:prstGeom prst="rect">
                <a:avLst/>
              </a:prstGeom>
              <a:solidFill>
                <a:schemeClr val="bg1"/>
              </a:solidFill>
            </p:spPr>
            <p:txBody>
              <a:bodyPr wrap="none" rtlCol="0">
                <a:spAutoFit/>
              </a:bodyPr>
              <a:lstStyle/>
              <a:p>
                <a:r>
                  <a:rPr lang="en-US" sz="2800" dirty="0" err="1"/>
                  <a:t>Vdd</a:t>
                </a:r>
                <a:endParaRPr lang="en-US" sz="2800" dirty="0"/>
              </a:p>
            </p:txBody>
          </p:sp>
        </p:grpSp>
        <p:sp>
          <p:nvSpPr>
            <p:cNvPr id="36" name="TextBox 35">
              <a:extLst>
                <a:ext uri="{FF2B5EF4-FFF2-40B4-BE49-F238E27FC236}">
                  <a16:creationId xmlns:a16="http://schemas.microsoft.com/office/drawing/2014/main" id="{ED111901-C355-EFA8-EB2A-364A755803E3}"/>
                </a:ext>
              </a:extLst>
            </p:cNvPr>
            <p:cNvSpPr txBox="1"/>
            <p:nvPr/>
          </p:nvSpPr>
          <p:spPr>
            <a:xfrm>
              <a:off x="1991278" y="5505866"/>
              <a:ext cx="1402948" cy="369332"/>
            </a:xfrm>
            <a:prstGeom prst="rect">
              <a:avLst/>
            </a:prstGeom>
            <a:noFill/>
          </p:spPr>
          <p:txBody>
            <a:bodyPr wrap="none" rtlCol="0">
              <a:spAutoFit/>
            </a:bodyPr>
            <a:lstStyle/>
            <a:p>
              <a:r>
                <a:rPr lang="en-US" dirty="0"/>
                <a:t>PMOS - 1972</a:t>
              </a:r>
            </a:p>
          </p:txBody>
        </p:sp>
      </p:grpSp>
      <p:grpSp>
        <p:nvGrpSpPr>
          <p:cNvPr id="7" name="Group 6" descr="A diagram of a Not gate implemented with a single NMOS transistor and one resistor between the VDD and output.  Circa 1972">
            <a:extLst>
              <a:ext uri="{FF2B5EF4-FFF2-40B4-BE49-F238E27FC236}">
                <a16:creationId xmlns:a16="http://schemas.microsoft.com/office/drawing/2014/main" id="{9EF06062-0385-0F42-E200-67DC43C88495}"/>
              </a:ext>
            </a:extLst>
          </p:cNvPr>
          <p:cNvGrpSpPr/>
          <p:nvPr/>
        </p:nvGrpSpPr>
        <p:grpSpPr>
          <a:xfrm>
            <a:off x="5023686" y="2100590"/>
            <a:ext cx="2785743" cy="3750330"/>
            <a:chOff x="5023686" y="2100590"/>
            <a:chExt cx="2785743" cy="3750330"/>
          </a:xfrm>
        </p:grpSpPr>
        <p:grpSp>
          <p:nvGrpSpPr>
            <p:cNvPr id="62" name="Group 61" descr="A diagram of a Not gate implemented with a single NMOS transistor and one resistor between the VDD and output.  Circa 1972">
              <a:extLst>
                <a:ext uri="{FF2B5EF4-FFF2-40B4-BE49-F238E27FC236}">
                  <a16:creationId xmlns:a16="http://schemas.microsoft.com/office/drawing/2014/main" id="{7BD3DE12-C23B-D745-7B66-D6A7835B857F}"/>
                </a:ext>
              </a:extLst>
            </p:cNvPr>
            <p:cNvGrpSpPr/>
            <p:nvPr/>
          </p:nvGrpSpPr>
          <p:grpSpPr>
            <a:xfrm>
              <a:off x="5023686" y="2100590"/>
              <a:ext cx="2785743" cy="3284784"/>
              <a:chOff x="5023686" y="2100590"/>
              <a:chExt cx="2785743" cy="3284784"/>
            </a:xfrm>
          </p:grpSpPr>
          <p:pic>
            <p:nvPicPr>
              <p:cNvPr id="6" name="Picture 5" descr="A diagram of a Not gate implemented with a single transistor using NMOS.  ">
                <a:extLst>
                  <a:ext uri="{FF2B5EF4-FFF2-40B4-BE49-F238E27FC236}">
                    <a16:creationId xmlns:a16="http://schemas.microsoft.com/office/drawing/2014/main" id="{E69AE0A8-8B4D-0A07-E439-880CA332D2FB}"/>
                  </a:ext>
                </a:extLst>
              </p:cNvPr>
              <p:cNvPicPr>
                <a:picLocks noChangeAspect="1"/>
              </p:cNvPicPr>
              <p:nvPr/>
            </p:nvPicPr>
            <p:blipFill>
              <a:blip r:embed="rId5"/>
              <a:srcRect t="8422" b="29088"/>
              <a:stretch/>
            </p:blipFill>
            <p:spPr>
              <a:xfrm>
                <a:off x="5042485" y="2362200"/>
                <a:ext cx="2411830" cy="2565400"/>
              </a:xfrm>
              <a:prstGeom prst="rect">
                <a:avLst/>
              </a:prstGeom>
            </p:spPr>
          </p:pic>
          <p:sp>
            <p:nvSpPr>
              <p:cNvPr id="9" name="TextBox 8">
                <a:extLst>
                  <a:ext uri="{FF2B5EF4-FFF2-40B4-BE49-F238E27FC236}">
                    <a16:creationId xmlns:a16="http://schemas.microsoft.com/office/drawing/2014/main" id="{AA6ADF24-2710-7D89-9D32-92172F859856}"/>
                  </a:ext>
                </a:extLst>
              </p:cNvPr>
              <p:cNvSpPr txBox="1"/>
              <p:nvPr/>
            </p:nvSpPr>
            <p:spPr>
              <a:xfrm>
                <a:off x="5023686" y="4056515"/>
                <a:ext cx="402674" cy="523220"/>
              </a:xfrm>
              <a:prstGeom prst="rect">
                <a:avLst/>
              </a:prstGeom>
              <a:solidFill>
                <a:schemeClr val="bg1"/>
              </a:solidFill>
            </p:spPr>
            <p:txBody>
              <a:bodyPr wrap="none" rtlCol="0">
                <a:spAutoFit/>
              </a:bodyPr>
              <a:lstStyle/>
              <a:p>
                <a:r>
                  <a:rPr lang="en-US" sz="2800" dirty="0"/>
                  <a:t>A</a:t>
                </a:r>
              </a:p>
            </p:txBody>
          </p:sp>
          <p:sp>
            <p:nvSpPr>
              <p:cNvPr id="10" name="TextBox 9">
                <a:extLst>
                  <a:ext uri="{FF2B5EF4-FFF2-40B4-BE49-F238E27FC236}">
                    <a16:creationId xmlns:a16="http://schemas.microsoft.com/office/drawing/2014/main" id="{0787FDF0-687D-E7EC-F5CA-1DCF2217E972}"/>
                  </a:ext>
                </a:extLst>
              </p:cNvPr>
              <p:cNvSpPr txBox="1"/>
              <p:nvPr/>
            </p:nvSpPr>
            <p:spPr>
              <a:xfrm>
                <a:off x="5043947" y="2100590"/>
                <a:ext cx="764825" cy="523220"/>
              </a:xfrm>
              <a:prstGeom prst="rect">
                <a:avLst/>
              </a:prstGeom>
              <a:solidFill>
                <a:schemeClr val="bg1"/>
              </a:solidFill>
            </p:spPr>
            <p:txBody>
              <a:bodyPr wrap="none" rtlCol="0">
                <a:spAutoFit/>
              </a:bodyPr>
              <a:lstStyle/>
              <a:p>
                <a:r>
                  <a:rPr lang="en-US" sz="2800" dirty="0" err="1"/>
                  <a:t>Vdd</a:t>
                </a:r>
                <a:endParaRPr lang="en-US" sz="2800" dirty="0"/>
              </a:p>
            </p:txBody>
          </p:sp>
          <p:sp>
            <p:nvSpPr>
              <p:cNvPr id="12" name="TextBox 11">
                <a:extLst>
                  <a:ext uri="{FF2B5EF4-FFF2-40B4-BE49-F238E27FC236}">
                    <a16:creationId xmlns:a16="http://schemas.microsoft.com/office/drawing/2014/main" id="{09C7CDD7-9288-835F-8CF4-0056E648D76F}"/>
                  </a:ext>
                </a:extLst>
              </p:cNvPr>
              <p:cNvSpPr txBox="1"/>
              <p:nvPr/>
            </p:nvSpPr>
            <p:spPr>
              <a:xfrm>
                <a:off x="7115008" y="3334460"/>
                <a:ext cx="694421" cy="523220"/>
              </a:xfrm>
              <a:prstGeom prst="rect">
                <a:avLst/>
              </a:prstGeom>
              <a:solidFill>
                <a:schemeClr val="bg1"/>
              </a:solidFill>
            </p:spPr>
            <p:txBody>
              <a:bodyPr wrap="none" rtlCol="0">
                <a:spAutoFit/>
              </a:bodyPr>
              <a:lstStyle/>
              <a:p>
                <a:r>
                  <a:rPr lang="en-US" sz="2800" dirty="0"/>
                  <a:t>out</a:t>
                </a:r>
              </a:p>
            </p:txBody>
          </p:sp>
          <p:sp>
            <p:nvSpPr>
              <p:cNvPr id="16" name="TextBox 15">
                <a:extLst>
                  <a:ext uri="{FF2B5EF4-FFF2-40B4-BE49-F238E27FC236}">
                    <a16:creationId xmlns:a16="http://schemas.microsoft.com/office/drawing/2014/main" id="{4FCCB9EB-1B02-F242-8BB1-036360975E5D}"/>
                  </a:ext>
                </a:extLst>
              </p:cNvPr>
              <p:cNvSpPr txBox="1"/>
              <p:nvPr/>
            </p:nvSpPr>
            <p:spPr>
              <a:xfrm>
                <a:off x="6135214" y="4800599"/>
                <a:ext cx="499109" cy="584775"/>
              </a:xfrm>
              <a:prstGeom prst="rect">
                <a:avLst/>
              </a:prstGeom>
              <a:noFill/>
              <a:ln>
                <a:noFill/>
              </a:ln>
            </p:spPr>
            <p:txBody>
              <a:bodyPr wrap="square" rtlCol="0">
                <a:spAutoFit/>
              </a:bodyPr>
              <a:lstStyle/>
              <a:p>
                <a:r>
                  <a:rPr lang="en-US" sz="3200" dirty="0"/>
                  <a:t>⏚</a:t>
                </a:r>
              </a:p>
            </p:txBody>
          </p:sp>
        </p:grpSp>
        <p:sp>
          <p:nvSpPr>
            <p:cNvPr id="20" name="TextBox 19">
              <a:extLst>
                <a:ext uri="{FF2B5EF4-FFF2-40B4-BE49-F238E27FC236}">
                  <a16:creationId xmlns:a16="http://schemas.microsoft.com/office/drawing/2014/main" id="{29357D55-FBB1-EA93-FAE0-B32BFB75B5CB}"/>
                </a:ext>
              </a:extLst>
            </p:cNvPr>
            <p:cNvSpPr txBox="1"/>
            <p:nvPr/>
          </p:nvSpPr>
          <p:spPr>
            <a:xfrm>
              <a:off x="5537628" y="5481588"/>
              <a:ext cx="1433406" cy="369332"/>
            </a:xfrm>
            <a:prstGeom prst="rect">
              <a:avLst/>
            </a:prstGeom>
            <a:noFill/>
          </p:spPr>
          <p:txBody>
            <a:bodyPr wrap="none" rtlCol="0">
              <a:spAutoFit/>
            </a:bodyPr>
            <a:lstStyle/>
            <a:p>
              <a:r>
                <a:rPr lang="en-US" dirty="0"/>
                <a:t>NMOS - 1978</a:t>
              </a:r>
            </a:p>
          </p:txBody>
        </p:sp>
      </p:grpSp>
      <p:grpSp>
        <p:nvGrpSpPr>
          <p:cNvPr id="8" name="Group 7" descr="A diagram of a Not gate implemented with two transistors using CMOS.  The input is connected to the gate of PMOS and NMOS transistors. If the input is 0, the PMOS transistor opened and the NMOS transistor closed so VDD is connected to the output.   If the input is 1, the PMOS transistor closes and the NMOS transistor opens and ground is connected to the output.  Circa 1983.">
            <a:extLst>
              <a:ext uri="{FF2B5EF4-FFF2-40B4-BE49-F238E27FC236}">
                <a16:creationId xmlns:a16="http://schemas.microsoft.com/office/drawing/2014/main" id="{CEB12022-4AF3-4C18-B754-F633BD222DC2}"/>
              </a:ext>
            </a:extLst>
          </p:cNvPr>
          <p:cNvGrpSpPr/>
          <p:nvPr/>
        </p:nvGrpSpPr>
        <p:grpSpPr>
          <a:xfrm>
            <a:off x="8427974" y="2016474"/>
            <a:ext cx="3233043" cy="3845527"/>
            <a:chOff x="8427974" y="2016474"/>
            <a:chExt cx="3233043" cy="3845527"/>
          </a:xfrm>
        </p:grpSpPr>
        <p:grpSp>
          <p:nvGrpSpPr>
            <p:cNvPr id="47" name="Group 46" descr="A diagram of a Not gate implemented with two transistors using CMOS.  The input is connected to the gate of PMOS and NMOS transistors. If the input is 0, the PMOS transistor opened and the NMOS transistor closed so VDD is connected to the output.   If the input is 1, the PMOS transistor closes and the NMOS transistor opens and ground is connected to the output.  ">
              <a:extLst>
                <a:ext uri="{FF2B5EF4-FFF2-40B4-BE49-F238E27FC236}">
                  <a16:creationId xmlns:a16="http://schemas.microsoft.com/office/drawing/2014/main" id="{FAF8DBB9-DE85-F907-8256-981AEE85F991}"/>
                </a:ext>
              </a:extLst>
            </p:cNvPr>
            <p:cNvGrpSpPr/>
            <p:nvPr/>
          </p:nvGrpSpPr>
          <p:grpSpPr>
            <a:xfrm>
              <a:off x="8427974" y="2016474"/>
              <a:ext cx="3233043" cy="3401940"/>
              <a:chOff x="8427974" y="2016474"/>
              <a:chExt cx="3233043" cy="3401940"/>
            </a:xfrm>
          </p:grpSpPr>
          <p:pic>
            <p:nvPicPr>
              <p:cNvPr id="5" name="Picture 4" descr="A diagram of a Not gate implemented with two transistors using CMOS.  The input is connected to the gate of a PMOS and NMOS transistors. If the input is 0, the PMOS transister opened and the NMPS transistor closed so VCC is connected to the output.  the output is 1 because the PMOS transister is closed and the voltage to goes to output.   If the input is 1, the PMOS transistor closes and the NMOS transistor opens and ground is connected ot the output.">
                <a:extLst>
                  <a:ext uri="{FF2B5EF4-FFF2-40B4-BE49-F238E27FC236}">
                    <a16:creationId xmlns:a16="http://schemas.microsoft.com/office/drawing/2014/main" id="{F286EC00-CB95-3257-DD9C-97E1AF020F69}"/>
                  </a:ext>
                </a:extLst>
              </p:cNvPr>
              <p:cNvPicPr>
                <a:picLocks noChangeAspect="1"/>
              </p:cNvPicPr>
              <p:nvPr/>
            </p:nvPicPr>
            <p:blipFill>
              <a:blip r:embed="rId6" cstate="print">
                <a:extLst>
                  <a:ext uri="{28A0092B-C50C-407E-A947-70E740481C1C}">
                    <a14:useLocalDpi xmlns:a14="http://schemas.microsoft.com/office/drawing/2010/main"/>
                  </a:ext>
                </a:extLst>
              </a:blip>
              <a:srcRect l="19468" r="21660" b="15929"/>
              <a:stretch/>
            </p:blipFill>
            <p:spPr>
              <a:xfrm>
                <a:off x="9017001" y="2016474"/>
                <a:ext cx="1949596" cy="3101626"/>
              </a:xfrm>
              <a:prstGeom prst="rect">
                <a:avLst/>
              </a:prstGeom>
            </p:spPr>
          </p:pic>
          <p:sp>
            <p:nvSpPr>
              <p:cNvPr id="11" name="TextBox 10">
                <a:extLst>
                  <a:ext uri="{FF2B5EF4-FFF2-40B4-BE49-F238E27FC236}">
                    <a16:creationId xmlns:a16="http://schemas.microsoft.com/office/drawing/2014/main" id="{22F1F6DB-47F1-AC2C-B77B-A8D1CC836A0B}"/>
                  </a:ext>
                </a:extLst>
              </p:cNvPr>
              <p:cNvSpPr txBox="1"/>
              <p:nvPr/>
            </p:nvSpPr>
            <p:spPr>
              <a:xfrm>
                <a:off x="8427974" y="2148052"/>
                <a:ext cx="764825" cy="523220"/>
              </a:xfrm>
              <a:prstGeom prst="rect">
                <a:avLst/>
              </a:prstGeom>
              <a:solidFill>
                <a:schemeClr val="bg1"/>
              </a:solidFill>
            </p:spPr>
            <p:txBody>
              <a:bodyPr wrap="none" rtlCol="0">
                <a:spAutoFit/>
              </a:bodyPr>
              <a:lstStyle/>
              <a:p>
                <a:r>
                  <a:rPr lang="en-US" sz="2800" dirty="0" err="1"/>
                  <a:t>Vdd</a:t>
                </a:r>
                <a:endParaRPr lang="en-US" sz="2800" dirty="0"/>
              </a:p>
            </p:txBody>
          </p:sp>
          <p:sp>
            <p:nvSpPr>
              <p:cNvPr id="13" name="TextBox 12">
                <a:extLst>
                  <a:ext uri="{FF2B5EF4-FFF2-40B4-BE49-F238E27FC236}">
                    <a16:creationId xmlns:a16="http://schemas.microsoft.com/office/drawing/2014/main" id="{848F383B-35DC-D355-8527-BDB73442EA90}"/>
                  </a:ext>
                </a:extLst>
              </p:cNvPr>
              <p:cNvSpPr txBox="1"/>
              <p:nvPr/>
            </p:nvSpPr>
            <p:spPr>
              <a:xfrm>
                <a:off x="10966596" y="3476410"/>
                <a:ext cx="694421" cy="523220"/>
              </a:xfrm>
              <a:prstGeom prst="rect">
                <a:avLst/>
              </a:prstGeom>
              <a:solidFill>
                <a:schemeClr val="bg1"/>
              </a:solidFill>
            </p:spPr>
            <p:txBody>
              <a:bodyPr wrap="none" rtlCol="0">
                <a:spAutoFit/>
              </a:bodyPr>
              <a:lstStyle/>
              <a:p>
                <a:r>
                  <a:rPr lang="en-US" sz="2800" dirty="0"/>
                  <a:t>out</a:t>
                </a:r>
              </a:p>
            </p:txBody>
          </p:sp>
          <p:sp>
            <p:nvSpPr>
              <p:cNvPr id="14" name="TextBox 13">
                <a:extLst>
                  <a:ext uri="{FF2B5EF4-FFF2-40B4-BE49-F238E27FC236}">
                    <a16:creationId xmlns:a16="http://schemas.microsoft.com/office/drawing/2014/main" id="{77FFEF29-8B77-16BE-FD91-682EF28724B4}"/>
                  </a:ext>
                </a:extLst>
              </p:cNvPr>
              <p:cNvSpPr txBox="1"/>
              <p:nvPr/>
            </p:nvSpPr>
            <p:spPr>
              <a:xfrm>
                <a:off x="8630486" y="3461614"/>
                <a:ext cx="402674" cy="523220"/>
              </a:xfrm>
              <a:prstGeom prst="rect">
                <a:avLst/>
              </a:prstGeom>
              <a:solidFill>
                <a:schemeClr val="bg1"/>
              </a:solidFill>
            </p:spPr>
            <p:txBody>
              <a:bodyPr wrap="none" rtlCol="0">
                <a:spAutoFit/>
              </a:bodyPr>
              <a:lstStyle/>
              <a:p>
                <a:r>
                  <a:rPr lang="en-US" sz="2800" dirty="0"/>
                  <a:t>A</a:t>
                </a:r>
              </a:p>
            </p:txBody>
          </p:sp>
          <p:sp>
            <p:nvSpPr>
              <p:cNvPr id="15" name="TextBox 14">
                <a:extLst>
                  <a:ext uri="{FF2B5EF4-FFF2-40B4-BE49-F238E27FC236}">
                    <a16:creationId xmlns:a16="http://schemas.microsoft.com/office/drawing/2014/main" id="{B9AB9DF1-96B7-9979-3AA8-E6C4CFB97137}"/>
                  </a:ext>
                </a:extLst>
              </p:cNvPr>
              <p:cNvSpPr txBox="1"/>
              <p:nvPr/>
            </p:nvSpPr>
            <p:spPr>
              <a:xfrm>
                <a:off x="10059356" y="4833639"/>
                <a:ext cx="499109" cy="584775"/>
              </a:xfrm>
              <a:prstGeom prst="rect">
                <a:avLst/>
              </a:prstGeom>
              <a:noFill/>
            </p:spPr>
            <p:txBody>
              <a:bodyPr wrap="square" rtlCol="0">
                <a:spAutoFit/>
              </a:bodyPr>
              <a:lstStyle/>
              <a:p>
                <a:r>
                  <a:rPr lang="en-US" sz="3200" dirty="0"/>
                  <a:t>⏚</a:t>
                </a:r>
              </a:p>
            </p:txBody>
          </p:sp>
        </p:grpSp>
        <p:sp>
          <p:nvSpPr>
            <p:cNvPr id="21" name="TextBox 20">
              <a:extLst>
                <a:ext uri="{FF2B5EF4-FFF2-40B4-BE49-F238E27FC236}">
                  <a16:creationId xmlns:a16="http://schemas.microsoft.com/office/drawing/2014/main" id="{EEF492C9-B992-CFC7-0C15-5A3DC756FBDB}"/>
                </a:ext>
              </a:extLst>
            </p:cNvPr>
            <p:cNvSpPr txBox="1"/>
            <p:nvPr/>
          </p:nvSpPr>
          <p:spPr>
            <a:xfrm>
              <a:off x="9459959" y="5492669"/>
              <a:ext cx="1407758" cy="369332"/>
            </a:xfrm>
            <a:prstGeom prst="rect">
              <a:avLst/>
            </a:prstGeom>
            <a:noFill/>
          </p:spPr>
          <p:txBody>
            <a:bodyPr wrap="none" rtlCol="0">
              <a:spAutoFit/>
            </a:bodyPr>
            <a:lstStyle/>
            <a:p>
              <a:r>
                <a:rPr lang="en-US" dirty="0"/>
                <a:t>CMOS - 1983</a:t>
              </a:r>
            </a:p>
          </p:txBody>
        </p:sp>
      </p:grpSp>
    </p:spTree>
    <p:extLst>
      <p:ext uri="{BB962C8B-B14F-4D97-AF65-F5344CB8AC3E}">
        <p14:creationId xmlns:p14="http://schemas.microsoft.com/office/powerpoint/2010/main" val="1969815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8D16D-2C2C-D91C-3E4A-058C1F6695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D785A0-F220-6E24-869C-44838DCB4C2C}"/>
              </a:ext>
            </a:extLst>
          </p:cNvPr>
          <p:cNvSpPr>
            <a:spLocks noGrp="1"/>
          </p:cNvSpPr>
          <p:nvPr>
            <p:ph type="title"/>
          </p:nvPr>
        </p:nvSpPr>
        <p:spPr/>
        <p:txBody>
          <a:bodyPr/>
          <a:lstStyle/>
          <a:p>
            <a:r>
              <a:rPr lang="en-US" dirty="0"/>
              <a:t>Hot gate heat (input 0)</a:t>
            </a:r>
          </a:p>
        </p:txBody>
      </p:sp>
      <p:pic>
        <p:nvPicPr>
          <p:cNvPr id="4" name="Picture 3" descr="A logical Not symbol.">
            <a:extLst>
              <a:ext uri="{FF2B5EF4-FFF2-40B4-BE49-F238E27FC236}">
                <a16:creationId xmlns:a16="http://schemas.microsoft.com/office/drawing/2014/main" id="{03758011-68C3-E00A-A2D0-67ADAE56DA7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867022" y="283919"/>
            <a:ext cx="3486778" cy="1255240"/>
          </a:xfrm>
          <a:prstGeom prst="rect">
            <a:avLst/>
          </a:prstGeom>
        </p:spPr>
      </p:pic>
      <p:grpSp>
        <p:nvGrpSpPr>
          <p:cNvPr id="26" name="Group 25" descr="The PMOS transistor is taking an input of 0 and producing an output of 1.  Since the transistor is closed with an input of 0, the VDD is going to output.  But VDD is also shorted to ground through the transistor so we add a resistor to avoid a short circuit.  While the input is 0 to a PMOS transistor, the resistor is generating significant heat. ">
            <a:extLst>
              <a:ext uri="{FF2B5EF4-FFF2-40B4-BE49-F238E27FC236}">
                <a16:creationId xmlns:a16="http://schemas.microsoft.com/office/drawing/2014/main" id="{5E16C871-CC3D-A06B-33E1-6AD0065B8A2F}"/>
              </a:ext>
            </a:extLst>
          </p:cNvPr>
          <p:cNvGrpSpPr/>
          <p:nvPr/>
        </p:nvGrpSpPr>
        <p:grpSpPr>
          <a:xfrm>
            <a:off x="1456814" y="2148052"/>
            <a:ext cx="2811183" cy="3727146"/>
            <a:chOff x="1456814" y="2148052"/>
            <a:chExt cx="2811183" cy="3727146"/>
          </a:xfrm>
        </p:grpSpPr>
        <p:sp>
          <p:nvSpPr>
            <p:cNvPr id="36" name="TextBox 35" descr="The PMOS transistor is taking an input of 0 and producing an output of 1.  Since the transistor is closed with an input of 0, the VDD is going to output.  But VDD is also shorted to ground through the transistor so we add a resistor to avoid a short circuit.  While the input is 0 to a PMOS transistor, the resistor is generating significant heat. ">
              <a:extLst>
                <a:ext uri="{FF2B5EF4-FFF2-40B4-BE49-F238E27FC236}">
                  <a16:creationId xmlns:a16="http://schemas.microsoft.com/office/drawing/2014/main" id="{BEFD3B26-3894-50F7-A85C-2FBDF0D13743}"/>
                </a:ext>
              </a:extLst>
            </p:cNvPr>
            <p:cNvSpPr txBox="1"/>
            <p:nvPr/>
          </p:nvSpPr>
          <p:spPr>
            <a:xfrm>
              <a:off x="1991278" y="5505866"/>
              <a:ext cx="1402948" cy="369332"/>
            </a:xfrm>
            <a:prstGeom prst="rect">
              <a:avLst/>
            </a:prstGeom>
            <a:noFill/>
          </p:spPr>
          <p:txBody>
            <a:bodyPr wrap="none" rtlCol="0">
              <a:spAutoFit/>
            </a:bodyPr>
            <a:lstStyle/>
            <a:p>
              <a:r>
                <a:rPr lang="en-US" dirty="0"/>
                <a:t>PMOS - 1972</a:t>
              </a:r>
            </a:p>
          </p:txBody>
        </p:sp>
        <p:grpSp>
          <p:nvGrpSpPr>
            <p:cNvPr id="43" name="Group 42" descr="The PMOS transistor is taking an input of 0 and producing an output of 1.  Since the transistor is closed with an input of 0, the VDD is going to output.  But VDD is also shorted to ground through the transistor so we add a resistor to avoid a short circuit.  While the input is 0 to a PMOS transistor, the resistor is generating significant heat. ">
              <a:extLst>
                <a:ext uri="{FF2B5EF4-FFF2-40B4-BE49-F238E27FC236}">
                  <a16:creationId xmlns:a16="http://schemas.microsoft.com/office/drawing/2014/main" id="{6855D4BF-1805-F2D4-BE85-8B343219D44A}"/>
                </a:ext>
              </a:extLst>
            </p:cNvPr>
            <p:cNvGrpSpPr/>
            <p:nvPr/>
          </p:nvGrpSpPr>
          <p:grpSpPr>
            <a:xfrm>
              <a:off x="1456814" y="2148052"/>
              <a:ext cx="2811183" cy="3211026"/>
              <a:chOff x="1456814" y="2148052"/>
              <a:chExt cx="2811183" cy="3211026"/>
            </a:xfrm>
          </p:grpSpPr>
          <p:pic>
            <p:nvPicPr>
              <p:cNvPr id="30" name="Picture 29" descr="A diagram of a NOT gate using a single PMOS transistor with a resistor between the output and ground.  There is an emoji suggesting that the resistor is getting very warm.">
                <a:extLst>
                  <a:ext uri="{FF2B5EF4-FFF2-40B4-BE49-F238E27FC236}">
                    <a16:creationId xmlns:a16="http://schemas.microsoft.com/office/drawing/2014/main" id="{A3633E7C-2145-7AB7-95F6-BD929F23D343}"/>
                  </a:ext>
                </a:extLst>
              </p:cNvPr>
              <p:cNvPicPr>
                <a:picLocks noChangeAspect="1"/>
              </p:cNvPicPr>
              <p:nvPr/>
            </p:nvPicPr>
            <p:blipFill>
              <a:blip r:embed="rId4"/>
              <a:stretch>
                <a:fillRect/>
              </a:stretch>
            </p:blipFill>
            <p:spPr>
              <a:xfrm>
                <a:off x="1811928" y="2362200"/>
                <a:ext cx="1761648" cy="2565400"/>
              </a:xfrm>
              <a:prstGeom prst="rect">
                <a:avLst/>
              </a:prstGeom>
            </p:spPr>
          </p:pic>
          <p:sp>
            <p:nvSpPr>
              <p:cNvPr id="33" name="TextBox 32" descr="A diagram of a NOT gate using a single PMOS transistor with a resistor.  There is an emoji suggesting that the resistor is getting very warm.">
                <a:extLst>
                  <a:ext uri="{FF2B5EF4-FFF2-40B4-BE49-F238E27FC236}">
                    <a16:creationId xmlns:a16="http://schemas.microsoft.com/office/drawing/2014/main" id="{A18C6099-D7B2-8947-DF11-3252E72DD1B3}"/>
                  </a:ext>
                </a:extLst>
              </p:cNvPr>
              <p:cNvSpPr txBox="1"/>
              <p:nvPr/>
            </p:nvSpPr>
            <p:spPr>
              <a:xfrm>
                <a:off x="2694986" y="4774303"/>
                <a:ext cx="499109" cy="584775"/>
              </a:xfrm>
              <a:prstGeom prst="rect">
                <a:avLst/>
              </a:prstGeom>
              <a:noFill/>
              <a:ln>
                <a:noFill/>
              </a:ln>
            </p:spPr>
            <p:txBody>
              <a:bodyPr wrap="square" rtlCol="0">
                <a:spAutoFit/>
              </a:bodyPr>
              <a:lstStyle/>
              <a:p>
                <a:r>
                  <a:rPr lang="en-US" sz="3200" dirty="0"/>
                  <a:t>⏚</a:t>
                </a:r>
              </a:p>
            </p:txBody>
          </p:sp>
          <p:sp>
            <p:nvSpPr>
              <p:cNvPr id="34" name="TextBox 33" descr="A diagram of a NOT gate using a single PMOS transistor with a resistor.  There is an emoji suggesting that the resistor is getting very warm.">
                <a:extLst>
                  <a:ext uri="{FF2B5EF4-FFF2-40B4-BE49-F238E27FC236}">
                    <a16:creationId xmlns:a16="http://schemas.microsoft.com/office/drawing/2014/main" id="{4FEADEAE-231E-A3C5-4212-C2A6CE2AC4A7}"/>
                  </a:ext>
                </a:extLst>
              </p:cNvPr>
              <p:cNvSpPr txBox="1"/>
              <p:nvPr/>
            </p:nvSpPr>
            <p:spPr>
              <a:xfrm>
                <a:off x="1456814" y="2823061"/>
                <a:ext cx="402674" cy="523220"/>
              </a:xfrm>
              <a:prstGeom prst="rect">
                <a:avLst/>
              </a:prstGeom>
              <a:solidFill>
                <a:schemeClr val="bg1"/>
              </a:solidFill>
            </p:spPr>
            <p:txBody>
              <a:bodyPr wrap="none" rtlCol="0">
                <a:spAutoFit/>
              </a:bodyPr>
              <a:lstStyle/>
              <a:p>
                <a:r>
                  <a:rPr lang="en-US" sz="2800" dirty="0"/>
                  <a:t>A</a:t>
                </a:r>
              </a:p>
            </p:txBody>
          </p:sp>
          <p:sp>
            <p:nvSpPr>
              <p:cNvPr id="35" name="TextBox 34" descr="A diagram of a NOT gate using a single PMOS transistor with a resistor.  There is an emoji suggesting that the resistor is getting very warm.">
                <a:extLst>
                  <a:ext uri="{FF2B5EF4-FFF2-40B4-BE49-F238E27FC236}">
                    <a16:creationId xmlns:a16="http://schemas.microsoft.com/office/drawing/2014/main" id="{02171926-7049-FA8C-DA3A-F7D381393169}"/>
                  </a:ext>
                </a:extLst>
              </p:cNvPr>
              <p:cNvSpPr txBox="1"/>
              <p:nvPr/>
            </p:nvSpPr>
            <p:spPr>
              <a:xfrm>
                <a:off x="3573576" y="3429000"/>
                <a:ext cx="694421" cy="523220"/>
              </a:xfrm>
              <a:prstGeom prst="rect">
                <a:avLst/>
              </a:prstGeom>
              <a:solidFill>
                <a:schemeClr val="bg1"/>
              </a:solidFill>
            </p:spPr>
            <p:txBody>
              <a:bodyPr wrap="none" rtlCol="0">
                <a:spAutoFit/>
              </a:bodyPr>
              <a:lstStyle/>
              <a:p>
                <a:r>
                  <a:rPr lang="en-US" sz="2800" dirty="0"/>
                  <a:t>out</a:t>
                </a:r>
              </a:p>
            </p:txBody>
          </p:sp>
          <p:sp>
            <p:nvSpPr>
              <p:cNvPr id="37" name="TextBox 36" descr="A diagram of a NOT gate using a single PMOS transistor with a resistor.  There is an emoji suggesting that the resistor is getting very warm.">
                <a:extLst>
                  <a:ext uri="{FF2B5EF4-FFF2-40B4-BE49-F238E27FC236}">
                    <a16:creationId xmlns:a16="http://schemas.microsoft.com/office/drawing/2014/main" id="{68E53F1D-26F5-5B58-62E9-7E72DB881755}"/>
                  </a:ext>
                </a:extLst>
              </p:cNvPr>
              <p:cNvSpPr txBox="1"/>
              <p:nvPr/>
            </p:nvSpPr>
            <p:spPr>
              <a:xfrm>
                <a:off x="1477075" y="2148052"/>
                <a:ext cx="764825" cy="523220"/>
              </a:xfrm>
              <a:prstGeom prst="rect">
                <a:avLst/>
              </a:prstGeom>
              <a:solidFill>
                <a:schemeClr val="bg1"/>
              </a:solidFill>
            </p:spPr>
            <p:txBody>
              <a:bodyPr wrap="none" rtlCol="0">
                <a:spAutoFit/>
              </a:bodyPr>
              <a:lstStyle/>
              <a:p>
                <a:r>
                  <a:rPr lang="en-US" sz="2800" dirty="0" err="1"/>
                  <a:t>Vdd</a:t>
                </a:r>
                <a:endParaRPr lang="en-US" sz="2800" dirty="0"/>
              </a:p>
            </p:txBody>
          </p:sp>
        </p:grpSp>
        <p:sp>
          <p:nvSpPr>
            <p:cNvPr id="48" name="TextBox 47" descr="The PMOS transistor is taking an input of 0 and producing an output of 1.  Since the transistor is closed with an input of 0, the VDD is going to output.  But VDD is also shorted to ground through the transistor so we add a resistor to avoid a short circuit.  While the input is 0 to a PMOS transistor, the resistor is generating significant heat. ">
              <a:extLst>
                <a:ext uri="{FF2B5EF4-FFF2-40B4-BE49-F238E27FC236}">
                  <a16:creationId xmlns:a16="http://schemas.microsoft.com/office/drawing/2014/main" id="{7E101B2B-293F-1A07-5FC5-3B939E30E90A}"/>
                </a:ext>
              </a:extLst>
            </p:cNvPr>
            <p:cNvSpPr txBox="1"/>
            <p:nvPr/>
          </p:nvSpPr>
          <p:spPr>
            <a:xfrm>
              <a:off x="1460798" y="3305677"/>
              <a:ext cx="367408" cy="523220"/>
            </a:xfrm>
            <a:prstGeom prst="rect">
              <a:avLst/>
            </a:prstGeom>
            <a:noFill/>
          </p:spPr>
          <p:txBody>
            <a:bodyPr wrap="square" rtlCol="0">
              <a:spAutoFit/>
            </a:bodyPr>
            <a:lstStyle/>
            <a:p>
              <a:r>
                <a:rPr lang="en-US" sz="2800" dirty="0"/>
                <a:t>0</a:t>
              </a:r>
            </a:p>
          </p:txBody>
        </p:sp>
        <p:sp>
          <p:nvSpPr>
            <p:cNvPr id="49" name="TextBox 48" descr="The PMOS transistor is taking an input of 0 and producing an output of 1.  Since the transistor is closed with an input of 0, the VDD is going to output.  But VDD is also shorted to ground through the transistor so we add a resistor to avoid a short circuit.  While the input is 0 to a PMOS transistor, the resistor is generating significant heat. ">
              <a:extLst>
                <a:ext uri="{FF2B5EF4-FFF2-40B4-BE49-F238E27FC236}">
                  <a16:creationId xmlns:a16="http://schemas.microsoft.com/office/drawing/2014/main" id="{A96F0602-BDDC-2B9C-5FBD-62FCD27E9E42}"/>
                </a:ext>
              </a:extLst>
            </p:cNvPr>
            <p:cNvSpPr txBox="1"/>
            <p:nvPr/>
          </p:nvSpPr>
          <p:spPr>
            <a:xfrm>
              <a:off x="3724089" y="3823409"/>
              <a:ext cx="367408" cy="523220"/>
            </a:xfrm>
            <a:prstGeom prst="rect">
              <a:avLst/>
            </a:prstGeom>
            <a:noFill/>
          </p:spPr>
          <p:txBody>
            <a:bodyPr wrap="none" rtlCol="0">
              <a:spAutoFit/>
            </a:bodyPr>
            <a:lstStyle/>
            <a:p>
              <a:r>
                <a:rPr lang="en-US" sz="2800" dirty="0"/>
                <a:t>1</a:t>
              </a:r>
            </a:p>
          </p:txBody>
        </p:sp>
        <p:sp>
          <p:nvSpPr>
            <p:cNvPr id="3" name="Bent Arrow 2" descr="The PMOS transistor is taking an input of 0 and producing an output of 1.  Since the transistor is closed with an input of 0, the VDD is going to output.  But VDD is also shorted to ground through the transistor so we add a resistor to avoid a short circuit.  While the input is 0 to a PMOS transistor, the resistor is generating significant heat. ">
              <a:extLst>
                <a:ext uri="{FF2B5EF4-FFF2-40B4-BE49-F238E27FC236}">
                  <a16:creationId xmlns:a16="http://schemas.microsoft.com/office/drawing/2014/main" id="{4E3B8AEC-1655-9780-162E-B0877D9F38FE}"/>
                </a:ext>
              </a:extLst>
            </p:cNvPr>
            <p:cNvSpPr/>
            <p:nvPr/>
          </p:nvSpPr>
          <p:spPr>
            <a:xfrm flipV="1">
              <a:off x="3047802" y="2507673"/>
              <a:ext cx="444021" cy="1158349"/>
            </a:xfrm>
            <a:prstGeom prst="bentArrow">
              <a:avLst>
                <a:gd name="adj1" fmla="val 17422"/>
                <a:gd name="adj2" fmla="val 14897"/>
                <a:gd name="adj3" fmla="val 25000"/>
                <a:gd name="adj4" fmla="val 43750"/>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Down Arrow 21" descr="The PMOS transistor is taking an input of 0 and producing an output of 1.  Since the transistor is closed with an input of 0, the VDD is going to output.  But VDD is also shorted to ground through the transistor so we add a resistor to avoid a short circuit.  While the input is 0 to a PMOS transistor, the resistor is generating significant heat. ">
              <a:extLst>
                <a:ext uri="{FF2B5EF4-FFF2-40B4-BE49-F238E27FC236}">
                  <a16:creationId xmlns:a16="http://schemas.microsoft.com/office/drawing/2014/main" id="{EE010673-6029-CA90-D76C-0F94C792DDB1}"/>
                </a:ext>
              </a:extLst>
            </p:cNvPr>
            <p:cNvSpPr/>
            <p:nvPr/>
          </p:nvSpPr>
          <p:spPr>
            <a:xfrm>
              <a:off x="2578672" y="2493856"/>
              <a:ext cx="213006" cy="2565400"/>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descr="The PMOS transistor is taking an input of 0 and producing an output of 1.  Since the transistor is closed with an input of 0, the VDD is going to output.  But VDD is also shorted to ground through the transistor so we add a resistor to avoid a short circuit.  While the input is 0 to a PMOS transistor, the resistor is generating significant heat. ">
              <a:extLst>
                <a:ext uri="{FF2B5EF4-FFF2-40B4-BE49-F238E27FC236}">
                  <a16:creationId xmlns:a16="http://schemas.microsoft.com/office/drawing/2014/main" id="{750137C4-075E-A501-7805-F301A89F70AE}"/>
                </a:ext>
              </a:extLst>
            </p:cNvPr>
            <p:cNvSpPr txBox="1"/>
            <p:nvPr/>
          </p:nvSpPr>
          <p:spPr>
            <a:xfrm>
              <a:off x="3060602" y="4185209"/>
              <a:ext cx="786913" cy="707886"/>
            </a:xfrm>
            <a:prstGeom prst="rect">
              <a:avLst/>
            </a:prstGeom>
            <a:noFill/>
          </p:spPr>
          <p:txBody>
            <a:bodyPr wrap="square">
              <a:spAutoFit/>
            </a:bodyPr>
            <a:lstStyle/>
            <a:p>
              <a:r>
                <a:rPr lang="en-US" sz="4000" dirty="0"/>
                <a:t>♨️</a:t>
              </a:r>
            </a:p>
          </p:txBody>
        </p:sp>
      </p:grpSp>
      <p:grpSp>
        <p:nvGrpSpPr>
          <p:cNvPr id="27" name="Group 26" descr="The NMOS transistor is taking an input of 0 and producing an output of 1.  Since the transistor is open with an input of 0, the VDD is going to output through a transistor.  But since the output is connected to another gate, it is not drawing much current so the resistor stays cool.">
            <a:extLst>
              <a:ext uri="{FF2B5EF4-FFF2-40B4-BE49-F238E27FC236}">
                <a16:creationId xmlns:a16="http://schemas.microsoft.com/office/drawing/2014/main" id="{A04DC4C0-7B7F-997C-FB79-D4928C26B670}"/>
              </a:ext>
            </a:extLst>
          </p:cNvPr>
          <p:cNvGrpSpPr/>
          <p:nvPr/>
        </p:nvGrpSpPr>
        <p:grpSpPr>
          <a:xfrm>
            <a:off x="5023686" y="2100590"/>
            <a:ext cx="2785743" cy="3750330"/>
            <a:chOff x="5023686" y="2100590"/>
            <a:chExt cx="2785743" cy="3750330"/>
          </a:xfrm>
        </p:grpSpPr>
        <p:sp>
          <p:nvSpPr>
            <p:cNvPr id="20" name="TextBox 19">
              <a:extLst>
                <a:ext uri="{FF2B5EF4-FFF2-40B4-BE49-F238E27FC236}">
                  <a16:creationId xmlns:a16="http://schemas.microsoft.com/office/drawing/2014/main" id="{03144636-D65A-6406-CA7F-90AB24C00519}"/>
                </a:ext>
              </a:extLst>
            </p:cNvPr>
            <p:cNvSpPr txBox="1"/>
            <p:nvPr/>
          </p:nvSpPr>
          <p:spPr>
            <a:xfrm>
              <a:off x="5537628" y="5481588"/>
              <a:ext cx="1433406" cy="369332"/>
            </a:xfrm>
            <a:prstGeom prst="rect">
              <a:avLst/>
            </a:prstGeom>
            <a:noFill/>
          </p:spPr>
          <p:txBody>
            <a:bodyPr wrap="none" rtlCol="0">
              <a:spAutoFit/>
            </a:bodyPr>
            <a:lstStyle/>
            <a:p>
              <a:r>
                <a:rPr lang="en-US" dirty="0"/>
                <a:t>NMOS - 1978</a:t>
              </a:r>
            </a:p>
          </p:txBody>
        </p:sp>
        <p:pic>
          <p:nvPicPr>
            <p:cNvPr id="6" name="Picture 5" descr="The NMOS transistor is taking an input of 0 and producing an output of 1.  Since the transistor is open with an input of 0, the VDD is going to output through a transistor.  But since the output is connected to another gate, it is not drawing much current so the resistor stays cool.">
              <a:extLst>
                <a:ext uri="{FF2B5EF4-FFF2-40B4-BE49-F238E27FC236}">
                  <a16:creationId xmlns:a16="http://schemas.microsoft.com/office/drawing/2014/main" id="{90FEA0E4-D1CB-8515-5384-8A818EF3DFD8}"/>
                </a:ext>
              </a:extLst>
            </p:cNvPr>
            <p:cNvPicPr>
              <a:picLocks noChangeAspect="1"/>
            </p:cNvPicPr>
            <p:nvPr/>
          </p:nvPicPr>
          <p:blipFill>
            <a:blip r:embed="rId5"/>
            <a:srcRect t="8422" b="29088"/>
            <a:stretch/>
          </p:blipFill>
          <p:spPr>
            <a:xfrm>
              <a:off x="5042485" y="2362200"/>
              <a:ext cx="2411830" cy="2565400"/>
            </a:xfrm>
            <a:prstGeom prst="rect">
              <a:avLst/>
            </a:prstGeom>
          </p:spPr>
        </p:pic>
        <p:sp>
          <p:nvSpPr>
            <p:cNvPr id="9" name="TextBox 8">
              <a:extLst>
                <a:ext uri="{FF2B5EF4-FFF2-40B4-BE49-F238E27FC236}">
                  <a16:creationId xmlns:a16="http://schemas.microsoft.com/office/drawing/2014/main" id="{6D12CB29-FAF5-F783-5246-99A8DB5109C1}"/>
                </a:ext>
              </a:extLst>
            </p:cNvPr>
            <p:cNvSpPr txBox="1"/>
            <p:nvPr/>
          </p:nvSpPr>
          <p:spPr>
            <a:xfrm>
              <a:off x="5023686" y="4056515"/>
              <a:ext cx="402674" cy="523220"/>
            </a:xfrm>
            <a:prstGeom prst="rect">
              <a:avLst/>
            </a:prstGeom>
            <a:solidFill>
              <a:schemeClr val="bg1"/>
            </a:solidFill>
          </p:spPr>
          <p:txBody>
            <a:bodyPr wrap="none" rtlCol="0">
              <a:spAutoFit/>
            </a:bodyPr>
            <a:lstStyle/>
            <a:p>
              <a:r>
                <a:rPr lang="en-US" sz="2800" dirty="0"/>
                <a:t>A</a:t>
              </a:r>
            </a:p>
          </p:txBody>
        </p:sp>
        <p:sp>
          <p:nvSpPr>
            <p:cNvPr id="10" name="TextBox 9">
              <a:extLst>
                <a:ext uri="{FF2B5EF4-FFF2-40B4-BE49-F238E27FC236}">
                  <a16:creationId xmlns:a16="http://schemas.microsoft.com/office/drawing/2014/main" id="{8B6A9D4D-A162-CEBD-6AFF-FCA503C6DB89}"/>
                </a:ext>
              </a:extLst>
            </p:cNvPr>
            <p:cNvSpPr txBox="1"/>
            <p:nvPr/>
          </p:nvSpPr>
          <p:spPr>
            <a:xfrm>
              <a:off x="5043947" y="2100590"/>
              <a:ext cx="764825" cy="523220"/>
            </a:xfrm>
            <a:prstGeom prst="rect">
              <a:avLst/>
            </a:prstGeom>
            <a:solidFill>
              <a:schemeClr val="bg1"/>
            </a:solidFill>
          </p:spPr>
          <p:txBody>
            <a:bodyPr wrap="none" rtlCol="0">
              <a:spAutoFit/>
            </a:bodyPr>
            <a:lstStyle/>
            <a:p>
              <a:r>
                <a:rPr lang="en-US" sz="2800" dirty="0" err="1"/>
                <a:t>Vdd</a:t>
              </a:r>
              <a:endParaRPr lang="en-US" sz="2800" dirty="0"/>
            </a:p>
          </p:txBody>
        </p:sp>
        <p:sp>
          <p:nvSpPr>
            <p:cNvPr id="12" name="TextBox 11">
              <a:extLst>
                <a:ext uri="{FF2B5EF4-FFF2-40B4-BE49-F238E27FC236}">
                  <a16:creationId xmlns:a16="http://schemas.microsoft.com/office/drawing/2014/main" id="{5A2D2B2C-BFC9-F721-83A2-219FD4807C1A}"/>
                </a:ext>
              </a:extLst>
            </p:cNvPr>
            <p:cNvSpPr txBox="1"/>
            <p:nvPr/>
          </p:nvSpPr>
          <p:spPr>
            <a:xfrm>
              <a:off x="7115008" y="3334460"/>
              <a:ext cx="694421" cy="523220"/>
            </a:xfrm>
            <a:prstGeom prst="rect">
              <a:avLst/>
            </a:prstGeom>
            <a:solidFill>
              <a:schemeClr val="bg1"/>
            </a:solidFill>
          </p:spPr>
          <p:txBody>
            <a:bodyPr wrap="none" rtlCol="0">
              <a:spAutoFit/>
            </a:bodyPr>
            <a:lstStyle/>
            <a:p>
              <a:r>
                <a:rPr lang="en-US" sz="2800" dirty="0"/>
                <a:t>out</a:t>
              </a:r>
            </a:p>
          </p:txBody>
        </p:sp>
        <p:sp>
          <p:nvSpPr>
            <p:cNvPr id="16" name="TextBox 15">
              <a:extLst>
                <a:ext uri="{FF2B5EF4-FFF2-40B4-BE49-F238E27FC236}">
                  <a16:creationId xmlns:a16="http://schemas.microsoft.com/office/drawing/2014/main" id="{2A2B3EF7-46AA-334F-5440-5744B987BB77}"/>
                </a:ext>
              </a:extLst>
            </p:cNvPr>
            <p:cNvSpPr txBox="1"/>
            <p:nvPr/>
          </p:nvSpPr>
          <p:spPr>
            <a:xfrm>
              <a:off x="6135214" y="4800599"/>
              <a:ext cx="499109" cy="584775"/>
            </a:xfrm>
            <a:prstGeom prst="rect">
              <a:avLst/>
            </a:prstGeom>
            <a:noFill/>
            <a:ln>
              <a:noFill/>
            </a:ln>
          </p:spPr>
          <p:txBody>
            <a:bodyPr wrap="square" rtlCol="0">
              <a:spAutoFit/>
            </a:bodyPr>
            <a:lstStyle/>
            <a:p>
              <a:r>
                <a:rPr lang="en-US" sz="3200" dirty="0"/>
                <a:t>⏚</a:t>
              </a:r>
            </a:p>
          </p:txBody>
        </p:sp>
        <p:sp>
          <p:nvSpPr>
            <p:cNvPr id="52" name="TextBox 51">
              <a:extLst>
                <a:ext uri="{FF2B5EF4-FFF2-40B4-BE49-F238E27FC236}">
                  <a16:creationId xmlns:a16="http://schemas.microsoft.com/office/drawing/2014/main" id="{803DB619-6B4F-B677-EA75-5B63A64FAF6C}"/>
                </a:ext>
              </a:extLst>
            </p:cNvPr>
            <p:cNvSpPr txBox="1"/>
            <p:nvPr/>
          </p:nvSpPr>
          <p:spPr>
            <a:xfrm>
              <a:off x="5040075" y="4512693"/>
              <a:ext cx="367408" cy="523220"/>
            </a:xfrm>
            <a:prstGeom prst="rect">
              <a:avLst/>
            </a:prstGeom>
            <a:noFill/>
          </p:spPr>
          <p:txBody>
            <a:bodyPr wrap="none" rtlCol="0">
              <a:spAutoFit/>
            </a:bodyPr>
            <a:lstStyle/>
            <a:p>
              <a:r>
                <a:rPr lang="en-US" sz="2800" dirty="0"/>
                <a:t>0</a:t>
              </a:r>
            </a:p>
          </p:txBody>
        </p:sp>
        <p:sp>
          <p:nvSpPr>
            <p:cNvPr id="53" name="TextBox 52">
              <a:extLst>
                <a:ext uri="{FF2B5EF4-FFF2-40B4-BE49-F238E27FC236}">
                  <a16:creationId xmlns:a16="http://schemas.microsoft.com/office/drawing/2014/main" id="{232D6033-76ED-0CE5-725A-50CA69FED0F2}"/>
                </a:ext>
              </a:extLst>
            </p:cNvPr>
            <p:cNvSpPr txBox="1"/>
            <p:nvPr/>
          </p:nvSpPr>
          <p:spPr>
            <a:xfrm>
              <a:off x="7265521" y="3738020"/>
              <a:ext cx="367408" cy="523220"/>
            </a:xfrm>
            <a:prstGeom prst="rect">
              <a:avLst/>
            </a:prstGeom>
            <a:noFill/>
          </p:spPr>
          <p:txBody>
            <a:bodyPr wrap="square" rtlCol="0">
              <a:spAutoFit/>
            </a:bodyPr>
            <a:lstStyle/>
            <a:p>
              <a:r>
                <a:rPr lang="en-US" sz="2800" dirty="0"/>
                <a:t>1</a:t>
              </a:r>
            </a:p>
          </p:txBody>
        </p:sp>
        <p:sp>
          <p:nvSpPr>
            <p:cNvPr id="59" name="TextBox 58">
              <a:extLst>
                <a:ext uri="{FF2B5EF4-FFF2-40B4-BE49-F238E27FC236}">
                  <a16:creationId xmlns:a16="http://schemas.microsoft.com/office/drawing/2014/main" id="{D0021F5A-DEC3-C620-05AD-2E350EA87BAF}"/>
                </a:ext>
              </a:extLst>
            </p:cNvPr>
            <p:cNvSpPr txBox="1"/>
            <p:nvPr/>
          </p:nvSpPr>
          <p:spPr>
            <a:xfrm>
              <a:off x="6074071" y="4146574"/>
              <a:ext cx="543739" cy="523220"/>
            </a:xfrm>
            <a:prstGeom prst="rect">
              <a:avLst/>
            </a:prstGeom>
            <a:noFill/>
          </p:spPr>
          <p:txBody>
            <a:bodyPr wrap="none" rtlCol="0">
              <a:spAutoFit/>
            </a:bodyPr>
            <a:lstStyle/>
            <a:p>
              <a:r>
                <a:rPr lang="en-US" sz="2800" dirty="0"/>
                <a:t>🚫</a:t>
              </a:r>
            </a:p>
          </p:txBody>
        </p:sp>
        <p:sp>
          <p:nvSpPr>
            <p:cNvPr id="18" name="Bent Arrow 17">
              <a:extLst>
                <a:ext uri="{FF2B5EF4-FFF2-40B4-BE49-F238E27FC236}">
                  <a16:creationId xmlns:a16="http://schemas.microsoft.com/office/drawing/2014/main" id="{EBC45867-1C3D-A898-5EB4-6834271554A6}"/>
                </a:ext>
              </a:extLst>
            </p:cNvPr>
            <p:cNvSpPr/>
            <p:nvPr/>
          </p:nvSpPr>
          <p:spPr>
            <a:xfrm flipV="1">
              <a:off x="6501929" y="2507673"/>
              <a:ext cx="444021" cy="1058886"/>
            </a:xfrm>
            <a:prstGeom prst="bentArrow">
              <a:avLst>
                <a:gd name="adj1" fmla="val 17422"/>
                <a:gd name="adj2" fmla="val 14897"/>
                <a:gd name="adj3" fmla="val 25000"/>
                <a:gd name="adj4" fmla="val 43750"/>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TextBox 24">
              <a:extLst>
                <a:ext uri="{FF2B5EF4-FFF2-40B4-BE49-F238E27FC236}">
                  <a16:creationId xmlns:a16="http://schemas.microsoft.com/office/drawing/2014/main" id="{C3AD77B9-7E32-BB68-7BCB-3B52F3E6CBE5}"/>
                </a:ext>
              </a:extLst>
            </p:cNvPr>
            <p:cNvSpPr txBox="1"/>
            <p:nvPr/>
          </p:nvSpPr>
          <p:spPr>
            <a:xfrm>
              <a:off x="5504687" y="2832194"/>
              <a:ext cx="786913" cy="707886"/>
            </a:xfrm>
            <a:prstGeom prst="rect">
              <a:avLst/>
            </a:prstGeom>
            <a:noFill/>
          </p:spPr>
          <p:txBody>
            <a:bodyPr wrap="square">
              <a:spAutoFit/>
            </a:bodyPr>
            <a:lstStyle/>
            <a:p>
              <a:r>
                <a:rPr lang="en-US" sz="4000" dirty="0"/>
                <a:t>❄</a:t>
              </a:r>
            </a:p>
          </p:txBody>
        </p:sp>
      </p:grpSp>
      <p:grpSp>
        <p:nvGrpSpPr>
          <p:cNvPr id="28" name="Group 27" descr="A diagram of a Not gate implemented with two transistors using CMOS.  The input is connected to the gate of PMOS and NMOS transistors. If the input is 0, the PMOS transistor closed and the NMOS transistor opened so VDD is connected to the output.  The closed NMOS transistor is blocking any path from VDD to ground so very little heat is generated.">
            <a:extLst>
              <a:ext uri="{FF2B5EF4-FFF2-40B4-BE49-F238E27FC236}">
                <a16:creationId xmlns:a16="http://schemas.microsoft.com/office/drawing/2014/main" id="{2BE600F1-7989-4CFC-9135-B16733EB1D00}"/>
              </a:ext>
            </a:extLst>
          </p:cNvPr>
          <p:cNvGrpSpPr/>
          <p:nvPr/>
        </p:nvGrpSpPr>
        <p:grpSpPr>
          <a:xfrm>
            <a:off x="8427974" y="2016474"/>
            <a:ext cx="3233043" cy="3845527"/>
            <a:chOff x="8427974" y="2016474"/>
            <a:chExt cx="3233043" cy="3845527"/>
          </a:xfrm>
        </p:grpSpPr>
        <p:grpSp>
          <p:nvGrpSpPr>
            <p:cNvPr id="47" name="Group 46" descr="A diagram of a Not gate implemented with two transistors using CMOS.  The input is connected to the gate of PMOS and NMOS transistors. If the input is 0, the PMOS transistor closed and the NMOS transistor opened so VDD is connected to the output.  The closed NMOS transistor is blocking any path from VDD to ground so very little heat is generated.">
              <a:extLst>
                <a:ext uri="{FF2B5EF4-FFF2-40B4-BE49-F238E27FC236}">
                  <a16:creationId xmlns:a16="http://schemas.microsoft.com/office/drawing/2014/main" id="{EF6C089C-A1FD-BE37-FD00-4EDE625694E2}"/>
                </a:ext>
              </a:extLst>
            </p:cNvPr>
            <p:cNvGrpSpPr/>
            <p:nvPr/>
          </p:nvGrpSpPr>
          <p:grpSpPr>
            <a:xfrm>
              <a:off x="8427974" y="2016474"/>
              <a:ext cx="3233043" cy="3401940"/>
              <a:chOff x="8427974" y="2016474"/>
              <a:chExt cx="3233043" cy="3401940"/>
            </a:xfrm>
          </p:grpSpPr>
          <p:pic>
            <p:nvPicPr>
              <p:cNvPr id="5" name="Picture 4" descr="In this CMOS gate the PMOS transistor is closed and the NMOS transistor is open so VDD flows to output and there is no direct connection between VDD and ground so the gate does not generate any excess heat.">
                <a:extLst>
                  <a:ext uri="{FF2B5EF4-FFF2-40B4-BE49-F238E27FC236}">
                    <a16:creationId xmlns:a16="http://schemas.microsoft.com/office/drawing/2014/main" id="{95C7AD43-2A07-2B78-8EA4-373A7E129E75}"/>
                  </a:ext>
                </a:extLst>
              </p:cNvPr>
              <p:cNvPicPr>
                <a:picLocks noChangeAspect="1"/>
              </p:cNvPicPr>
              <p:nvPr/>
            </p:nvPicPr>
            <p:blipFill>
              <a:blip r:embed="rId6" cstate="print">
                <a:extLst>
                  <a:ext uri="{28A0092B-C50C-407E-A947-70E740481C1C}">
                    <a14:useLocalDpi xmlns:a14="http://schemas.microsoft.com/office/drawing/2010/main"/>
                  </a:ext>
                </a:extLst>
              </a:blip>
              <a:srcRect l="19468" r="21660" b="15929"/>
              <a:stretch/>
            </p:blipFill>
            <p:spPr>
              <a:xfrm>
                <a:off x="9017001" y="2016474"/>
                <a:ext cx="1949596" cy="3101626"/>
              </a:xfrm>
              <a:prstGeom prst="rect">
                <a:avLst/>
              </a:prstGeom>
            </p:spPr>
          </p:pic>
          <p:sp>
            <p:nvSpPr>
              <p:cNvPr id="11" name="TextBox 10">
                <a:extLst>
                  <a:ext uri="{FF2B5EF4-FFF2-40B4-BE49-F238E27FC236}">
                    <a16:creationId xmlns:a16="http://schemas.microsoft.com/office/drawing/2014/main" id="{A3389FFE-D00E-FD43-587A-C8607108E427}"/>
                  </a:ext>
                </a:extLst>
              </p:cNvPr>
              <p:cNvSpPr txBox="1"/>
              <p:nvPr/>
            </p:nvSpPr>
            <p:spPr>
              <a:xfrm>
                <a:off x="8427974" y="2148052"/>
                <a:ext cx="764825" cy="523220"/>
              </a:xfrm>
              <a:prstGeom prst="rect">
                <a:avLst/>
              </a:prstGeom>
              <a:solidFill>
                <a:schemeClr val="bg1"/>
              </a:solidFill>
            </p:spPr>
            <p:txBody>
              <a:bodyPr wrap="none" rtlCol="0">
                <a:spAutoFit/>
              </a:bodyPr>
              <a:lstStyle/>
              <a:p>
                <a:r>
                  <a:rPr lang="en-US" sz="2800" dirty="0" err="1"/>
                  <a:t>Vdd</a:t>
                </a:r>
                <a:endParaRPr lang="en-US" sz="2800" dirty="0"/>
              </a:p>
            </p:txBody>
          </p:sp>
          <p:sp>
            <p:nvSpPr>
              <p:cNvPr id="13" name="TextBox 12">
                <a:extLst>
                  <a:ext uri="{FF2B5EF4-FFF2-40B4-BE49-F238E27FC236}">
                    <a16:creationId xmlns:a16="http://schemas.microsoft.com/office/drawing/2014/main" id="{4A012015-4FDC-9EB7-2895-3559D0A35290}"/>
                  </a:ext>
                </a:extLst>
              </p:cNvPr>
              <p:cNvSpPr txBox="1"/>
              <p:nvPr/>
            </p:nvSpPr>
            <p:spPr>
              <a:xfrm>
                <a:off x="10966596" y="3476410"/>
                <a:ext cx="694421" cy="523220"/>
              </a:xfrm>
              <a:prstGeom prst="rect">
                <a:avLst/>
              </a:prstGeom>
              <a:solidFill>
                <a:schemeClr val="bg1"/>
              </a:solidFill>
            </p:spPr>
            <p:txBody>
              <a:bodyPr wrap="none" rtlCol="0">
                <a:spAutoFit/>
              </a:bodyPr>
              <a:lstStyle/>
              <a:p>
                <a:r>
                  <a:rPr lang="en-US" sz="2800" dirty="0"/>
                  <a:t>out</a:t>
                </a:r>
              </a:p>
            </p:txBody>
          </p:sp>
          <p:sp>
            <p:nvSpPr>
              <p:cNvPr id="14" name="TextBox 13">
                <a:extLst>
                  <a:ext uri="{FF2B5EF4-FFF2-40B4-BE49-F238E27FC236}">
                    <a16:creationId xmlns:a16="http://schemas.microsoft.com/office/drawing/2014/main" id="{EBEC5C87-6420-0B62-43B4-A80E56042706}"/>
                  </a:ext>
                </a:extLst>
              </p:cNvPr>
              <p:cNvSpPr txBox="1"/>
              <p:nvPr/>
            </p:nvSpPr>
            <p:spPr>
              <a:xfrm>
                <a:off x="8630486" y="3461614"/>
                <a:ext cx="402674" cy="523220"/>
              </a:xfrm>
              <a:prstGeom prst="rect">
                <a:avLst/>
              </a:prstGeom>
              <a:solidFill>
                <a:schemeClr val="bg1"/>
              </a:solidFill>
            </p:spPr>
            <p:txBody>
              <a:bodyPr wrap="none" rtlCol="0">
                <a:spAutoFit/>
              </a:bodyPr>
              <a:lstStyle/>
              <a:p>
                <a:r>
                  <a:rPr lang="en-US" sz="2800" dirty="0"/>
                  <a:t>A</a:t>
                </a:r>
              </a:p>
            </p:txBody>
          </p:sp>
          <p:sp>
            <p:nvSpPr>
              <p:cNvPr id="15" name="TextBox 14">
                <a:extLst>
                  <a:ext uri="{FF2B5EF4-FFF2-40B4-BE49-F238E27FC236}">
                    <a16:creationId xmlns:a16="http://schemas.microsoft.com/office/drawing/2014/main" id="{930D0158-F59B-9B98-6F44-115AD622B02C}"/>
                  </a:ext>
                </a:extLst>
              </p:cNvPr>
              <p:cNvSpPr txBox="1"/>
              <p:nvPr/>
            </p:nvSpPr>
            <p:spPr>
              <a:xfrm>
                <a:off x="10059356" y="4833639"/>
                <a:ext cx="499109" cy="584775"/>
              </a:xfrm>
              <a:prstGeom prst="rect">
                <a:avLst/>
              </a:prstGeom>
              <a:noFill/>
            </p:spPr>
            <p:txBody>
              <a:bodyPr wrap="square" rtlCol="0">
                <a:spAutoFit/>
              </a:bodyPr>
              <a:lstStyle/>
              <a:p>
                <a:r>
                  <a:rPr lang="en-US" sz="3200" dirty="0"/>
                  <a:t>⏚</a:t>
                </a:r>
              </a:p>
            </p:txBody>
          </p:sp>
        </p:grpSp>
        <p:sp>
          <p:nvSpPr>
            <p:cNvPr id="21" name="TextBox 20">
              <a:extLst>
                <a:ext uri="{FF2B5EF4-FFF2-40B4-BE49-F238E27FC236}">
                  <a16:creationId xmlns:a16="http://schemas.microsoft.com/office/drawing/2014/main" id="{6E57169D-C2DC-744F-3D2A-B5BB76E16B76}"/>
                </a:ext>
              </a:extLst>
            </p:cNvPr>
            <p:cNvSpPr txBox="1"/>
            <p:nvPr/>
          </p:nvSpPr>
          <p:spPr>
            <a:xfrm>
              <a:off x="9459959" y="5492669"/>
              <a:ext cx="1407758" cy="369332"/>
            </a:xfrm>
            <a:prstGeom prst="rect">
              <a:avLst/>
            </a:prstGeom>
            <a:noFill/>
          </p:spPr>
          <p:txBody>
            <a:bodyPr wrap="none" rtlCol="0">
              <a:spAutoFit/>
            </a:bodyPr>
            <a:lstStyle/>
            <a:p>
              <a:r>
                <a:rPr lang="en-US" dirty="0"/>
                <a:t>CMOS - 1983</a:t>
              </a:r>
            </a:p>
          </p:txBody>
        </p:sp>
        <p:sp>
          <p:nvSpPr>
            <p:cNvPr id="7" name="Bent Arrow 6">
              <a:extLst>
                <a:ext uri="{FF2B5EF4-FFF2-40B4-BE49-F238E27FC236}">
                  <a16:creationId xmlns:a16="http://schemas.microsoft.com/office/drawing/2014/main" id="{408D8FE5-1055-C7C8-C3EF-73E8BE3E57A7}"/>
                </a:ext>
              </a:extLst>
            </p:cNvPr>
            <p:cNvSpPr/>
            <p:nvPr/>
          </p:nvSpPr>
          <p:spPr>
            <a:xfrm flipV="1">
              <a:off x="10418239" y="2507673"/>
              <a:ext cx="444021" cy="1100218"/>
            </a:xfrm>
            <a:prstGeom prst="bentArrow">
              <a:avLst>
                <a:gd name="adj1" fmla="val 17422"/>
                <a:gd name="adj2" fmla="val 14897"/>
                <a:gd name="adj3" fmla="val 25000"/>
                <a:gd name="adj4" fmla="val 43750"/>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TextBox 7">
              <a:extLst>
                <a:ext uri="{FF2B5EF4-FFF2-40B4-BE49-F238E27FC236}">
                  <a16:creationId xmlns:a16="http://schemas.microsoft.com/office/drawing/2014/main" id="{631A7E09-ACAE-45C8-BB8B-726E1102A9F4}"/>
                </a:ext>
              </a:extLst>
            </p:cNvPr>
            <p:cNvSpPr txBox="1"/>
            <p:nvPr/>
          </p:nvSpPr>
          <p:spPr>
            <a:xfrm>
              <a:off x="8641440" y="3884964"/>
              <a:ext cx="367408" cy="523220"/>
            </a:xfrm>
            <a:prstGeom prst="rect">
              <a:avLst/>
            </a:prstGeom>
            <a:noFill/>
          </p:spPr>
          <p:txBody>
            <a:bodyPr wrap="none" rtlCol="0">
              <a:spAutoFit/>
            </a:bodyPr>
            <a:lstStyle/>
            <a:p>
              <a:r>
                <a:rPr lang="en-US" sz="2800" dirty="0"/>
                <a:t>0</a:t>
              </a:r>
            </a:p>
          </p:txBody>
        </p:sp>
        <p:sp>
          <p:nvSpPr>
            <p:cNvPr id="17" name="TextBox 16">
              <a:extLst>
                <a:ext uri="{FF2B5EF4-FFF2-40B4-BE49-F238E27FC236}">
                  <a16:creationId xmlns:a16="http://schemas.microsoft.com/office/drawing/2014/main" id="{F9A2BD31-339E-AFBE-43D3-A5C456D556FB}"/>
                </a:ext>
              </a:extLst>
            </p:cNvPr>
            <p:cNvSpPr txBox="1"/>
            <p:nvPr/>
          </p:nvSpPr>
          <p:spPr>
            <a:xfrm>
              <a:off x="10059356" y="4146574"/>
              <a:ext cx="543739" cy="400110"/>
            </a:xfrm>
            <a:prstGeom prst="rect">
              <a:avLst/>
            </a:prstGeom>
            <a:noFill/>
          </p:spPr>
          <p:txBody>
            <a:bodyPr wrap="square" rtlCol="0">
              <a:spAutoFit/>
            </a:bodyPr>
            <a:lstStyle/>
            <a:p>
              <a:r>
                <a:rPr lang="en-US" sz="2000" dirty="0"/>
                <a:t>🚫</a:t>
              </a:r>
            </a:p>
          </p:txBody>
        </p:sp>
        <p:sp>
          <p:nvSpPr>
            <p:cNvPr id="19" name="TextBox 18">
              <a:extLst>
                <a:ext uri="{FF2B5EF4-FFF2-40B4-BE49-F238E27FC236}">
                  <a16:creationId xmlns:a16="http://schemas.microsoft.com/office/drawing/2014/main" id="{9529EB30-3CE8-E166-7D54-DEE46FDB6B36}"/>
                </a:ext>
              </a:extLst>
            </p:cNvPr>
            <p:cNvSpPr txBox="1"/>
            <p:nvPr/>
          </p:nvSpPr>
          <p:spPr>
            <a:xfrm>
              <a:off x="11107093" y="3828897"/>
              <a:ext cx="367408" cy="523220"/>
            </a:xfrm>
            <a:prstGeom prst="rect">
              <a:avLst/>
            </a:prstGeom>
            <a:noFill/>
          </p:spPr>
          <p:txBody>
            <a:bodyPr wrap="square" rtlCol="0">
              <a:spAutoFit/>
            </a:bodyPr>
            <a:lstStyle/>
            <a:p>
              <a:r>
                <a:rPr lang="en-US" sz="2800" dirty="0"/>
                <a:t>1</a:t>
              </a:r>
            </a:p>
          </p:txBody>
        </p:sp>
        <p:sp>
          <p:nvSpPr>
            <p:cNvPr id="24" name="TextBox 23">
              <a:extLst>
                <a:ext uri="{FF2B5EF4-FFF2-40B4-BE49-F238E27FC236}">
                  <a16:creationId xmlns:a16="http://schemas.microsoft.com/office/drawing/2014/main" id="{A39A7E5C-70AA-10F0-B260-CA3C3732C6D8}"/>
                </a:ext>
              </a:extLst>
            </p:cNvPr>
            <p:cNvSpPr txBox="1"/>
            <p:nvPr/>
          </p:nvSpPr>
          <p:spPr>
            <a:xfrm>
              <a:off x="10662544" y="2764316"/>
              <a:ext cx="786913" cy="707886"/>
            </a:xfrm>
            <a:prstGeom prst="rect">
              <a:avLst/>
            </a:prstGeom>
            <a:noFill/>
          </p:spPr>
          <p:txBody>
            <a:bodyPr wrap="square">
              <a:spAutoFit/>
            </a:bodyPr>
            <a:lstStyle/>
            <a:p>
              <a:r>
                <a:rPr lang="en-US" sz="4000" dirty="0"/>
                <a:t>❄</a:t>
              </a:r>
            </a:p>
          </p:txBody>
        </p:sp>
      </p:grpSp>
    </p:spTree>
    <p:extLst>
      <p:ext uri="{BB962C8B-B14F-4D97-AF65-F5344CB8AC3E}">
        <p14:creationId xmlns:p14="http://schemas.microsoft.com/office/powerpoint/2010/main" val="559368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74C39-C772-0928-C16A-51B847E6DC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684A57-EBEB-52C0-261B-C7D3E4EEE845}"/>
              </a:ext>
            </a:extLst>
          </p:cNvPr>
          <p:cNvSpPr>
            <a:spLocks noGrp="1"/>
          </p:cNvSpPr>
          <p:nvPr>
            <p:ph type="title"/>
          </p:nvPr>
        </p:nvSpPr>
        <p:spPr/>
        <p:txBody>
          <a:bodyPr/>
          <a:lstStyle/>
          <a:p>
            <a:r>
              <a:rPr lang="en-US" dirty="0"/>
              <a:t>Hot gate heat (input 1)</a:t>
            </a:r>
          </a:p>
        </p:txBody>
      </p:sp>
      <p:pic>
        <p:nvPicPr>
          <p:cNvPr id="4" name="Picture 3" descr="A logical Not symbol.">
            <a:extLst>
              <a:ext uri="{FF2B5EF4-FFF2-40B4-BE49-F238E27FC236}">
                <a16:creationId xmlns:a16="http://schemas.microsoft.com/office/drawing/2014/main" id="{010B9219-6F4B-E620-47C1-84D804070A2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867022" y="283919"/>
            <a:ext cx="3486778" cy="1255240"/>
          </a:xfrm>
          <a:prstGeom prst="rect">
            <a:avLst/>
          </a:prstGeom>
        </p:spPr>
      </p:pic>
      <p:grpSp>
        <p:nvGrpSpPr>
          <p:cNvPr id="26" name="Group 25" descr="The PMOS transistor is taking an input of 1 and producing an output of 0.  Since the transistor is closed with an input of 1, the VDD is blocked and output flows to ground through a transistor. But since the output is connected to another gate, it is not drawing much current so the resistor stays cool.  Circa 1972">
            <a:extLst>
              <a:ext uri="{FF2B5EF4-FFF2-40B4-BE49-F238E27FC236}">
                <a16:creationId xmlns:a16="http://schemas.microsoft.com/office/drawing/2014/main" id="{51B4BB26-BCF3-3A12-7D30-2F69BD85547A}"/>
              </a:ext>
            </a:extLst>
          </p:cNvPr>
          <p:cNvGrpSpPr/>
          <p:nvPr/>
        </p:nvGrpSpPr>
        <p:grpSpPr>
          <a:xfrm>
            <a:off x="1456814" y="2148052"/>
            <a:ext cx="2811183" cy="3727146"/>
            <a:chOff x="1456814" y="2148052"/>
            <a:chExt cx="2811183" cy="3727146"/>
          </a:xfrm>
        </p:grpSpPr>
        <p:sp>
          <p:nvSpPr>
            <p:cNvPr id="36" name="TextBox 35">
              <a:extLst>
                <a:ext uri="{FF2B5EF4-FFF2-40B4-BE49-F238E27FC236}">
                  <a16:creationId xmlns:a16="http://schemas.microsoft.com/office/drawing/2014/main" id="{93286646-468E-499D-F9A3-96342A050552}"/>
                </a:ext>
              </a:extLst>
            </p:cNvPr>
            <p:cNvSpPr txBox="1"/>
            <p:nvPr/>
          </p:nvSpPr>
          <p:spPr>
            <a:xfrm>
              <a:off x="1991278" y="5505866"/>
              <a:ext cx="1402948" cy="369332"/>
            </a:xfrm>
            <a:prstGeom prst="rect">
              <a:avLst/>
            </a:prstGeom>
            <a:noFill/>
          </p:spPr>
          <p:txBody>
            <a:bodyPr wrap="none" rtlCol="0">
              <a:spAutoFit/>
            </a:bodyPr>
            <a:lstStyle/>
            <a:p>
              <a:r>
                <a:rPr lang="en-US" dirty="0"/>
                <a:t>PMOS - 1972</a:t>
              </a:r>
            </a:p>
          </p:txBody>
        </p:sp>
        <p:grpSp>
          <p:nvGrpSpPr>
            <p:cNvPr id="43" name="Group 42" descr="The PMOS transistor is taking an input of 1 and producing an output of 0.  Since the transistor is closed with an input of 1, the VDD is blocked and output flows to ground through a transistor. But since the output is connected to another gate, it is not drawing much current so the resistor stays cool.  ">
              <a:extLst>
                <a:ext uri="{FF2B5EF4-FFF2-40B4-BE49-F238E27FC236}">
                  <a16:creationId xmlns:a16="http://schemas.microsoft.com/office/drawing/2014/main" id="{D39615FF-04CB-61AD-36AA-97D10BCE0538}"/>
                </a:ext>
              </a:extLst>
            </p:cNvPr>
            <p:cNvGrpSpPr/>
            <p:nvPr/>
          </p:nvGrpSpPr>
          <p:grpSpPr>
            <a:xfrm>
              <a:off x="1456814" y="2148052"/>
              <a:ext cx="2811183" cy="3211026"/>
              <a:chOff x="1456814" y="2148052"/>
              <a:chExt cx="2811183" cy="3211026"/>
            </a:xfrm>
          </p:grpSpPr>
          <p:pic>
            <p:nvPicPr>
              <p:cNvPr id="30" name="Picture 29" descr="A diagram of a NOT gate using a single PMOS transistor with a resistor between the output and ground.  There is an emoji suggesting that the resistor is getting very warm.">
                <a:extLst>
                  <a:ext uri="{FF2B5EF4-FFF2-40B4-BE49-F238E27FC236}">
                    <a16:creationId xmlns:a16="http://schemas.microsoft.com/office/drawing/2014/main" id="{E0C73588-5AB2-AD3A-9D42-BF6FFC484EF2}"/>
                  </a:ext>
                </a:extLst>
              </p:cNvPr>
              <p:cNvPicPr>
                <a:picLocks noChangeAspect="1"/>
              </p:cNvPicPr>
              <p:nvPr/>
            </p:nvPicPr>
            <p:blipFill>
              <a:blip r:embed="rId4"/>
              <a:stretch>
                <a:fillRect/>
              </a:stretch>
            </p:blipFill>
            <p:spPr>
              <a:xfrm>
                <a:off x="1811928" y="2362200"/>
                <a:ext cx="1761648" cy="2565400"/>
              </a:xfrm>
              <a:prstGeom prst="rect">
                <a:avLst/>
              </a:prstGeom>
            </p:spPr>
          </p:pic>
          <p:sp>
            <p:nvSpPr>
              <p:cNvPr id="33" name="TextBox 32" descr="A diagram of a NOT gate using a single PMOS transistor with a resistor.  There is an emoji suggesting that the resistor is getting very warm.">
                <a:extLst>
                  <a:ext uri="{FF2B5EF4-FFF2-40B4-BE49-F238E27FC236}">
                    <a16:creationId xmlns:a16="http://schemas.microsoft.com/office/drawing/2014/main" id="{2A7C4A20-98A8-E362-A4F2-D5C63B5289D4}"/>
                  </a:ext>
                </a:extLst>
              </p:cNvPr>
              <p:cNvSpPr txBox="1"/>
              <p:nvPr/>
            </p:nvSpPr>
            <p:spPr>
              <a:xfrm>
                <a:off x="2694986" y="4774303"/>
                <a:ext cx="499109" cy="584775"/>
              </a:xfrm>
              <a:prstGeom prst="rect">
                <a:avLst/>
              </a:prstGeom>
              <a:noFill/>
              <a:ln>
                <a:noFill/>
              </a:ln>
            </p:spPr>
            <p:txBody>
              <a:bodyPr wrap="square" rtlCol="0">
                <a:spAutoFit/>
              </a:bodyPr>
              <a:lstStyle/>
              <a:p>
                <a:r>
                  <a:rPr lang="en-US" sz="3200" dirty="0"/>
                  <a:t>⏚</a:t>
                </a:r>
              </a:p>
            </p:txBody>
          </p:sp>
          <p:sp>
            <p:nvSpPr>
              <p:cNvPr id="34" name="TextBox 33" descr="A diagram of a NOT gate using a single PMOS transistor with a resistor.  There is an emoji suggesting that the resistor is getting very warm.">
                <a:extLst>
                  <a:ext uri="{FF2B5EF4-FFF2-40B4-BE49-F238E27FC236}">
                    <a16:creationId xmlns:a16="http://schemas.microsoft.com/office/drawing/2014/main" id="{4E5439D4-6A55-05C2-8D17-C8EE9D71E8F8}"/>
                  </a:ext>
                </a:extLst>
              </p:cNvPr>
              <p:cNvSpPr txBox="1"/>
              <p:nvPr/>
            </p:nvSpPr>
            <p:spPr>
              <a:xfrm>
                <a:off x="1456814" y="2823061"/>
                <a:ext cx="402674" cy="523220"/>
              </a:xfrm>
              <a:prstGeom prst="rect">
                <a:avLst/>
              </a:prstGeom>
              <a:solidFill>
                <a:schemeClr val="bg1"/>
              </a:solidFill>
            </p:spPr>
            <p:txBody>
              <a:bodyPr wrap="none" rtlCol="0">
                <a:spAutoFit/>
              </a:bodyPr>
              <a:lstStyle/>
              <a:p>
                <a:r>
                  <a:rPr lang="en-US" sz="2800" dirty="0"/>
                  <a:t>A</a:t>
                </a:r>
              </a:p>
            </p:txBody>
          </p:sp>
          <p:sp>
            <p:nvSpPr>
              <p:cNvPr id="35" name="TextBox 34" descr="A diagram of a NOT gate using a single PMOS transistor with a resistor.  There is an emoji suggesting that the resistor is getting very warm.">
                <a:extLst>
                  <a:ext uri="{FF2B5EF4-FFF2-40B4-BE49-F238E27FC236}">
                    <a16:creationId xmlns:a16="http://schemas.microsoft.com/office/drawing/2014/main" id="{691E0927-FDD0-806E-4B96-ECF394C76539}"/>
                  </a:ext>
                </a:extLst>
              </p:cNvPr>
              <p:cNvSpPr txBox="1"/>
              <p:nvPr/>
            </p:nvSpPr>
            <p:spPr>
              <a:xfrm>
                <a:off x="3573576" y="3429000"/>
                <a:ext cx="694421" cy="523220"/>
              </a:xfrm>
              <a:prstGeom prst="rect">
                <a:avLst/>
              </a:prstGeom>
              <a:solidFill>
                <a:schemeClr val="bg1"/>
              </a:solidFill>
            </p:spPr>
            <p:txBody>
              <a:bodyPr wrap="none" rtlCol="0">
                <a:spAutoFit/>
              </a:bodyPr>
              <a:lstStyle/>
              <a:p>
                <a:r>
                  <a:rPr lang="en-US" sz="2800" dirty="0"/>
                  <a:t>out</a:t>
                </a:r>
              </a:p>
            </p:txBody>
          </p:sp>
          <p:sp>
            <p:nvSpPr>
              <p:cNvPr id="37" name="TextBox 36" descr="A diagram of a NOT gate using a single PMOS transistor with a resistor.  There is an emoji suggesting that the resistor is getting very warm.">
                <a:extLst>
                  <a:ext uri="{FF2B5EF4-FFF2-40B4-BE49-F238E27FC236}">
                    <a16:creationId xmlns:a16="http://schemas.microsoft.com/office/drawing/2014/main" id="{CD64C04B-82D7-909F-E7A3-17443DE4252D}"/>
                  </a:ext>
                </a:extLst>
              </p:cNvPr>
              <p:cNvSpPr txBox="1"/>
              <p:nvPr/>
            </p:nvSpPr>
            <p:spPr>
              <a:xfrm>
                <a:off x="1477075" y="2148052"/>
                <a:ext cx="764825" cy="523220"/>
              </a:xfrm>
              <a:prstGeom prst="rect">
                <a:avLst/>
              </a:prstGeom>
              <a:solidFill>
                <a:schemeClr val="bg1"/>
              </a:solidFill>
            </p:spPr>
            <p:txBody>
              <a:bodyPr wrap="none" rtlCol="0">
                <a:spAutoFit/>
              </a:bodyPr>
              <a:lstStyle/>
              <a:p>
                <a:r>
                  <a:rPr lang="en-US" sz="2800" dirty="0" err="1"/>
                  <a:t>Vdd</a:t>
                </a:r>
                <a:endParaRPr lang="en-US" sz="2800" dirty="0"/>
              </a:p>
            </p:txBody>
          </p:sp>
        </p:grpSp>
        <p:sp>
          <p:nvSpPr>
            <p:cNvPr id="48" name="TextBox 47">
              <a:extLst>
                <a:ext uri="{FF2B5EF4-FFF2-40B4-BE49-F238E27FC236}">
                  <a16:creationId xmlns:a16="http://schemas.microsoft.com/office/drawing/2014/main" id="{4B1A1F71-3667-EB47-AB41-B36CCCFA8A4E}"/>
                </a:ext>
              </a:extLst>
            </p:cNvPr>
            <p:cNvSpPr txBox="1"/>
            <p:nvPr/>
          </p:nvSpPr>
          <p:spPr>
            <a:xfrm>
              <a:off x="1460798" y="3305677"/>
              <a:ext cx="367408" cy="523220"/>
            </a:xfrm>
            <a:prstGeom prst="rect">
              <a:avLst/>
            </a:prstGeom>
            <a:noFill/>
          </p:spPr>
          <p:txBody>
            <a:bodyPr wrap="square" rtlCol="0">
              <a:spAutoFit/>
            </a:bodyPr>
            <a:lstStyle/>
            <a:p>
              <a:r>
                <a:rPr lang="en-US" sz="2800" dirty="0"/>
                <a:t>1</a:t>
              </a:r>
            </a:p>
          </p:txBody>
        </p:sp>
        <p:sp>
          <p:nvSpPr>
            <p:cNvPr id="49" name="TextBox 48">
              <a:extLst>
                <a:ext uri="{FF2B5EF4-FFF2-40B4-BE49-F238E27FC236}">
                  <a16:creationId xmlns:a16="http://schemas.microsoft.com/office/drawing/2014/main" id="{DAD7D0BE-F0EE-3752-1D31-CAFB27A94204}"/>
                </a:ext>
              </a:extLst>
            </p:cNvPr>
            <p:cNvSpPr txBox="1"/>
            <p:nvPr/>
          </p:nvSpPr>
          <p:spPr>
            <a:xfrm>
              <a:off x="3724089" y="3823409"/>
              <a:ext cx="367408" cy="523220"/>
            </a:xfrm>
            <a:prstGeom prst="rect">
              <a:avLst/>
            </a:prstGeom>
            <a:noFill/>
          </p:spPr>
          <p:txBody>
            <a:bodyPr wrap="none" rtlCol="0">
              <a:spAutoFit/>
            </a:bodyPr>
            <a:lstStyle/>
            <a:p>
              <a:r>
                <a:rPr lang="en-US" sz="2800" dirty="0"/>
                <a:t>0</a:t>
              </a:r>
            </a:p>
          </p:txBody>
        </p:sp>
        <p:sp>
          <p:nvSpPr>
            <p:cNvPr id="59" name="TextBox 58">
              <a:extLst>
                <a:ext uri="{FF2B5EF4-FFF2-40B4-BE49-F238E27FC236}">
                  <a16:creationId xmlns:a16="http://schemas.microsoft.com/office/drawing/2014/main" id="{22AA38A5-5D3D-CAD1-668C-EE2C323559A8}"/>
                </a:ext>
              </a:extLst>
            </p:cNvPr>
            <p:cNvSpPr txBox="1"/>
            <p:nvPr/>
          </p:nvSpPr>
          <p:spPr>
            <a:xfrm>
              <a:off x="2486022" y="2868555"/>
              <a:ext cx="543739" cy="523220"/>
            </a:xfrm>
            <a:prstGeom prst="rect">
              <a:avLst/>
            </a:prstGeom>
            <a:noFill/>
          </p:spPr>
          <p:txBody>
            <a:bodyPr wrap="none" rtlCol="0">
              <a:spAutoFit/>
            </a:bodyPr>
            <a:lstStyle/>
            <a:p>
              <a:r>
                <a:rPr lang="en-US" sz="2800" dirty="0"/>
                <a:t>🚫</a:t>
              </a:r>
            </a:p>
          </p:txBody>
        </p:sp>
        <p:sp>
          <p:nvSpPr>
            <p:cNvPr id="3" name="Bent Arrow 2">
              <a:extLst>
                <a:ext uri="{FF2B5EF4-FFF2-40B4-BE49-F238E27FC236}">
                  <a16:creationId xmlns:a16="http://schemas.microsoft.com/office/drawing/2014/main" id="{B05948D0-7603-620D-B2C6-FB65E5C9C190}"/>
                </a:ext>
                <a:ext uri="{C183D7F6-B498-43B3-948B-1728B52AA6E4}">
                  <adec:decorative xmlns:adec="http://schemas.microsoft.com/office/drawing/2017/decorative" val="1"/>
                </a:ext>
              </a:extLst>
            </p:cNvPr>
            <p:cNvSpPr/>
            <p:nvPr/>
          </p:nvSpPr>
          <p:spPr>
            <a:xfrm>
              <a:off x="3104939" y="3823409"/>
              <a:ext cx="444021" cy="1158349"/>
            </a:xfrm>
            <a:prstGeom prst="bentArrow">
              <a:avLst>
                <a:gd name="adj1" fmla="val 17422"/>
                <a:gd name="adj2" fmla="val 14897"/>
                <a:gd name="adj3" fmla="val 25000"/>
                <a:gd name="adj4" fmla="val 43750"/>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TextBox 24">
              <a:extLst>
                <a:ext uri="{FF2B5EF4-FFF2-40B4-BE49-F238E27FC236}">
                  <a16:creationId xmlns:a16="http://schemas.microsoft.com/office/drawing/2014/main" id="{B584FAE7-3662-C52B-1D36-F06E0415338D}"/>
                </a:ext>
              </a:extLst>
            </p:cNvPr>
            <p:cNvSpPr txBox="1"/>
            <p:nvPr/>
          </p:nvSpPr>
          <p:spPr>
            <a:xfrm>
              <a:off x="1986260" y="4158750"/>
              <a:ext cx="786913" cy="707886"/>
            </a:xfrm>
            <a:prstGeom prst="rect">
              <a:avLst/>
            </a:prstGeom>
            <a:noFill/>
          </p:spPr>
          <p:txBody>
            <a:bodyPr wrap="square">
              <a:spAutoFit/>
            </a:bodyPr>
            <a:lstStyle/>
            <a:p>
              <a:r>
                <a:rPr lang="en-US" sz="4000" dirty="0"/>
                <a:t>❄</a:t>
              </a:r>
            </a:p>
          </p:txBody>
        </p:sp>
      </p:grpSp>
      <p:grpSp>
        <p:nvGrpSpPr>
          <p:cNvPr id="27" name="Group 26" descr="The NMOS transistor is taking an input of 1 and producing an output of 0.  Since the transistor is closed with an input of 1, the VDD is going to output.  But VDD is also shorted to ground through the transistor so we add a resistor to avoid a short circuit.  While the input is 1 to a PMOS transistor, the resistor is generating significant heat.  Circa 1978.">
            <a:extLst>
              <a:ext uri="{FF2B5EF4-FFF2-40B4-BE49-F238E27FC236}">
                <a16:creationId xmlns:a16="http://schemas.microsoft.com/office/drawing/2014/main" id="{477540BC-C11F-8C9A-3039-279ECF98FA6F}"/>
              </a:ext>
            </a:extLst>
          </p:cNvPr>
          <p:cNvGrpSpPr/>
          <p:nvPr/>
        </p:nvGrpSpPr>
        <p:grpSpPr>
          <a:xfrm>
            <a:off x="5023686" y="2100590"/>
            <a:ext cx="2785743" cy="3750330"/>
            <a:chOff x="5023686" y="2100590"/>
            <a:chExt cx="2785743" cy="3750330"/>
          </a:xfrm>
        </p:grpSpPr>
        <p:sp>
          <p:nvSpPr>
            <p:cNvPr id="20" name="TextBox 19">
              <a:extLst>
                <a:ext uri="{FF2B5EF4-FFF2-40B4-BE49-F238E27FC236}">
                  <a16:creationId xmlns:a16="http://schemas.microsoft.com/office/drawing/2014/main" id="{4D64E98A-1409-213B-781D-1790608E262C}"/>
                </a:ext>
              </a:extLst>
            </p:cNvPr>
            <p:cNvSpPr txBox="1"/>
            <p:nvPr/>
          </p:nvSpPr>
          <p:spPr>
            <a:xfrm>
              <a:off x="5537628" y="5481588"/>
              <a:ext cx="1433406" cy="369332"/>
            </a:xfrm>
            <a:prstGeom prst="rect">
              <a:avLst/>
            </a:prstGeom>
            <a:noFill/>
          </p:spPr>
          <p:txBody>
            <a:bodyPr wrap="none" rtlCol="0">
              <a:spAutoFit/>
            </a:bodyPr>
            <a:lstStyle/>
            <a:p>
              <a:r>
                <a:rPr lang="en-US" dirty="0"/>
                <a:t>NMOS - 1978</a:t>
              </a:r>
            </a:p>
          </p:txBody>
        </p:sp>
        <p:pic>
          <p:nvPicPr>
            <p:cNvPr id="6" name="Picture 5" descr="The NMOS transistor is taking an input of 1 and producing an output of 0.  Since the transistor is closed with an input of 1, the VDD is going to output.  But VDD is also shorted to ground through the transistor so we add a resistor to avoid a short circuit.  While the input is 1 to a PMOS transistor, the resistor is generating significant heat. ">
              <a:extLst>
                <a:ext uri="{FF2B5EF4-FFF2-40B4-BE49-F238E27FC236}">
                  <a16:creationId xmlns:a16="http://schemas.microsoft.com/office/drawing/2014/main" id="{76B8A7EE-65FC-B7F5-CC52-E15843FFD4AF}"/>
                </a:ext>
              </a:extLst>
            </p:cNvPr>
            <p:cNvPicPr>
              <a:picLocks noChangeAspect="1"/>
            </p:cNvPicPr>
            <p:nvPr/>
          </p:nvPicPr>
          <p:blipFill>
            <a:blip r:embed="rId5"/>
            <a:srcRect t="8422" b="29088"/>
            <a:stretch/>
          </p:blipFill>
          <p:spPr>
            <a:xfrm>
              <a:off x="5042485" y="2362200"/>
              <a:ext cx="2411830" cy="2565400"/>
            </a:xfrm>
            <a:prstGeom prst="rect">
              <a:avLst/>
            </a:prstGeom>
          </p:spPr>
        </p:pic>
        <p:sp>
          <p:nvSpPr>
            <p:cNvPr id="9" name="TextBox 8">
              <a:extLst>
                <a:ext uri="{FF2B5EF4-FFF2-40B4-BE49-F238E27FC236}">
                  <a16:creationId xmlns:a16="http://schemas.microsoft.com/office/drawing/2014/main" id="{1AF98E03-C3EB-A964-A4BC-47E60939CC0D}"/>
                </a:ext>
              </a:extLst>
            </p:cNvPr>
            <p:cNvSpPr txBox="1"/>
            <p:nvPr/>
          </p:nvSpPr>
          <p:spPr>
            <a:xfrm>
              <a:off x="5023686" y="4056515"/>
              <a:ext cx="402674" cy="523220"/>
            </a:xfrm>
            <a:prstGeom prst="rect">
              <a:avLst/>
            </a:prstGeom>
            <a:solidFill>
              <a:schemeClr val="bg1"/>
            </a:solidFill>
          </p:spPr>
          <p:txBody>
            <a:bodyPr wrap="none" rtlCol="0">
              <a:spAutoFit/>
            </a:bodyPr>
            <a:lstStyle/>
            <a:p>
              <a:r>
                <a:rPr lang="en-US" sz="2800" dirty="0"/>
                <a:t>A</a:t>
              </a:r>
            </a:p>
          </p:txBody>
        </p:sp>
        <p:sp>
          <p:nvSpPr>
            <p:cNvPr id="10" name="TextBox 9">
              <a:extLst>
                <a:ext uri="{FF2B5EF4-FFF2-40B4-BE49-F238E27FC236}">
                  <a16:creationId xmlns:a16="http://schemas.microsoft.com/office/drawing/2014/main" id="{3B6371C6-4DF2-BF9E-5BDA-90CAD0FFB4F7}"/>
                </a:ext>
              </a:extLst>
            </p:cNvPr>
            <p:cNvSpPr txBox="1"/>
            <p:nvPr/>
          </p:nvSpPr>
          <p:spPr>
            <a:xfrm>
              <a:off x="5043947" y="2100590"/>
              <a:ext cx="764825" cy="523220"/>
            </a:xfrm>
            <a:prstGeom prst="rect">
              <a:avLst/>
            </a:prstGeom>
            <a:solidFill>
              <a:schemeClr val="bg1"/>
            </a:solidFill>
          </p:spPr>
          <p:txBody>
            <a:bodyPr wrap="none" rtlCol="0">
              <a:spAutoFit/>
            </a:bodyPr>
            <a:lstStyle/>
            <a:p>
              <a:r>
                <a:rPr lang="en-US" sz="2800" dirty="0" err="1"/>
                <a:t>Vdd</a:t>
              </a:r>
              <a:endParaRPr lang="en-US" sz="2800" dirty="0"/>
            </a:p>
          </p:txBody>
        </p:sp>
        <p:sp>
          <p:nvSpPr>
            <p:cNvPr id="12" name="TextBox 11">
              <a:extLst>
                <a:ext uri="{FF2B5EF4-FFF2-40B4-BE49-F238E27FC236}">
                  <a16:creationId xmlns:a16="http://schemas.microsoft.com/office/drawing/2014/main" id="{96D477DE-BB1B-DF2A-EF1E-E9C469BCE51E}"/>
                </a:ext>
              </a:extLst>
            </p:cNvPr>
            <p:cNvSpPr txBox="1"/>
            <p:nvPr/>
          </p:nvSpPr>
          <p:spPr>
            <a:xfrm>
              <a:off x="7115008" y="3334460"/>
              <a:ext cx="694421" cy="523220"/>
            </a:xfrm>
            <a:prstGeom prst="rect">
              <a:avLst/>
            </a:prstGeom>
            <a:solidFill>
              <a:schemeClr val="bg1"/>
            </a:solidFill>
          </p:spPr>
          <p:txBody>
            <a:bodyPr wrap="none" rtlCol="0">
              <a:spAutoFit/>
            </a:bodyPr>
            <a:lstStyle/>
            <a:p>
              <a:r>
                <a:rPr lang="en-US" sz="2800" dirty="0"/>
                <a:t>out</a:t>
              </a:r>
            </a:p>
          </p:txBody>
        </p:sp>
        <p:sp>
          <p:nvSpPr>
            <p:cNvPr id="16" name="TextBox 15">
              <a:extLst>
                <a:ext uri="{FF2B5EF4-FFF2-40B4-BE49-F238E27FC236}">
                  <a16:creationId xmlns:a16="http://schemas.microsoft.com/office/drawing/2014/main" id="{00E4155B-E424-AECF-7E5F-CB900F4C75EB}"/>
                </a:ext>
              </a:extLst>
            </p:cNvPr>
            <p:cNvSpPr txBox="1"/>
            <p:nvPr/>
          </p:nvSpPr>
          <p:spPr>
            <a:xfrm>
              <a:off x="6135214" y="4800599"/>
              <a:ext cx="499109" cy="584775"/>
            </a:xfrm>
            <a:prstGeom prst="rect">
              <a:avLst/>
            </a:prstGeom>
            <a:noFill/>
            <a:ln>
              <a:noFill/>
            </a:ln>
          </p:spPr>
          <p:txBody>
            <a:bodyPr wrap="square" rtlCol="0">
              <a:spAutoFit/>
            </a:bodyPr>
            <a:lstStyle/>
            <a:p>
              <a:r>
                <a:rPr lang="en-US" sz="3200" dirty="0"/>
                <a:t>⏚</a:t>
              </a:r>
            </a:p>
          </p:txBody>
        </p:sp>
        <p:sp>
          <p:nvSpPr>
            <p:cNvPr id="52" name="TextBox 51">
              <a:extLst>
                <a:ext uri="{FF2B5EF4-FFF2-40B4-BE49-F238E27FC236}">
                  <a16:creationId xmlns:a16="http://schemas.microsoft.com/office/drawing/2014/main" id="{A8733DA3-1265-1537-AB3D-D29E7A491EB8}"/>
                </a:ext>
              </a:extLst>
            </p:cNvPr>
            <p:cNvSpPr txBox="1"/>
            <p:nvPr/>
          </p:nvSpPr>
          <p:spPr>
            <a:xfrm>
              <a:off x="5040075" y="4512693"/>
              <a:ext cx="367408" cy="523220"/>
            </a:xfrm>
            <a:prstGeom prst="rect">
              <a:avLst/>
            </a:prstGeom>
            <a:noFill/>
          </p:spPr>
          <p:txBody>
            <a:bodyPr wrap="none" rtlCol="0">
              <a:spAutoFit/>
            </a:bodyPr>
            <a:lstStyle/>
            <a:p>
              <a:r>
                <a:rPr lang="en-US" sz="2800" dirty="0"/>
                <a:t>1</a:t>
              </a:r>
            </a:p>
          </p:txBody>
        </p:sp>
        <p:sp>
          <p:nvSpPr>
            <p:cNvPr id="53" name="TextBox 52">
              <a:extLst>
                <a:ext uri="{FF2B5EF4-FFF2-40B4-BE49-F238E27FC236}">
                  <a16:creationId xmlns:a16="http://schemas.microsoft.com/office/drawing/2014/main" id="{B581A504-C714-E598-D110-B064890F5A6B}"/>
                </a:ext>
              </a:extLst>
            </p:cNvPr>
            <p:cNvSpPr txBox="1"/>
            <p:nvPr/>
          </p:nvSpPr>
          <p:spPr>
            <a:xfrm>
              <a:off x="7265521" y="3738020"/>
              <a:ext cx="367408" cy="523220"/>
            </a:xfrm>
            <a:prstGeom prst="rect">
              <a:avLst/>
            </a:prstGeom>
            <a:noFill/>
          </p:spPr>
          <p:txBody>
            <a:bodyPr wrap="square" rtlCol="0">
              <a:spAutoFit/>
            </a:bodyPr>
            <a:lstStyle/>
            <a:p>
              <a:r>
                <a:rPr lang="en-US" sz="2800" dirty="0"/>
                <a:t>0</a:t>
              </a:r>
            </a:p>
          </p:txBody>
        </p:sp>
        <p:sp>
          <p:nvSpPr>
            <p:cNvPr id="18" name="Bent Arrow 17">
              <a:extLst>
                <a:ext uri="{FF2B5EF4-FFF2-40B4-BE49-F238E27FC236}">
                  <a16:creationId xmlns:a16="http://schemas.microsoft.com/office/drawing/2014/main" id="{F9723639-9670-6ECC-7B7A-01EC18BF4230}"/>
                </a:ext>
                <a:ext uri="{C183D7F6-B498-43B3-948B-1728B52AA6E4}">
                  <adec:decorative xmlns:adec="http://schemas.microsoft.com/office/drawing/2017/decorative" val="1"/>
                </a:ext>
              </a:extLst>
            </p:cNvPr>
            <p:cNvSpPr/>
            <p:nvPr/>
          </p:nvSpPr>
          <p:spPr>
            <a:xfrm>
              <a:off x="6461265" y="3723224"/>
              <a:ext cx="444021" cy="1300590"/>
            </a:xfrm>
            <a:prstGeom prst="bentArrow">
              <a:avLst>
                <a:gd name="adj1" fmla="val 17422"/>
                <a:gd name="adj2" fmla="val 14897"/>
                <a:gd name="adj3" fmla="val 25000"/>
                <a:gd name="adj4" fmla="val 43750"/>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Down Arrow 21">
              <a:extLst>
                <a:ext uri="{FF2B5EF4-FFF2-40B4-BE49-F238E27FC236}">
                  <a16:creationId xmlns:a16="http://schemas.microsoft.com/office/drawing/2014/main" id="{A0AB6808-AC00-CB9D-2564-1672EBEC1526}"/>
                </a:ext>
                <a:ext uri="{C183D7F6-B498-43B3-948B-1728B52AA6E4}">
                  <adec:decorative xmlns:adec="http://schemas.microsoft.com/office/drawing/2017/decorative" val="1"/>
                </a:ext>
              </a:extLst>
            </p:cNvPr>
            <p:cNvSpPr/>
            <p:nvPr/>
          </p:nvSpPr>
          <p:spPr>
            <a:xfrm>
              <a:off x="6057007" y="2470513"/>
              <a:ext cx="213006" cy="2565400"/>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descr="A diagram of a NOT gate using a single PMOS transistor with a resistor.  There is an emoji suggesting that the resistor is getting very warm.">
              <a:extLst>
                <a:ext uri="{FF2B5EF4-FFF2-40B4-BE49-F238E27FC236}">
                  <a16:creationId xmlns:a16="http://schemas.microsoft.com/office/drawing/2014/main" id="{7497642E-99A4-7ADC-A4B5-A912193F635A}"/>
                </a:ext>
              </a:extLst>
            </p:cNvPr>
            <p:cNvSpPr txBox="1"/>
            <p:nvPr/>
          </p:nvSpPr>
          <p:spPr>
            <a:xfrm>
              <a:off x="6528294" y="2683889"/>
              <a:ext cx="786913" cy="707886"/>
            </a:xfrm>
            <a:prstGeom prst="rect">
              <a:avLst/>
            </a:prstGeom>
            <a:noFill/>
          </p:spPr>
          <p:txBody>
            <a:bodyPr wrap="square">
              <a:spAutoFit/>
            </a:bodyPr>
            <a:lstStyle/>
            <a:p>
              <a:r>
                <a:rPr lang="en-US" sz="4000" dirty="0"/>
                <a:t>♨️</a:t>
              </a:r>
            </a:p>
          </p:txBody>
        </p:sp>
      </p:grpSp>
      <p:grpSp>
        <p:nvGrpSpPr>
          <p:cNvPr id="28" name="Group 27" descr="A diagram of a Not gate implemented with two transistors using CMOS.  The input is connected to the gate of PMOS and NMOS transistors. If the input is 1, the PMOS transistor open and the NMOS transistor is closed so ground is connected to the output.  The open PMOS transistor is blocking any path from VDD to ground so very little heat is generated. Circa 1983.">
            <a:extLst>
              <a:ext uri="{FF2B5EF4-FFF2-40B4-BE49-F238E27FC236}">
                <a16:creationId xmlns:a16="http://schemas.microsoft.com/office/drawing/2014/main" id="{F21B426A-4542-F284-E72B-54927AC5E0B2}"/>
              </a:ext>
            </a:extLst>
          </p:cNvPr>
          <p:cNvGrpSpPr/>
          <p:nvPr/>
        </p:nvGrpSpPr>
        <p:grpSpPr>
          <a:xfrm>
            <a:off x="8427974" y="2016474"/>
            <a:ext cx="3233043" cy="3845527"/>
            <a:chOff x="8427974" y="2016474"/>
            <a:chExt cx="3233043" cy="3845527"/>
          </a:xfrm>
        </p:grpSpPr>
        <p:grpSp>
          <p:nvGrpSpPr>
            <p:cNvPr id="47" name="Group 46" descr="A diagram of a Not gate implemented with two transistors using CMOS.  The input is connected to the gate of PMOS and NMOS transistors. If the input is 1, the PMOS transistor open and the NMOS transistor is closed so ground is connected to the output.  The open PMOS transistor is blocking any path from VDD to ground so very little heat is generated.">
              <a:extLst>
                <a:ext uri="{FF2B5EF4-FFF2-40B4-BE49-F238E27FC236}">
                  <a16:creationId xmlns:a16="http://schemas.microsoft.com/office/drawing/2014/main" id="{862E3BEB-472E-6211-1EC2-A15BF1AFEB1F}"/>
                </a:ext>
              </a:extLst>
            </p:cNvPr>
            <p:cNvGrpSpPr/>
            <p:nvPr/>
          </p:nvGrpSpPr>
          <p:grpSpPr>
            <a:xfrm>
              <a:off x="8427974" y="2016474"/>
              <a:ext cx="3233043" cy="3401940"/>
              <a:chOff x="8427974" y="2016474"/>
              <a:chExt cx="3233043" cy="3401940"/>
            </a:xfrm>
          </p:grpSpPr>
          <p:pic>
            <p:nvPicPr>
              <p:cNvPr id="5" name="Picture 4" descr="A diagram of a Not gate implemented with two transistors using CMOS.  The input is connected to the gate of a PMOS and NMOS transistors. If the input is 0, the PMOS transister opened and the NMPS transistor closed so VCC is connected to the output.  the output is 1 because the PMOS transister is closed and the voltage to goes to output.   If the input is 1, the PMOS transistor closes and the NMOS transistor opens and ground is connected ot the output.">
                <a:extLst>
                  <a:ext uri="{FF2B5EF4-FFF2-40B4-BE49-F238E27FC236}">
                    <a16:creationId xmlns:a16="http://schemas.microsoft.com/office/drawing/2014/main" id="{4F15E8D7-D606-C034-58EE-E62E79DE03FE}"/>
                  </a:ext>
                </a:extLst>
              </p:cNvPr>
              <p:cNvPicPr>
                <a:picLocks noChangeAspect="1"/>
              </p:cNvPicPr>
              <p:nvPr/>
            </p:nvPicPr>
            <p:blipFill>
              <a:blip r:embed="rId6" cstate="print">
                <a:extLst>
                  <a:ext uri="{28A0092B-C50C-407E-A947-70E740481C1C}">
                    <a14:useLocalDpi xmlns:a14="http://schemas.microsoft.com/office/drawing/2010/main"/>
                  </a:ext>
                </a:extLst>
              </a:blip>
              <a:srcRect l="19468" r="21660" b="15929"/>
              <a:stretch/>
            </p:blipFill>
            <p:spPr>
              <a:xfrm>
                <a:off x="9017001" y="2016474"/>
                <a:ext cx="1949596" cy="3101626"/>
              </a:xfrm>
              <a:prstGeom prst="rect">
                <a:avLst/>
              </a:prstGeom>
            </p:spPr>
          </p:pic>
          <p:sp>
            <p:nvSpPr>
              <p:cNvPr id="11" name="TextBox 10">
                <a:extLst>
                  <a:ext uri="{FF2B5EF4-FFF2-40B4-BE49-F238E27FC236}">
                    <a16:creationId xmlns:a16="http://schemas.microsoft.com/office/drawing/2014/main" id="{C2C2ED46-4D2C-949E-F227-6C56627EFAED}"/>
                  </a:ext>
                </a:extLst>
              </p:cNvPr>
              <p:cNvSpPr txBox="1"/>
              <p:nvPr/>
            </p:nvSpPr>
            <p:spPr>
              <a:xfrm>
                <a:off x="8427974" y="2148052"/>
                <a:ext cx="764825" cy="523220"/>
              </a:xfrm>
              <a:prstGeom prst="rect">
                <a:avLst/>
              </a:prstGeom>
              <a:solidFill>
                <a:schemeClr val="bg1"/>
              </a:solidFill>
            </p:spPr>
            <p:txBody>
              <a:bodyPr wrap="none" rtlCol="0">
                <a:spAutoFit/>
              </a:bodyPr>
              <a:lstStyle/>
              <a:p>
                <a:r>
                  <a:rPr lang="en-US" sz="2800" dirty="0" err="1"/>
                  <a:t>Vdd</a:t>
                </a:r>
                <a:endParaRPr lang="en-US" sz="2800" dirty="0"/>
              </a:p>
            </p:txBody>
          </p:sp>
          <p:sp>
            <p:nvSpPr>
              <p:cNvPr id="13" name="TextBox 12">
                <a:extLst>
                  <a:ext uri="{FF2B5EF4-FFF2-40B4-BE49-F238E27FC236}">
                    <a16:creationId xmlns:a16="http://schemas.microsoft.com/office/drawing/2014/main" id="{609C3FEF-E76D-9748-2471-7630F0BDB2A1}"/>
                  </a:ext>
                </a:extLst>
              </p:cNvPr>
              <p:cNvSpPr txBox="1"/>
              <p:nvPr/>
            </p:nvSpPr>
            <p:spPr>
              <a:xfrm>
                <a:off x="10966596" y="3476410"/>
                <a:ext cx="694421" cy="523220"/>
              </a:xfrm>
              <a:prstGeom prst="rect">
                <a:avLst/>
              </a:prstGeom>
              <a:solidFill>
                <a:schemeClr val="bg1"/>
              </a:solidFill>
            </p:spPr>
            <p:txBody>
              <a:bodyPr wrap="none" rtlCol="0">
                <a:spAutoFit/>
              </a:bodyPr>
              <a:lstStyle/>
              <a:p>
                <a:r>
                  <a:rPr lang="en-US" sz="2800" dirty="0"/>
                  <a:t>out</a:t>
                </a:r>
              </a:p>
            </p:txBody>
          </p:sp>
          <p:sp>
            <p:nvSpPr>
              <p:cNvPr id="14" name="TextBox 13">
                <a:extLst>
                  <a:ext uri="{FF2B5EF4-FFF2-40B4-BE49-F238E27FC236}">
                    <a16:creationId xmlns:a16="http://schemas.microsoft.com/office/drawing/2014/main" id="{A40D80CE-A2D9-39C5-BFC0-228D312B623C}"/>
                  </a:ext>
                </a:extLst>
              </p:cNvPr>
              <p:cNvSpPr txBox="1"/>
              <p:nvPr/>
            </p:nvSpPr>
            <p:spPr>
              <a:xfrm>
                <a:off x="8630486" y="3461614"/>
                <a:ext cx="402674" cy="523220"/>
              </a:xfrm>
              <a:prstGeom prst="rect">
                <a:avLst/>
              </a:prstGeom>
              <a:solidFill>
                <a:schemeClr val="bg1"/>
              </a:solidFill>
            </p:spPr>
            <p:txBody>
              <a:bodyPr wrap="none" rtlCol="0">
                <a:spAutoFit/>
              </a:bodyPr>
              <a:lstStyle/>
              <a:p>
                <a:r>
                  <a:rPr lang="en-US" sz="2800" dirty="0"/>
                  <a:t>A</a:t>
                </a:r>
              </a:p>
            </p:txBody>
          </p:sp>
          <p:sp>
            <p:nvSpPr>
              <p:cNvPr id="15" name="TextBox 14">
                <a:extLst>
                  <a:ext uri="{FF2B5EF4-FFF2-40B4-BE49-F238E27FC236}">
                    <a16:creationId xmlns:a16="http://schemas.microsoft.com/office/drawing/2014/main" id="{3739D650-4C85-7A40-DC64-70D587B984E9}"/>
                  </a:ext>
                </a:extLst>
              </p:cNvPr>
              <p:cNvSpPr txBox="1"/>
              <p:nvPr/>
            </p:nvSpPr>
            <p:spPr>
              <a:xfrm>
                <a:off x="10059356" y="4833639"/>
                <a:ext cx="499109" cy="584775"/>
              </a:xfrm>
              <a:prstGeom prst="rect">
                <a:avLst/>
              </a:prstGeom>
              <a:noFill/>
            </p:spPr>
            <p:txBody>
              <a:bodyPr wrap="square" rtlCol="0">
                <a:spAutoFit/>
              </a:bodyPr>
              <a:lstStyle/>
              <a:p>
                <a:r>
                  <a:rPr lang="en-US" sz="3200" dirty="0"/>
                  <a:t>⏚</a:t>
                </a:r>
              </a:p>
            </p:txBody>
          </p:sp>
        </p:grpSp>
        <p:sp>
          <p:nvSpPr>
            <p:cNvPr id="21" name="TextBox 20">
              <a:extLst>
                <a:ext uri="{FF2B5EF4-FFF2-40B4-BE49-F238E27FC236}">
                  <a16:creationId xmlns:a16="http://schemas.microsoft.com/office/drawing/2014/main" id="{E563E586-C429-85E5-50E6-DEA97C803979}"/>
                </a:ext>
              </a:extLst>
            </p:cNvPr>
            <p:cNvSpPr txBox="1"/>
            <p:nvPr/>
          </p:nvSpPr>
          <p:spPr>
            <a:xfrm>
              <a:off x="9459959" y="5492669"/>
              <a:ext cx="1407758" cy="369332"/>
            </a:xfrm>
            <a:prstGeom prst="rect">
              <a:avLst/>
            </a:prstGeom>
            <a:noFill/>
          </p:spPr>
          <p:txBody>
            <a:bodyPr wrap="none" rtlCol="0">
              <a:spAutoFit/>
            </a:bodyPr>
            <a:lstStyle/>
            <a:p>
              <a:r>
                <a:rPr lang="en-US" dirty="0"/>
                <a:t>CMOS - 1983</a:t>
              </a:r>
            </a:p>
          </p:txBody>
        </p:sp>
        <p:sp>
          <p:nvSpPr>
            <p:cNvPr id="7" name="Bent Arrow 6">
              <a:extLst>
                <a:ext uri="{FF2B5EF4-FFF2-40B4-BE49-F238E27FC236}">
                  <a16:creationId xmlns:a16="http://schemas.microsoft.com/office/drawing/2014/main" id="{FA0D6D61-12D0-854F-F6E3-907B4717A5A4}"/>
                </a:ext>
                <a:ext uri="{C183D7F6-B498-43B3-948B-1728B52AA6E4}">
                  <adec:decorative xmlns:adec="http://schemas.microsoft.com/office/drawing/2017/decorative" val="1"/>
                </a:ext>
              </a:extLst>
            </p:cNvPr>
            <p:cNvSpPr/>
            <p:nvPr/>
          </p:nvSpPr>
          <p:spPr>
            <a:xfrm>
              <a:off x="10429713" y="3884964"/>
              <a:ext cx="444021" cy="1100218"/>
            </a:xfrm>
            <a:prstGeom prst="bentArrow">
              <a:avLst>
                <a:gd name="adj1" fmla="val 17422"/>
                <a:gd name="adj2" fmla="val 14897"/>
                <a:gd name="adj3" fmla="val 25000"/>
                <a:gd name="adj4" fmla="val 43750"/>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TextBox 7">
              <a:extLst>
                <a:ext uri="{FF2B5EF4-FFF2-40B4-BE49-F238E27FC236}">
                  <a16:creationId xmlns:a16="http://schemas.microsoft.com/office/drawing/2014/main" id="{41487231-DC4B-F8BF-356F-23B3222306BC}"/>
                </a:ext>
              </a:extLst>
            </p:cNvPr>
            <p:cNvSpPr txBox="1"/>
            <p:nvPr/>
          </p:nvSpPr>
          <p:spPr>
            <a:xfrm>
              <a:off x="8641440" y="3884964"/>
              <a:ext cx="367408" cy="523220"/>
            </a:xfrm>
            <a:prstGeom prst="rect">
              <a:avLst/>
            </a:prstGeom>
            <a:noFill/>
          </p:spPr>
          <p:txBody>
            <a:bodyPr wrap="none" rtlCol="0">
              <a:spAutoFit/>
            </a:bodyPr>
            <a:lstStyle/>
            <a:p>
              <a:r>
                <a:rPr lang="en-US" sz="2800" dirty="0"/>
                <a:t>1</a:t>
              </a:r>
            </a:p>
          </p:txBody>
        </p:sp>
        <p:sp>
          <p:nvSpPr>
            <p:cNvPr id="17" name="TextBox 16">
              <a:extLst>
                <a:ext uri="{FF2B5EF4-FFF2-40B4-BE49-F238E27FC236}">
                  <a16:creationId xmlns:a16="http://schemas.microsoft.com/office/drawing/2014/main" id="{8354F13B-B484-0E81-792B-3E0F143CFC29}"/>
                </a:ext>
              </a:extLst>
            </p:cNvPr>
            <p:cNvSpPr txBox="1"/>
            <p:nvPr/>
          </p:nvSpPr>
          <p:spPr>
            <a:xfrm>
              <a:off x="10059356" y="3037116"/>
              <a:ext cx="543739" cy="400110"/>
            </a:xfrm>
            <a:prstGeom prst="rect">
              <a:avLst/>
            </a:prstGeom>
            <a:noFill/>
          </p:spPr>
          <p:txBody>
            <a:bodyPr wrap="square" rtlCol="0">
              <a:spAutoFit/>
            </a:bodyPr>
            <a:lstStyle/>
            <a:p>
              <a:r>
                <a:rPr lang="en-US" sz="2000" dirty="0"/>
                <a:t>🚫</a:t>
              </a:r>
            </a:p>
          </p:txBody>
        </p:sp>
        <p:sp>
          <p:nvSpPr>
            <p:cNvPr id="19" name="TextBox 18">
              <a:extLst>
                <a:ext uri="{FF2B5EF4-FFF2-40B4-BE49-F238E27FC236}">
                  <a16:creationId xmlns:a16="http://schemas.microsoft.com/office/drawing/2014/main" id="{F79BC451-1FC2-D1BC-3148-1A2678EA0441}"/>
                </a:ext>
              </a:extLst>
            </p:cNvPr>
            <p:cNvSpPr txBox="1"/>
            <p:nvPr/>
          </p:nvSpPr>
          <p:spPr>
            <a:xfrm>
              <a:off x="11107093" y="3828897"/>
              <a:ext cx="367408" cy="523220"/>
            </a:xfrm>
            <a:prstGeom prst="rect">
              <a:avLst/>
            </a:prstGeom>
            <a:noFill/>
          </p:spPr>
          <p:txBody>
            <a:bodyPr wrap="square" rtlCol="0">
              <a:spAutoFit/>
            </a:bodyPr>
            <a:lstStyle/>
            <a:p>
              <a:r>
                <a:rPr lang="en-US" sz="2800" dirty="0"/>
                <a:t>0</a:t>
              </a:r>
            </a:p>
          </p:txBody>
        </p:sp>
        <p:sp>
          <p:nvSpPr>
            <p:cNvPr id="24" name="TextBox 23">
              <a:extLst>
                <a:ext uri="{FF2B5EF4-FFF2-40B4-BE49-F238E27FC236}">
                  <a16:creationId xmlns:a16="http://schemas.microsoft.com/office/drawing/2014/main" id="{3FF25A39-419C-348B-2E29-E65C3E74332A}"/>
                </a:ext>
              </a:extLst>
            </p:cNvPr>
            <p:cNvSpPr txBox="1"/>
            <p:nvPr/>
          </p:nvSpPr>
          <p:spPr>
            <a:xfrm>
              <a:off x="10662544" y="2764316"/>
              <a:ext cx="786913" cy="707886"/>
            </a:xfrm>
            <a:prstGeom prst="rect">
              <a:avLst/>
            </a:prstGeom>
            <a:noFill/>
          </p:spPr>
          <p:txBody>
            <a:bodyPr wrap="square">
              <a:spAutoFit/>
            </a:bodyPr>
            <a:lstStyle/>
            <a:p>
              <a:r>
                <a:rPr lang="en-US" sz="4000" dirty="0"/>
                <a:t>❄</a:t>
              </a:r>
            </a:p>
          </p:txBody>
        </p:sp>
      </p:grpSp>
    </p:spTree>
    <p:extLst>
      <p:ext uri="{BB962C8B-B14F-4D97-AF65-F5344CB8AC3E}">
        <p14:creationId xmlns:p14="http://schemas.microsoft.com/office/powerpoint/2010/main" val="473410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05E82-1BA5-7D6D-3E6F-6DDBCAEB51EF}"/>
              </a:ext>
            </a:extLst>
          </p:cNvPr>
          <p:cNvSpPr>
            <a:spLocks noGrp="1"/>
          </p:cNvSpPr>
          <p:nvPr>
            <p:ph type="title"/>
          </p:nvPr>
        </p:nvSpPr>
        <p:spPr/>
        <p:txBody>
          <a:bodyPr/>
          <a:lstStyle/>
          <a:p>
            <a:r>
              <a:rPr lang="en-US" dirty="0"/>
              <a:t>TL;DR – Not Gates Over Time</a:t>
            </a:r>
          </a:p>
        </p:txBody>
      </p:sp>
      <p:pic>
        <p:nvPicPr>
          <p:cNvPr id="3" name="Picture 2" descr="A logical Not symbol.">
            <a:extLst>
              <a:ext uri="{FF2B5EF4-FFF2-40B4-BE49-F238E27FC236}">
                <a16:creationId xmlns:a16="http://schemas.microsoft.com/office/drawing/2014/main" id="{9FB28617-E713-D694-5DDB-2037595F495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213386" y="174821"/>
            <a:ext cx="3486778" cy="1255240"/>
          </a:xfrm>
          <a:prstGeom prst="rect">
            <a:avLst/>
          </a:prstGeom>
        </p:spPr>
      </p:pic>
      <p:sp>
        <p:nvSpPr>
          <p:cNvPr id="10" name="Content Placeholder 9">
            <a:extLst>
              <a:ext uri="{FF2B5EF4-FFF2-40B4-BE49-F238E27FC236}">
                <a16:creationId xmlns:a16="http://schemas.microsoft.com/office/drawing/2014/main" id="{0CA5674C-D06D-F2B9-56A9-A2359025E0BB}"/>
              </a:ext>
            </a:extLst>
          </p:cNvPr>
          <p:cNvSpPr>
            <a:spLocks noGrp="1"/>
          </p:cNvSpPr>
          <p:nvPr>
            <p:ph idx="1"/>
          </p:nvPr>
        </p:nvSpPr>
        <p:spPr>
          <a:xfrm>
            <a:off x="838200" y="1825625"/>
            <a:ext cx="6874425" cy="4351338"/>
          </a:xfrm>
        </p:spPr>
        <p:txBody>
          <a:bodyPr/>
          <a:lstStyle/>
          <a:p>
            <a:r>
              <a:rPr lang="en-US" dirty="0"/>
              <a:t>Before the 1980's, logic gates built from transistors were slow, had low density, took a lot of heat and took a lot of power.</a:t>
            </a:r>
          </a:p>
          <a:p>
            <a:r>
              <a:rPr lang="en-US" dirty="0"/>
              <a:t>When CMOS was practical in the 1980s, CPUS went from the size of large cabinets to single chips</a:t>
            </a:r>
          </a:p>
          <a:p>
            <a:r>
              <a:rPr lang="en-US" dirty="0"/>
              <a:t>As size reduced things got much faster</a:t>
            </a:r>
          </a:p>
          <a:p>
            <a:endParaRPr lang="en-US" dirty="0"/>
          </a:p>
          <a:p>
            <a:r>
              <a:rPr lang="en-US" dirty="0"/>
              <a:t>From now on we will only speak of CMOS </a:t>
            </a:r>
            <a:r>
              <a:rPr lang="en-US" dirty="0">
                <a:sym typeface="Wingdings" pitchFamily="2" charset="2"/>
              </a:rPr>
              <a:t></a:t>
            </a:r>
            <a:endParaRPr lang="en-US" dirty="0"/>
          </a:p>
        </p:txBody>
      </p:sp>
      <p:grpSp>
        <p:nvGrpSpPr>
          <p:cNvPr id="4" name="Group 3" descr="A CMOS Not gate - it has a PMOS transistor at the top connected between VDD and the common OUT line.  It has an NMOS transistor at the bottom conneced between the common OUT line and the ground.  The Input (A) is connect to the gate input of both transistors.">
            <a:extLst>
              <a:ext uri="{FF2B5EF4-FFF2-40B4-BE49-F238E27FC236}">
                <a16:creationId xmlns:a16="http://schemas.microsoft.com/office/drawing/2014/main" id="{AAC24D2A-3458-0E0E-E59C-711A4077FE30}"/>
              </a:ext>
            </a:extLst>
          </p:cNvPr>
          <p:cNvGrpSpPr/>
          <p:nvPr/>
        </p:nvGrpSpPr>
        <p:grpSpPr>
          <a:xfrm>
            <a:off x="8362273" y="1690688"/>
            <a:ext cx="2945042" cy="3870653"/>
            <a:chOff x="8362273" y="1690688"/>
            <a:chExt cx="2945042" cy="3870653"/>
          </a:xfrm>
        </p:grpSpPr>
        <p:grpSp>
          <p:nvGrpSpPr>
            <p:cNvPr id="55" name="Group 54">
              <a:extLst>
                <a:ext uri="{FF2B5EF4-FFF2-40B4-BE49-F238E27FC236}">
                  <a16:creationId xmlns:a16="http://schemas.microsoft.com/office/drawing/2014/main" id="{09A290DD-53D5-2254-632F-DBB61D97B0E3}"/>
                </a:ext>
              </a:extLst>
            </p:cNvPr>
            <p:cNvGrpSpPr/>
            <p:nvPr/>
          </p:nvGrpSpPr>
          <p:grpSpPr>
            <a:xfrm>
              <a:off x="9426737" y="2742852"/>
              <a:ext cx="572755" cy="403928"/>
              <a:chOff x="3408218" y="2196942"/>
              <a:chExt cx="4311227" cy="3040439"/>
            </a:xfrm>
          </p:grpSpPr>
          <p:cxnSp>
            <p:nvCxnSpPr>
              <p:cNvPr id="91" name="Straight Connector 90">
                <a:extLst>
                  <a:ext uri="{FF2B5EF4-FFF2-40B4-BE49-F238E27FC236}">
                    <a16:creationId xmlns:a16="http://schemas.microsoft.com/office/drawing/2014/main" id="{159EE497-3457-7C04-A4B8-19A291B9414D}"/>
                  </a:ext>
                </a:extLst>
              </p:cNvPr>
              <p:cNvCxnSpPr>
                <a:cxnSpLocks/>
              </p:cNvCxnSpPr>
              <p:nvPr/>
            </p:nvCxnSpPr>
            <p:spPr>
              <a:xfrm flipH="1">
                <a:off x="5925803" y="2196950"/>
                <a:ext cx="179364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0C90AE83-E767-EFB5-2397-4F8B7458549B}"/>
                  </a:ext>
                </a:extLst>
              </p:cNvPr>
              <p:cNvCxnSpPr>
                <a:cxnSpLocks/>
              </p:cNvCxnSpPr>
              <p:nvPr/>
            </p:nvCxnSpPr>
            <p:spPr>
              <a:xfrm flipV="1">
                <a:off x="5925803" y="2196942"/>
                <a:ext cx="0" cy="30404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C1485659-E87A-653F-D888-487DCFED6FE9}"/>
                  </a:ext>
                </a:extLst>
              </p:cNvPr>
              <p:cNvCxnSpPr>
                <a:cxnSpLocks/>
              </p:cNvCxnSpPr>
              <p:nvPr/>
            </p:nvCxnSpPr>
            <p:spPr>
              <a:xfrm>
                <a:off x="5390677" y="2449992"/>
                <a:ext cx="0" cy="25894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DE2FF59-832B-9036-EC65-72566FB55D29}"/>
                  </a:ext>
                </a:extLst>
              </p:cNvPr>
              <p:cNvCxnSpPr>
                <a:cxnSpLocks/>
              </p:cNvCxnSpPr>
              <p:nvPr/>
            </p:nvCxnSpPr>
            <p:spPr>
              <a:xfrm>
                <a:off x="3408218" y="3717171"/>
                <a:ext cx="198247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Oval 94">
                <a:extLst>
                  <a:ext uri="{FF2B5EF4-FFF2-40B4-BE49-F238E27FC236}">
                    <a16:creationId xmlns:a16="http://schemas.microsoft.com/office/drawing/2014/main" id="{29D2C7A6-0B63-DB5C-A410-D48AC0277F06}"/>
                  </a:ext>
                </a:extLst>
              </p:cNvPr>
              <p:cNvSpPr/>
              <p:nvPr/>
            </p:nvSpPr>
            <p:spPr>
              <a:xfrm>
                <a:off x="4767388" y="3425040"/>
                <a:ext cx="622114" cy="57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p>
            </p:txBody>
          </p:sp>
          <p:cxnSp>
            <p:nvCxnSpPr>
              <p:cNvPr id="96" name="Straight Connector 95">
                <a:extLst>
                  <a:ext uri="{FF2B5EF4-FFF2-40B4-BE49-F238E27FC236}">
                    <a16:creationId xmlns:a16="http://schemas.microsoft.com/office/drawing/2014/main" id="{0B20D430-EF0A-ED9B-15D7-31E521A8D0A8}"/>
                  </a:ext>
                </a:extLst>
              </p:cNvPr>
              <p:cNvCxnSpPr>
                <a:cxnSpLocks/>
              </p:cNvCxnSpPr>
              <p:nvPr/>
            </p:nvCxnSpPr>
            <p:spPr>
              <a:xfrm flipH="1">
                <a:off x="5925803" y="5237381"/>
                <a:ext cx="179364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F6AF4400-09C3-3553-4AFE-9BA678C0EE65}"/>
                </a:ext>
              </a:extLst>
            </p:cNvPr>
            <p:cNvGrpSpPr/>
            <p:nvPr/>
          </p:nvGrpSpPr>
          <p:grpSpPr>
            <a:xfrm>
              <a:off x="9425707" y="4139670"/>
              <a:ext cx="572755" cy="403928"/>
              <a:chOff x="10753571" y="4787961"/>
              <a:chExt cx="370967" cy="261620"/>
            </a:xfrm>
          </p:grpSpPr>
          <p:cxnSp>
            <p:nvCxnSpPr>
              <p:cNvPr id="86" name="Straight Connector 85">
                <a:extLst>
                  <a:ext uri="{FF2B5EF4-FFF2-40B4-BE49-F238E27FC236}">
                    <a16:creationId xmlns:a16="http://schemas.microsoft.com/office/drawing/2014/main" id="{E1CDC947-BC87-B5DE-F668-D58B7F030A9C}"/>
                  </a:ext>
                </a:extLst>
              </p:cNvPr>
              <p:cNvCxnSpPr>
                <a:cxnSpLocks/>
              </p:cNvCxnSpPr>
              <p:nvPr/>
            </p:nvCxnSpPr>
            <p:spPr>
              <a:xfrm flipH="1">
                <a:off x="10970201" y="4787962"/>
                <a:ext cx="15433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CD53C083-AB79-F645-D6AB-717E9FE3598F}"/>
                  </a:ext>
                </a:extLst>
              </p:cNvPr>
              <p:cNvCxnSpPr>
                <a:cxnSpLocks/>
              </p:cNvCxnSpPr>
              <p:nvPr/>
            </p:nvCxnSpPr>
            <p:spPr>
              <a:xfrm flipV="1">
                <a:off x="10970201" y="4787961"/>
                <a:ext cx="0" cy="2616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5A56E82E-5023-9323-AB83-20C2F1AF10C2}"/>
                  </a:ext>
                </a:extLst>
              </p:cNvPr>
              <p:cNvCxnSpPr>
                <a:cxnSpLocks/>
              </p:cNvCxnSpPr>
              <p:nvPr/>
            </p:nvCxnSpPr>
            <p:spPr>
              <a:xfrm>
                <a:off x="10924155" y="4809735"/>
                <a:ext cx="0" cy="22281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88FD4200-ACF5-B8EF-DC1D-5405BF17438E}"/>
                  </a:ext>
                </a:extLst>
              </p:cNvPr>
              <p:cNvCxnSpPr>
                <a:cxnSpLocks/>
              </p:cNvCxnSpPr>
              <p:nvPr/>
            </p:nvCxnSpPr>
            <p:spPr>
              <a:xfrm>
                <a:off x="10753571" y="4918772"/>
                <a:ext cx="17058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2EB6FDB6-F2FB-0CFC-D467-19D0BEAEFCD9}"/>
                  </a:ext>
                </a:extLst>
              </p:cNvPr>
              <p:cNvCxnSpPr>
                <a:cxnSpLocks/>
              </p:cNvCxnSpPr>
              <p:nvPr/>
            </p:nvCxnSpPr>
            <p:spPr>
              <a:xfrm flipH="1">
                <a:off x="10970201" y="5049581"/>
                <a:ext cx="15433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9" name="Straight Connector 58">
              <a:extLst>
                <a:ext uri="{FF2B5EF4-FFF2-40B4-BE49-F238E27FC236}">
                  <a16:creationId xmlns:a16="http://schemas.microsoft.com/office/drawing/2014/main" id="{933F1118-7DB0-747E-52BC-7670FFD525DA}"/>
                </a:ext>
              </a:extLst>
            </p:cNvPr>
            <p:cNvCxnSpPr>
              <a:cxnSpLocks/>
            </p:cNvCxnSpPr>
            <p:nvPr/>
          </p:nvCxnSpPr>
          <p:spPr>
            <a:xfrm>
              <a:off x="9998184" y="3669875"/>
              <a:ext cx="495804" cy="761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E5143E5-26F8-824A-CF4D-75AFC0C7616F}"/>
                </a:ext>
              </a:extLst>
            </p:cNvPr>
            <p:cNvCxnSpPr>
              <a:cxnSpLocks/>
            </p:cNvCxnSpPr>
            <p:nvPr/>
          </p:nvCxnSpPr>
          <p:spPr>
            <a:xfrm>
              <a:off x="9998184" y="3146779"/>
              <a:ext cx="278" cy="10004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6D70FD8-3AC5-3359-F6DC-2E858FBAB2B8}"/>
                </a:ext>
              </a:extLst>
            </p:cNvPr>
            <p:cNvCxnSpPr>
              <a:cxnSpLocks/>
            </p:cNvCxnSpPr>
            <p:nvPr/>
          </p:nvCxnSpPr>
          <p:spPr>
            <a:xfrm>
              <a:off x="9998184" y="4543598"/>
              <a:ext cx="0" cy="54417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CE5A1E7-3428-40C5-55DA-B16BE36CF439}"/>
                </a:ext>
              </a:extLst>
            </p:cNvPr>
            <p:cNvCxnSpPr>
              <a:cxnSpLocks/>
            </p:cNvCxnSpPr>
            <p:nvPr/>
          </p:nvCxnSpPr>
          <p:spPr>
            <a:xfrm>
              <a:off x="10014774" y="2208646"/>
              <a:ext cx="0" cy="54417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749E9C7F-295B-D5D1-D46A-069451AC153B}"/>
                </a:ext>
              </a:extLst>
            </p:cNvPr>
            <p:cNvSpPr txBox="1"/>
            <p:nvPr/>
          </p:nvSpPr>
          <p:spPr>
            <a:xfrm>
              <a:off x="8362273" y="3477700"/>
              <a:ext cx="445989" cy="461664"/>
            </a:xfrm>
            <a:prstGeom prst="rect">
              <a:avLst/>
            </a:prstGeom>
            <a:noFill/>
          </p:spPr>
          <p:txBody>
            <a:bodyPr wrap="square" rtlCol="0">
              <a:spAutoFit/>
            </a:bodyPr>
            <a:lstStyle/>
            <a:p>
              <a:r>
                <a:rPr lang="en-US" sz="2400" dirty="0"/>
                <a:t>A</a:t>
              </a:r>
            </a:p>
          </p:txBody>
        </p:sp>
        <p:sp>
          <p:nvSpPr>
            <p:cNvPr id="70" name="TextBox 69">
              <a:extLst>
                <a:ext uri="{FF2B5EF4-FFF2-40B4-BE49-F238E27FC236}">
                  <a16:creationId xmlns:a16="http://schemas.microsoft.com/office/drawing/2014/main" id="{7505C696-60AC-5C32-2D5A-DEB43D881FE5}"/>
                </a:ext>
              </a:extLst>
            </p:cNvPr>
            <p:cNvSpPr txBox="1"/>
            <p:nvPr/>
          </p:nvSpPr>
          <p:spPr>
            <a:xfrm>
              <a:off x="9663656" y="1690688"/>
              <a:ext cx="737703" cy="461664"/>
            </a:xfrm>
            <a:prstGeom prst="rect">
              <a:avLst/>
            </a:prstGeom>
            <a:noFill/>
          </p:spPr>
          <p:txBody>
            <a:bodyPr wrap="none" rtlCol="0">
              <a:spAutoFit/>
            </a:bodyPr>
            <a:lstStyle/>
            <a:p>
              <a:r>
                <a:rPr lang="en-US" sz="2400" dirty="0"/>
                <a:t>VDD</a:t>
              </a:r>
            </a:p>
          </p:txBody>
        </p:sp>
        <p:sp>
          <p:nvSpPr>
            <p:cNvPr id="71" name="TextBox 70">
              <a:extLst>
                <a:ext uri="{FF2B5EF4-FFF2-40B4-BE49-F238E27FC236}">
                  <a16:creationId xmlns:a16="http://schemas.microsoft.com/office/drawing/2014/main" id="{9346FB77-5154-57F9-B29E-61DCF485907F}"/>
                </a:ext>
              </a:extLst>
            </p:cNvPr>
            <p:cNvSpPr txBox="1"/>
            <p:nvPr/>
          </p:nvSpPr>
          <p:spPr>
            <a:xfrm>
              <a:off x="9627032" y="5099677"/>
              <a:ext cx="766557" cy="461664"/>
            </a:xfrm>
            <a:prstGeom prst="rect">
              <a:avLst/>
            </a:prstGeom>
            <a:noFill/>
          </p:spPr>
          <p:txBody>
            <a:bodyPr wrap="none" rtlCol="0">
              <a:spAutoFit/>
            </a:bodyPr>
            <a:lstStyle/>
            <a:p>
              <a:r>
                <a:rPr lang="en-US" sz="2400" dirty="0"/>
                <a:t>GND</a:t>
              </a:r>
            </a:p>
          </p:txBody>
        </p:sp>
        <p:sp>
          <p:nvSpPr>
            <p:cNvPr id="72" name="TextBox 71">
              <a:extLst>
                <a:ext uri="{FF2B5EF4-FFF2-40B4-BE49-F238E27FC236}">
                  <a16:creationId xmlns:a16="http://schemas.microsoft.com/office/drawing/2014/main" id="{3B07E751-0058-DD5A-62DA-918AEFDFDA5F}"/>
                </a:ext>
              </a:extLst>
            </p:cNvPr>
            <p:cNvSpPr txBox="1"/>
            <p:nvPr/>
          </p:nvSpPr>
          <p:spPr>
            <a:xfrm>
              <a:off x="10571217" y="3439890"/>
              <a:ext cx="736098" cy="461664"/>
            </a:xfrm>
            <a:prstGeom prst="rect">
              <a:avLst/>
            </a:prstGeom>
            <a:noFill/>
          </p:spPr>
          <p:txBody>
            <a:bodyPr wrap="none" rtlCol="0">
              <a:spAutoFit/>
            </a:bodyPr>
            <a:lstStyle/>
            <a:p>
              <a:r>
                <a:rPr lang="en-US" sz="2400" dirty="0"/>
                <a:t>OUT</a:t>
              </a:r>
            </a:p>
          </p:txBody>
        </p:sp>
        <p:cxnSp>
          <p:nvCxnSpPr>
            <p:cNvPr id="98" name="Straight Connector 97">
              <a:extLst>
                <a:ext uri="{FF2B5EF4-FFF2-40B4-BE49-F238E27FC236}">
                  <a16:creationId xmlns:a16="http://schemas.microsoft.com/office/drawing/2014/main" id="{A38A59E5-786C-ED72-8DD7-6B01BF238987}"/>
                </a:ext>
              </a:extLst>
            </p:cNvPr>
            <p:cNvCxnSpPr>
              <a:cxnSpLocks/>
            </p:cNvCxnSpPr>
            <p:nvPr/>
          </p:nvCxnSpPr>
          <p:spPr>
            <a:xfrm>
              <a:off x="9425707" y="2944817"/>
              <a:ext cx="0" cy="139681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94936465-34BF-9DC6-2438-71B6523A61AF}"/>
                </a:ext>
              </a:extLst>
            </p:cNvPr>
            <p:cNvCxnSpPr>
              <a:cxnSpLocks/>
            </p:cNvCxnSpPr>
            <p:nvPr/>
          </p:nvCxnSpPr>
          <p:spPr>
            <a:xfrm>
              <a:off x="8850245" y="3677487"/>
              <a:ext cx="57546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040506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2A0EB-1A4D-5327-FC15-DF3358B6FB9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F4B637C-F113-A7DF-8D3B-658536DE4886}"/>
              </a:ext>
            </a:extLst>
          </p:cNvPr>
          <p:cNvSpPr>
            <a:spLocks noGrp="1"/>
          </p:cNvSpPr>
          <p:nvPr>
            <p:ph type="title"/>
          </p:nvPr>
        </p:nvSpPr>
        <p:spPr/>
        <p:txBody>
          <a:bodyPr/>
          <a:lstStyle/>
          <a:p>
            <a:r>
              <a:rPr lang="en-US" dirty="0"/>
              <a:t>Layout a CMOS NOT Gate (Demo)</a:t>
            </a:r>
          </a:p>
        </p:txBody>
      </p:sp>
      <p:pic>
        <p:nvPicPr>
          <p:cNvPr id="3" name="Picture 2" descr="A layout of a CMOS Not gate using an NMOS and PMOS transistor.  The input is 5 volts (VCC) and the output is 0 Volts (ground)  - the layout was done using https://www.ca4e.com/cmos/&#10;">
            <a:extLst>
              <a:ext uri="{FF2B5EF4-FFF2-40B4-BE49-F238E27FC236}">
                <a16:creationId xmlns:a16="http://schemas.microsoft.com/office/drawing/2014/main" id="{0FC0E596-634C-F1B7-BADC-AC6B9B3A899A}"/>
              </a:ext>
            </a:extLst>
          </p:cNvPr>
          <p:cNvPicPr>
            <a:picLocks noChangeAspect="1"/>
          </p:cNvPicPr>
          <p:nvPr/>
        </p:nvPicPr>
        <p:blipFill>
          <a:blip r:embed="rId3"/>
          <a:stretch>
            <a:fillRect/>
          </a:stretch>
        </p:blipFill>
        <p:spPr>
          <a:xfrm>
            <a:off x="1314450" y="1690688"/>
            <a:ext cx="3365500" cy="3479800"/>
          </a:xfrm>
          <a:prstGeom prst="rect">
            <a:avLst/>
          </a:prstGeom>
        </p:spPr>
      </p:pic>
      <p:grpSp>
        <p:nvGrpSpPr>
          <p:cNvPr id="32" name="Group 31" descr="A CMOS Not gate - it has a PMOS transistor at the top connected between VDD and the OUT line.  It has an NMOS transistor at the bottom conneced between the common OUT line and the ground.  The Input (A) is connect to the gate input of both transistors.&#13;&#10;">
            <a:extLst>
              <a:ext uri="{FF2B5EF4-FFF2-40B4-BE49-F238E27FC236}">
                <a16:creationId xmlns:a16="http://schemas.microsoft.com/office/drawing/2014/main" id="{63533B56-7490-C9BE-6E52-9AA0AC6C3CBC}"/>
              </a:ext>
            </a:extLst>
          </p:cNvPr>
          <p:cNvGrpSpPr/>
          <p:nvPr/>
        </p:nvGrpSpPr>
        <p:grpSpPr>
          <a:xfrm>
            <a:off x="4917990" y="2459041"/>
            <a:ext cx="1937579" cy="2515742"/>
            <a:chOff x="4917990" y="2459041"/>
            <a:chExt cx="1937579" cy="2515742"/>
          </a:xfrm>
        </p:grpSpPr>
        <p:grpSp>
          <p:nvGrpSpPr>
            <p:cNvPr id="6" name="Group 5">
              <a:extLst>
                <a:ext uri="{FF2B5EF4-FFF2-40B4-BE49-F238E27FC236}">
                  <a16:creationId xmlns:a16="http://schemas.microsoft.com/office/drawing/2014/main" id="{4F167FEB-5366-1A00-3313-B9805EC659D4}"/>
                </a:ext>
              </a:extLst>
            </p:cNvPr>
            <p:cNvGrpSpPr/>
            <p:nvPr/>
          </p:nvGrpSpPr>
          <p:grpSpPr>
            <a:xfrm>
              <a:off x="5607432" y="3140516"/>
              <a:ext cx="370967" cy="261620"/>
              <a:chOff x="3408218" y="2196942"/>
              <a:chExt cx="4311227" cy="3040439"/>
            </a:xfrm>
          </p:grpSpPr>
          <p:cxnSp>
            <p:nvCxnSpPr>
              <p:cNvPr id="25" name="Straight Connector 24">
                <a:extLst>
                  <a:ext uri="{FF2B5EF4-FFF2-40B4-BE49-F238E27FC236}">
                    <a16:creationId xmlns:a16="http://schemas.microsoft.com/office/drawing/2014/main" id="{81DA8956-5651-CC97-9690-BDC89DE2E15E}"/>
                  </a:ext>
                </a:extLst>
              </p:cNvPr>
              <p:cNvCxnSpPr>
                <a:cxnSpLocks/>
              </p:cNvCxnSpPr>
              <p:nvPr/>
            </p:nvCxnSpPr>
            <p:spPr>
              <a:xfrm flipH="1">
                <a:off x="5925803" y="2196950"/>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58086D6-83CE-4CF3-D31B-6B64B61C66F2}"/>
                  </a:ext>
                </a:extLst>
              </p:cNvPr>
              <p:cNvCxnSpPr>
                <a:cxnSpLocks/>
              </p:cNvCxnSpPr>
              <p:nvPr/>
            </p:nvCxnSpPr>
            <p:spPr>
              <a:xfrm flipV="1">
                <a:off x="5925803" y="2196942"/>
                <a:ext cx="0" cy="30404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35E2FF9-F301-7405-A688-5E1CDB4A662D}"/>
                  </a:ext>
                </a:extLst>
              </p:cNvPr>
              <p:cNvCxnSpPr>
                <a:cxnSpLocks/>
              </p:cNvCxnSpPr>
              <p:nvPr/>
            </p:nvCxnSpPr>
            <p:spPr>
              <a:xfrm>
                <a:off x="5390677" y="2449992"/>
                <a:ext cx="0" cy="25894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4369F83-E19F-7353-D34F-561F669C673E}"/>
                  </a:ext>
                </a:extLst>
              </p:cNvPr>
              <p:cNvCxnSpPr>
                <a:cxnSpLocks/>
              </p:cNvCxnSpPr>
              <p:nvPr/>
            </p:nvCxnSpPr>
            <p:spPr>
              <a:xfrm>
                <a:off x="3408218" y="3717171"/>
                <a:ext cx="19824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03F0BED4-02F7-920A-59EC-9B2FE2221A7E}"/>
                  </a:ext>
                </a:extLst>
              </p:cNvPr>
              <p:cNvSpPr/>
              <p:nvPr/>
            </p:nvSpPr>
            <p:spPr>
              <a:xfrm>
                <a:off x="4767388" y="3425040"/>
                <a:ext cx="622114" cy="576944"/>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9C164140-64A1-E888-E16A-6D192EC23720}"/>
                  </a:ext>
                </a:extLst>
              </p:cNvPr>
              <p:cNvCxnSpPr>
                <a:cxnSpLocks/>
              </p:cNvCxnSpPr>
              <p:nvPr/>
            </p:nvCxnSpPr>
            <p:spPr>
              <a:xfrm flipH="1">
                <a:off x="5925803" y="5237381"/>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38C5A6B6-D8D2-8FDC-8F5A-EE97DDE3ABA6}"/>
                </a:ext>
              </a:extLst>
            </p:cNvPr>
            <p:cNvGrpSpPr/>
            <p:nvPr/>
          </p:nvGrpSpPr>
          <p:grpSpPr>
            <a:xfrm>
              <a:off x="5606765" y="4045220"/>
              <a:ext cx="370967" cy="261620"/>
              <a:chOff x="10753571" y="4787961"/>
              <a:chExt cx="370967" cy="261620"/>
            </a:xfrm>
          </p:grpSpPr>
          <p:cxnSp>
            <p:nvCxnSpPr>
              <p:cNvPr id="20" name="Straight Connector 19">
                <a:extLst>
                  <a:ext uri="{FF2B5EF4-FFF2-40B4-BE49-F238E27FC236}">
                    <a16:creationId xmlns:a16="http://schemas.microsoft.com/office/drawing/2014/main" id="{64C53632-284D-11DB-9467-720F3B91B7E8}"/>
                  </a:ext>
                </a:extLst>
              </p:cNvPr>
              <p:cNvCxnSpPr>
                <a:cxnSpLocks/>
              </p:cNvCxnSpPr>
              <p:nvPr/>
            </p:nvCxnSpPr>
            <p:spPr>
              <a:xfrm flipH="1">
                <a:off x="10970201" y="4787962"/>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F84AA79-D01F-7BAA-F820-5DA0066EDF40}"/>
                  </a:ext>
                </a:extLst>
              </p:cNvPr>
              <p:cNvCxnSpPr>
                <a:cxnSpLocks/>
              </p:cNvCxnSpPr>
              <p:nvPr/>
            </p:nvCxnSpPr>
            <p:spPr>
              <a:xfrm flipV="1">
                <a:off x="10970201" y="4787961"/>
                <a:ext cx="0" cy="2616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B655ACA-EA7C-C1E7-1A3A-2B9AC784E858}"/>
                  </a:ext>
                </a:extLst>
              </p:cNvPr>
              <p:cNvCxnSpPr>
                <a:cxnSpLocks/>
              </p:cNvCxnSpPr>
              <p:nvPr/>
            </p:nvCxnSpPr>
            <p:spPr>
              <a:xfrm>
                <a:off x="10924155" y="4809735"/>
                <a:ext cx="0" cy="2228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D86CBC5-72AB-9400-E7B4-222F329E75F3}"/>
                  </a:ext>
                </a:extLst>
              </p:cNvPr>
              <p:cNvCxnSpPr>
                <a:cxnSpLocks/>
              </p:cNvCxnSpPr>
              <p:nvPr/>
            </p:nvCxnSpPr>
            <p:spPr>
              <a:xfrm>
                <a:off x="10753571" y="4918772"/>
                <a:ext cx="1705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17D2CC4-D480-3965-1A8F-6A3511CD73F6}"/>
                  </a:ext>
                </a:extLst>
              </p:cNvPr>
              <p:cNvCxnSpPr>
                <a:cxnSpLocks/>
              </p:cNvCxnSpPr>
              <p:nvPr/>
            </p:nvCxnSpPr>
            <p:spPr>
              <a:xfrm flipH="1">
                <a:off x="10970201" y="5049581"/>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 name="Straight Connector 8">
              <a:extLst>
                <a:ext uri="{FF2B5EF4-FFF2-40B4-BE49-F238E27FC236}">
                  <a16:creationId xmlns:a16="http://schemas.microsoft.com/office/drawing/2014/main" id="{7C22B13A-2865-6306-B09F-FEAB579AA480}"/>
                </a:ext>
              </a:extLst>
            </p:cNvPr>
            <p:cNvCxnSpPr>
              <a:cxnSpLocks/>
            </p:cNvCxnSpPr>
            <p:nvPr/>
          </p:nvCxnSpPr>
          <p:spPr>
            <a:xfrm>
              <a:off x="5985469" y="3745869"/>
              <a:ext cx="3073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1644CB-7C6C-F27F-6B1C-2F1C143F0A97}"/>
                </a:ext>
              </a:extLst>
            </p:cNvPr>
            <p:cNvCxnSpPr>
              <a:cxnSpLocks/>
            </p:cNvCxnSpPr>
            <p:nvPr/>
          </p:nvCxnSpPr>
          <p:spPr>
            <a:xfrm>
              <a:off x="5978399" y="3402136"/>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18D31B-D669-23BE-E3DA-C223B0ED1403}"/>
                </a:ext>
              </a:extLst>
            </p:cNvPr>
            <p:cNvCxnSpPr>
              <a:cxnSpLocks/>
            </p:cNvCxnSpPr>
            <p:nvPr/>
          </p:nvCxnSpPr>
          <p:spPr>
            <a:xfrm>
              <a:off x="5977552" y="3616469"/>
              <a:ext cx="180" cy="4336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67FB5B2-466A-879A-93C2-76E634ECF8F5}"/>
                </a:ext>
              </a:extLst>
            </p:cNvPr>
            <p:cNvCxnSpPr>
              <a:cxnSpLocks/>
            </p:cNvCxnSpPr>
            <p:nvPr/>
          </p:nvCxnSpPr>
          <p:spPr>
            <a:xfrm>
              <a:off x="5977552" y="4306840"/>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FCA87F7-02AA-BF08-1E18-3F0773C8B858}"/>
                </a:ext>
              </a:extLst>
            </p:cNvPr>
            <p:cNvCxnSpPr>
              <a:cxnSpLocks/>
            </p:cNvCxnSpPr>
            <p:nvPr/>
          </p:nvCxnSpPr>
          <p:spPr>
            <a:xfrm>
              <a:off x="5988297" y="2788618"/>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E5C6CA7-980D-5E76-8A04-B655C231A0F5}"/>
                </a:ext>
              </a:extLst>
            </p:cNvPr>
            <p:cNvSpPr txBox="1"/>
            <p:nvPr/>
          </p:nvSpPr>
          <p:spPr>
            <a:xfrm>
              <a:off x="4917990" y="3616469"/>
              <a:ext cx="288862" cy="307777"/>
            </a:xfrm>
            <a:prstGeom prst="rect">
              <a:avLst/>
            </a:prstGeom>
            <a:noFill/>
          </p:spPr>
          <p:txBody>
            <a:bodyPr wrap="square" rtlCol="0">
              <a:spAutoFit/>
            </a:bodyPr>
            <a:lstStyle/>
            <a:p>
              <a:r>
                <a:rPr lang="en-US" sz="1400" dirty="0"/>
                <a:t>A</a:t>
              </a:r>
            </a:p>
          </p:txBody>
        </p:sp>
        <p:sp>
          <p:nvSpPr>
            <p:cNvPr id="15" name="TextBox 14">
              <a:extLst>
                <a:ext uri="{FF2B5EF4-FFF2-40B4-BE49-F238E27FC236}">
                  <a16:creationId xmlns:a16="http://schemas.microsoft.com/office/drawing/2014/main" id="{BD02D83D-D873-41E8-1814-D45387855ED2}"/>
                </a:ext>
              </a:extLst>
            </p:cNvPr>
            <p:cNvSpPr txBox="1"/>
            <p:nvPr/>
          </p:nvSpPr>
          <p:spPr>
            <a:xfrm>
              <a:off x="5760882" y="2459041"/>
              <a:ext cx="508473" cy="307777"/>
            </a:xfrm>
            <a:prstGeom prst="rect">
              <a:avLst/>
            </a:prstGeom>
            <a:noFill/>
          </p:spPr>
          <p:txBody>
            <a:bodyPr wrap="none" rtlCol="0">
              <a:spAutoFit/>
            </a:bodyPr>
            <a:lstStyle/>
            <a:p>
              <a:r>
                <a:rPr lang="en-US" sz="1400" dirty="0"/>
                <a:t>VDD</a:t>
              </a:r>
            </a:p>
          </p:txBody>
        </p:sp>
        <p:sp>
          <p:nvSpPr>
            <p:cNvPr id="16" name="TextBox 15">
              <a:extLst>
                <a:ext uri="{FF2B5EF4-FFF2-40B4-BE49-F238E27FC236}">
                  <a16:creationId xmlns:a16="http://schemas.microsoft.com/office/drawing/2014/main" id="{4B5301C1-3605-4713-7194-479D949DCA4E}"/>
                </a:ext>
              </a:extLst>
            </p:cNvPr>
            <p:cNvSpPr txBox="1"/>
            <p:nvPr/>
          </p:nvSpPr>
          <p:spPr>
            <a:xfrm>
              <a:off x="5737161" y="4667006"/>
              <a:ext cx="524503" cy="307777"/>
            </a:xfrm>
            <a:prstGeom prst="rect">
              <a:avLst/>
            </a:prstGeom>
            <a:noFill/>
          </p:spPr>
          <p:txBody>
            <a:bodyPr wrap="none" rtlCol="0">
              <a:spAutoFit/>
            </a:bodyPr>
            <a:lstStyle/>
            <a:p>
              <a:r>
                <a:rPr lang="en-US" sz="1400" dirty="0"/>
                <a:t>GND</a:t>
              </a:r>
            </a:p>
          </p:txBody>
        </p:sp>
        <p:sp>
          <p:nvSpPr>
            <p:cNvPr id="17" name="TextBox 16">
              <a:extLst>
                <a:ext uri="{FF2B5EF4-FFF2-40B4-BE49-F238E27FC236}">
                  <a16:creationId xmlns:a16="http://schemas.microsoft.com/office/drawing/2014/main" id="{E9978424-4870-2BE1-3D82-45735783D492}"/>
                </a:ext>
              </a:extLst>
            </p:cNvPr>
            <p:cNvSpPr txBox="1"/>
            <p:nvPr/>
          </p:nvSpPr>
          <p:spPr>
            <a:xfrm>
              <a:off x="6348699" y="3591980"/>
              <a:ext cx="506870" cy="307777"/>
            </a:xfrm>
            <a:prstGeom prst="rect">
              <a:avLst/>
            </a:prstGeom>
            <a:noFill/>
          </p:spPr>
          <p:txBody>
            <a:bodyPr wrap="none" rtlCol="0">
              <a:spAutoFit/>
            </a:bodyPr>
            <a:lstStyle/>
            <a:p>
              <a:r>
                <a:rPr lang="en-US" sz="1400" dirty="0"/>
                <a:t>OUT</a:t>
              </a:r>
            </a:p>
          </p:txBody>
        </p:sp>
        <p:cxnSp>
          <p:nvCxnSpPr>
            <p:cNvPr id="18" name="Straight Connector 17">
              <a:extLst>
                <a:ext uri="{FF2B5EF4-FFF2-40B4-BE49-F238E27FC236}">
                  <a16:creationId xmlns:a16="http://schemas.microsoft.com/office/drawing/2014/main" id="{2E530381-8957-B400-024B-53CAE908C273}"/>
                </a:ext>
              </a:extLst>
            </p:cNvPr>
            <p:cNvCxnSpPr>
              <a:cxnSpLocks/>
            </p:cNvCxnSpPr>
            <p:nvPr/>
          </p:nvCxnSpPr>
          <p:spPr>
            <a:xfrm>
              <a:off x="5606765" y="3271327"/>
              <a:ext cx="0" cy="9047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46531D8-470E-BF7D-FB66-3A7DFBD21628}"/>
                </a:ext>
              </a:extLst>
            </p:cNvPr>
            <p:cNvCxnSpPr>
              <a:cxnSpLocks/>
            </p:cNvCxnSpPr>
            <p:nvPr/>
          </p:nvCxnSpPr>
          <p:spPr>
            <a:xfrm>
              <a:off x="5234044" y="3745869"/>
              <a:ext cx="37272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7" name="Picture 6" descr="A layout of a CMOS Not gate using an NMOS and PMOS transistor.  The input is 0 volts (ground) and the output is 5 Volts (VCC)  - the layout was done using https://www.ca4e.com/cmos/&#10;">
            <a:extLst>
              <a:ext uri="{FF2B5EF4-FFF2-40B4-BE49-F238E27FC236}">
                <a16:creationId xmlns:a16="http://schemas.microsoft.com/office/drawing/2014/main" id="{09A9CCD5-6BED-F647-534A-3CF796C2034B}"/>
              </a:ext>
            </a:extLst>
          </p:cNvPr>
          <p:cNvPicPr>
            <a:picLocks noChangeAspect="1"/>
          </p:cNvPicPr>
          <p:nvPr/>
        </p:nvPicPr>
        <p:blipFill>
          <a:blip r:embed="rId4"/>
          <a:stretch>
            <a:fillRect/>
          </a:stretch>
        </p:blipFill>
        <p:spPr>
          <a:xfrm>
            <a:off x="7315200" y="1824038"/>
            <a:ext cx="3314700" cy="3327400"/>
          </a:xfrm>
          <a:prstGeom prst="rect">
            <a:avLst/>
          </a:prstGeom>
        </p:spPr>
      </p:pic>
    </p:spTree>
    <p:extLst>
      <p:ext uri="{BB962C8B-B14F-4D97-AF65-F5344CB8AC3E}">
        <p14:creationId xmlns:p14="http://schemas.microsoft.com/office/powerpoint/2010/main" val="12642835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85A19D-C518-BC17-A6C6-D74E2FA79928}"/>
              </a:ext>
            </a:extLst>
          </p:cNvPr>
          <p:cNvSpPr>
            <a:spLocks noGrp="1"/>
          </p:cNvSpPr>
          <p:nvPr>
            <p:ph type="title"/>
          </p:nvPr>
        </p:nvSpPr>
        <p:spPr/>
        <p:txBody>
          <a:bodyPr/>
          <a:lstStyle/>
          <a:p>
            <a:r>
              <a:rPr lang="en-US" dirty="0"/>
              <a:t>Digital Logic</a:t>
            </a:r>
          </a:p>
        </p:txBody>
      </p:sp>
      <p:sp>
        <p:nvSpPr>
          <p:cNvPr id="5" name="Content Placeholder 4">
            <a:extLst>
              <a:ext uri="{FF2B5EF4-FFF2-40B4-BE49-F238E27FC236}">
                <a16:creationId xmlns:a16="http://schemas.microsoft.com/office/drawing/2014/main" id="{210206CE-9F8A-298D-CD08-AEE03C0A96B8}"/>
              </a:ext>
            </a:extLst>
          </p:cNvPr>
          <p:cNvSpPr>
            <a:spLocks noGrp="1"/>
          </p:cNvSpPr>
          <p:nvPr>
            <p:ph idx="1"/>
          </p:nvPr>
        </p:nvSpPr>
        <p:spPr>
          <a:xfrm>
            <a:off x="838200" y="1825625"/>
            <a:ext cx="10287000" cy="4351338"/>
          </a:xfrm>
        </p:spPr>
        <p:txBody>
          <a:bodyPr/>
          <a:lstStyle/>
          <a:p>
            <a:r>
              <a:rPr lang="en-US" dirty="0"/>
              <a:t>To design more complex circuits from half-adders to CPUs it is much easier to think in terms of gates than transistors</a:t>
            </a:r>
          </a:p>
          <a:p>
            <a:r>
              <a:rPr lang="en-US" dirty="0"/>
              <a:t>Gates are an abstraction</a:t>
            </a:r>
          </a:p>
          <a:p>
            <a:pPr lvl="1"/>
            <a:r>
              <a:rPr lang="en-US" dirty="0"/>
              <a:t>On / OFF or 1 / 0</a:t>
            </a:r>
          </a:p>
          <a:p>
            <a:r>
              <a:rPr lang="en-US" dirty="0"/>
              <a:t>The basic gates come from mathematical logic (and IF statements)</a:t>
            </a:r>
          </a:p>
          <a:p>
            <a:pPr lvl="1"/>
            <a:r>
              <a:rPr lang="en-US" dirty="0"/>
              <a:t>Not / And / Or / Exclusive Or</a:t>
            </a:r>
          </a:p>
          <a:p>
            <a:r>
              <a:rPr lang="en-US" dirty="0"/>
              <a:t>We also talk about gates that can be built with fewer transistors</a:t>
            </a:r>
          </a:p>
          <a:p>
            <a:pPr lvl="1"/>
            <a:r>
              <a:rPr lang="en-US" dirty="0"/>
              <a:t>NAND / NOR</a:t>
            </a:r>
          </a:p>
          <a:p>
            <a:endParaRPr lang="en-US" dirty="0"/>
          </a:p>
        </p:txBody>
      </p:sp>
    </p:spTree>
    <p:extLst>
      <p:ext uri="{BB962C8B-B14F-4D97-AF65-F5344CB8AC3E}">
        <p14:creationId xmlns:p14="http://schemas.microsoft.com/office/powerpoint/2010/main" val="14003230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9196CD3-5CB7-4748-275F-7AA30867C060}"/>
              </a:ext>
            </a:extLst>
          </p:cNvPr>
          <p:cNvSpPr>
            <a:spLocks noGrp="1"/>
          </p:cNvSpPr>
          <p:nvPr>
            <p:ph type="title"/>
          </p:nvPr>
        </p:nvSpPr>
        <p:spPr/>
        <p:txBody>
          <a:bodyPr/>
          <a:lstStyle/>
          <a:p>
            <a:r>
              <a:rPr lang="en-US" dirty="0"/>
              <a:t>Classic Mathematical Logic Gates</a:t>
            </a:r>
          </a:p>
        </p:txBody>
      </p:sp>
      <p:sp>
        <p:nvSpPr>
          <p:cNvPr id="10" name="TextBox 9">
            <a:extLst>
              <a:ext uri="{FF2B5EF4-FFF2-40B4-BE49-F238E27FC236}">
                <a16:creationId xmlns:a16="http://schemas.microsoft.com/office/drawing/2014/main" id="{AE4FC6D0-09B0-E511-EB8C-D7D6E2C80AC1}"/>
              </a:ext>
            </a:extLst>
          </p:cNvPr>
          <p:cNvSpPr txBox="1"/>
          <p:nvPr/>
        </p:nvSpPr>
        <p:spPr>
          <a:xfrm>
            <a:off x="1278142" y="1786325"/>
            <a:ext cx="647934" cy="461665"/>
          </a:xfrm>
          <a:prstGeom prst="rect">
            <a:avLst/>
          </a:prstGeom>
          <a:noFill/>
        </p:spPr>
        <p:txBody>
          <a:bodyPr wrap="none" rtlCol="0">
            <a:spAutoFit/>
          </a:bodyPr>
          <a:lstStyle/>
          <a:p>
            <a:r>
              <a:rPr lang="en-US" sz="2400" dirty="0"/>
              <a:t>Not</a:t>
            </a:r>
          </a:p>
        </p:txBody>
      </p:sp>
      <p:pic>
        <p:nvPicPr>
          <p:cNvPr id="1032" name="Not" descr="NOT gate symbol with one input (A) and one output (Q)">
            <a:extLst>
              <a:ext uri="{FF2B5EF4-FFF2-40B4-BE49-F238E27FC236}">
                <a16:creationId xmlns:a16="http://schemas.microsoft.com/office/drawing/2014/main" id="{D5C70DAD-341E-C0F2-08F1-2885E26D710D}"/>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840109" y="2343627"/>
            <a:ext cx="1524000" cy="635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a:extLst>
              <a:ext uri="{FF2B5EF4-FFF2-40B4-BE49-F238E27FC236}">
                <a16:creationId xmlns:a16="http://schemas.microsoft.com/office/drawing/2014/main" id="{F0C2369D-D562-B0BE-60B0-87E704FC3DC1}"/>
              </a:ext>
            </a:extLst>
          </p:cNvPr>
          <p:cNvGraphicFramePr>
            <a:graphicFrameLocks noGrp="1"/>
          </p:cNvGraphicFramePr>
          <p:nvPr>
            <p:extLst>
              <p:ext uri="{D42A27DB-BD31-4B8C-83A1-F6EECF244321}">
                <p14:modId xmlns:p14="http://schemas.microsoft.com/office/powerpoint/2010/main" val="1066234136"/>
              </p:ext>
            </p:extLst>
          </p:nvPr>
        </p:nvGraphicFramePr>
        <p:xfrm>
          <a:off x="680069" y="3180294"/>
          <a:ext cx="1844080" cy="1097280"/>
        </p:xfrm>
        <a:graphic>
          <a:graphicData uri="http://schemas.openxmlformats.org/drawingml/2006/table">
            <a:tbl>
              <a:tblPr firstRow="1" bandRow="1">
                <a:tableStyleId>{5C22544A-7EE6-4342-B048-85BDC9FD1C3A}</a:tableStyleId>
              </a:tblPr>
              <a:tblGrid>
                <a:gridCol w="922040">
                  <a:extLst>
                    <a:ext uri="{9D8B030D-6E8A-4147-A177-3AD203B41FA5}">
                      <a16:colId xmlns:a16="http://schemas.microsoft.com/office/drawing/2014/main" val="434005091"/>
                    </a:ext>
                  </a:extLst>
                </a:gridCol>
                <a:gridCol w="922040">
                  <a:extLst>
                    <a:ext uri="{9D8B030D-6E8A-4147-A177-3AD203B41FA5}">
                      <a16:colId xmlns:a16="http://schemas.microsoft.com/office/drawing/2014/main" val="1017842541"/>
                    </a:ext>
                  </a:extLst>
                </a:gridCol>
              </a:tblGrid>
              <a:tr h="294760">
                <a:tc>
                  <a:txBody>
                    <a:bodyPr/>
                    <a:lstStyle/>
                    <a:p>
                      <a:pPr algn="ctr"/>
                      <a:r>
                        <a:rPr lang="en-US" dirty="0"/>
                        <a:t>A</a:t>
                      </a:r>
                    </a:p>
                  </a:txBody>
                  <a:tcPr/>
                </a:tc>
                <a:tc>
                  <a:txBody>
                    <a:bodyPr/>
                    <a:lstStyle/>
                    <a:p>
                      <a:pPr algn="ctr"/>
                      <a:r>
                        <a:rPr lang="en-US" dirty="0"/>
                        <a:t>Q</a:t>
                      </a:r>
                    </a:p>
                  </a:txBody>
                  <a:tcPr/>
                </a:tc>
                <a:extLst>
                  <a:ext uri="{0D108BD9-81ED-4DB2-BD59-A6C34878D82A}">
                    <a16:rowId xmlns:a16="http://schemas.microsoft.com/office/drawing/2014/main" val="1893480945"/>
                  </a:ext>
                </a:extLst>
              </a:tr>
              <a:tr h="294760">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2456066162"/>
                  </a:ext>
                </a:extLst>
              </a:tr>
              <a:tr h="294760">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640376286"/>
                  </a:ext>
                </a:extLst>
              </a:tr>
            </a:tbl>
          </a:graphicData>
        </a:graphic>
      </p:graphicFrame>
      <p:sp>
        <p:nvSpPr>
          <p:cNvPr id="5" name="TextBox 4">
            <a:extLst>
              <a:ext uri="{FF2B5EF4-FFF2-40B4-BE49-F238E27FC236}">
                <a16:creationId xmlns:a16="http://schemas.microsoft.com/office/drawing/2014/main" id="{04D1C817-99BE-11AD-32D2-A885584024C1}"/>
              </a:ext>
            </a:extLst>
          </p:cNvPr>
          <p:cNvSpPr txBox="1"/>
          <p:nvPr/>
        </p:nvSpPr>
        <p:spPr>
          <a:xfrm>
            <a:off x="801667" y="5614084"/>
            <a:ext cx="1602042" cy="369332"/>
          </a:xfrm>
          <a:prstGeom prst="rect">
            <a:avLst/>
          </a:prstGeom>
          <a:noFill/>
        </p:spPr>
        <p:txBody>
          <a:bodyPr wrap="none" rtlCol="0">
            <a:spAutoFit/>
          </a:bodyPr>
          <a:lstStyle/>
          <a:p>
            <a:r>
              <a:rPr lang="en-US" dirty="0"/>
              <a:t>Two transistors</a:t>
            </a:r>
          </a:p>
        </p:txBody>
      </p:sp>
      <p:sp>
        <p:nvSpPr>
          <p:cNvPr id="11" name="TextBox 10">
            <a:extLst>
              <a:ext uri="{FF2B5EF4-FFF2-40B4-BE49-F238E27FC236}">
                <a16:creationId xmlns:a16="http://schemas.microsoft.com/office/drawing/2014/main" id="{60FCAB50-1C8B-F78B-A0B8-CFC7D7E956E9}"/>
              </a:ext>
            </a:extLst>
          </p:cNvPr>
          <p:cNvSpPr txBox="1"/>
          <p:nvPr/>
        </p:nvSpPr>
        <p:spPr>
          <a:xfrm>
            <a:off x="3928637" y="1806198"/>
            <a:ext cx="686406" cy="461665"/>
          </a:xfrm>
          <a:prstGeom prst="rect">
            <a:avLst/>
          </a:prstGeom>
          <a:noFill/>
        </p:spPr>
        <p:txBody>
          <a:bodyPr wrap="none" rtlCol="0">
            <a:spAutoFit/>
          </a:bodyPr>
          <a:lstStyle/>
          <a:p>
            <a:r>
              <a:rPr lang="en-US" sz="2400" dirty="0"/>
              <a:t>And</a:t>
            </a:r>
          </a:p>
        </p:txBody>
      </p:sp>
      <p:pic>
        <p:nvPicPr>
          <p:cNvPr id="1026" name="And" descr="AND gate symbol with two inputs (A and B) and one output (Q)">
            <a:extLst>
              <a:ext uri="{FF2B5EF4-FFF2-40B4-BE49-F238E27FC236}">
                <a16:creationId xmlns:a16="http://schemas.microsoft.com/office/drawing/2014/main" id="{CCCD2300-5138-7D91-B061-530A2A201690}"/>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593754" y="2343627"/>
            <a:ext cx="1524000" cy="635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Table 8">
            <a:extLst>
              <a:ext uri="{FF2B5EF4-FFF2-40B4-BE49-F238E27FC236}">
                <a16:creationId xmlns:a16="http://schemas.microsoft.com/office/drawing/2014/main" id="{384D7394-DD5E-3AB9-6540-9D68EEF6942B}"/>
              </a:ext>
            </a:extLst>
          </p:cNvPr>
          <p:cNvGraphicFramePr>
            <a:graphicFrameLocks noGrp="1"/>
          </p:cNvGraphicFramePr>
          <p:nvPr>
            <p:extLst>
              <p:ext uri="{D42A27DB-BD31-4B8C-83A1-F6EECF244321}">
                <p14:modId xmlns:p14="http://schemas.microsoft.com/office/powerpoint/2010/main" val="3136362385"/>
              </p:ext>
            </p:extLst>
          </p:nvPr>
        </p:nvGraphicFramePr>
        <p:xfrm>
          <a:off x="3364821" y="3036045"/>
          <a:ext cx="1981866" cy="1960150"/>
        </p:xfrm>
        <a:graphic>
          <a:graphicData uri="http://schemas.openxmlformats.org/drawingml/2006/table">
            <a:tbl>
              <a:tblPr firstRow="1" bandRow="1">
                <a:tableStyleId>{5C22544A-7EE6-4342-B048-85BDC9FD1C3A}</a:tableStyleId>
              </a:tblPr>
              <a:tblGrid>
                <a:gridCol w="660622">
                  <a:extLst>
                    <a:ext uri="{9D8B030D-6E8A-4147-A177-3AD203B41FA5}">
                      <a16:colId xmlns:a16="http://schemas.microsoft.com/office/drawing/2014/main" val="1071248141"/>
                    </a:ext>
                  </a:extLst>
                </a:gridCol>
                <a:gridCol w="660622">
                  <a:extLst>
                    <a:ext uri="{9D8B030D-6E8A-4147-A177-3AD203B41FA5}">
                      <a16:colId xmlns:a16="http://schemas.microsoft.com/office/drawing/2014/main" val="2618565763"/>
                    </a:ext>
                  </a:extLst>
                </a:gridCol>
                <a:gridCol w="660622">
                  <a:extLst>
                    <a:ext uri="{9D8B030D-6E8A-4147-A177-3AD203B41FA5}">
                      <a16:colId xmlns:a16="http://schemas.microsoft.com/office/drawing/2014/main" val="2416198014"/>
                    </a:ext>
                  </a:extLst>
                </a:gridCol>
              </a:tblGrid>
              <a:tr h="392030">
                <a:tc>
                  <a:txBody>
                    <a:bodyPr/>
                    <a:lstStyle/>
                    <a:p>
                      <a:pPr algn="ctr"/>
                      <a:r>
                        <a:rPr lang="en-US" dirty="0"/>
                        <a:t>A</a:t>
                      </a:r>
                    </a:p>
                  </a:txBody>
                  <a:tcPr/>
                </a:tc>
                <a:tc>
                  <a:txBody>
                    <a:bodyPr/>
                    <a:lstStyle/>
                    <a:p>
                      <a:pPr algn="ctr"/>
                      <a:r>
                        <a:rPr lang="en-US" dirty="0"/>
                        <a:t>B</a:t>
                      </a:r>
                    </a:p>
                  </a:txBody>
                  <a:tcPr/>
                </a:tc>
                <a:tc>
                  <a:txBody>
                    <a:bodyPr/>
                    <a:lstStyle/>
                    <a:p>
                      <a:pPr algn="ctr"/>
                      <a:r>
                        <a:rPr lang="en-US" dirty="0"/>
                        <a:t>Q</a:t>
                      </a:r>
                    </a:p>
                  </a:txBody>
                  <a:tcPr/>
                </a:tc>
                <a:extLst>
                  <a:ext uri="{0D108BD9-81ED-4DB2-BD59-A6C34878D82A}">
                    <a16:rowId xmlns:a16="http://schemas.microsoft.com/office/drawing/2014/main" val="3588159787"/>
                  </a:ext>
                </a:extLst>
              </a:tr>
              <a:tr h="39203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3061539733"/>
                  </a:ext>
                </a:extLst>
              </a:tr>
              <a:tr h="39203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244367929"/>
                  </a:ext>
                </a:extLst>
              </a:tr>
              <a:tr h="39203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93639549"/>
                  </a:ext>
                </a:extLst>
              </a:tr>
              <a:tr h="39203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222571218"/>
                  </a:ext>
                </a:extLst>
              </a:tr>
            </a:tbl>
          </a:graphicData>
        </a:graphic>
      </p:graphicFrame>
      <p:sp>
        <p:nvSpPr>
          <p:cNvPr id="2" name="TextBox 1">
            <a:extLst>
              <a:ext uri="{FF2B5EF4-FFF2-40B4-BE49-F238E27FC236}">
                <a16:creationId xmlns:a16="http://schemas.microsoft.com/office/drawing/2014/main" id="{AB9F5816-E9BC-626B-A6C8-A0E630E91340}"/>
              </a:ext>
            </a:extLst>
          </p:cNvPr>
          <p:cNvSpPr txBox="1"/>
          <p:nvPr/>
        </p:nvSpPr>
        <p:spPr>
          <a:xfrm>
            <a:off x="3593754" y="5614084"/>
            <a:ext cx="1472775" cy="369332"/>
          </a:xfrm>
          <a:prstGeom prst="rect">
            <a:avLst/>
          </a:prstGeom>
          <a:noFill/>
        </p:spPr>
        <p:txBody>
          <a:bodyPr wrap="none" rtlCol="0">
            <a:spAutoFit/>
          </a:bodyPr>
          <a:lstStyle/>
          <a:p>
            <a:r>
              <a:rPr lang="en-US" dirty="0"/>
              <a:t>Six transistors</a:t>
            </a:r>
          </a:p>
        </p:txBody>
      </p:sp>
      <p:sp>
        <p:nvSpPr>
          <p:cNvPr id="12" name="TextBox 11">
            <a:extLst>
              <a:ext uri="{FF2B5EF4-FFF2-40B4-BE49-F238E27FC236}">
                <a16:creationId xmlns:a16="http://schemas.microsoft.com/office/drawing/2014/main" id="{C6CA0E22-E625-B093-CB92-B30E142F580C}"/>
              </a:ext>
            </a:extLst>
          </p:cNvPr>
          <p:cNvSpPr txBox="1"/>
          <p:nvPr/>
        </p:nvSpPr>
        <p:spPr>
          <a:xfrm>
            <a:off x="7095720" y="1773998"/>
            <a:ext cx="495649" cy="461665"/>
          </a:xfrm>
          <a:prstGeom prst="rect">
            <a:avLst/>
          </a:prstGeom>
          <a:noFill/>
        </p:spPr>
        <p:txBody>
          <a:bodyPr wrap="square" rtlCol="0">
            <a:spAutoFit/>
          </a:bodyPr>
          <a:lstStyle/>
          <a:p>
            <a:r>
              <a:rPr lang="en-US" sz="2400" dirty="0"/>
              <a:t>Or</a:t>
            </a:r>
          </a:p>
        </p:txBody>
      </p:sp>
      <p:pic>
        <p:nvPicPr>
          <p:cNvPr id="1028" name="Or" descr="OR gate symbol with two inputs (A and B) and one output (Q)">
            <a:extLst>
              <a:ext uri="{FF2B5EF4-FFF2-40B4-BE49-F238E27FC236}">
                <a16:creationId xmlns:a16="http://schemas.microsoft.com/office/drawing/2014/main" id="{2B09A94E-F328-39CC-021E-16DF87DA8662}"/>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6686989" y="2343627"/>
            <a:ext cx="1524000" cy="635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6" name="Table 15">
            <a:extLst>
              <a:ext uri="{FF2B5EF4-FFF2-40B4-BE49-F238E27FC236}">
                <a16:creationId xmlns:a16="http://schemas.microsoft.com/office/drawing/2014/main" id="{33A3ED66-91BB-D928-E01A-8C5ECB274653}"/>
              </a:ext>
            </a:extLst>
          </p:cNvPr>
          <p:cNvGraphicFramePr>
            <a:graphicFrameLocks noGrp="1"/>
          </p:cNvGraphicFramePr>
          <p:nvPr>
            <p:extLst>
              <p:ext uri="{D42A27DB-BD31-4B8C-83A1-F6EECF244321}">
                <p14:modId xmlns:p14="http://schemas.microsoft.com/office/powerpoint/2010/main" val="798980600"/>
              </p:ext>
            </p:extLst>
          </p:nvPr>
        </p:nvGraphicFramePr>
        <p:xfrm>
          <a:off x="6526950" y="3070940"/>
          <a:ext cx="1844079" cy="1960150"/>
        </p:xfrm>
        <a:graphic>
          <a:graphicData uri="http://schemas.openxmlformats.org/drawingml/2006/table">
            <a:tbl>
              <a:tblPr firstRow="1" bandRow="1">
                <a:tableStyleId>{5C22544A-7EE6-4342-B048-85BDC9FD1C3A}</a:tableStyleId>
              </a:tblPr>
              <a:tblGrid>
                <a:gridCol w="614693">
                  <a:extLst>
                    <a:ext uri="{9D8B030D-6E8A-4147-A177-3AD203B41FA5}">
                      <a16:colId xmlns:a16="http://schemas.microsoft.com/office/drawing/2014/main" val="1071248141"/>
                    </a:ext>
                  </a:extLst>
                </a:gridCol>
                <a:gridCol w="614693">
                  <a:extLst>
                    <a:ext uri="{9D8B030D-6E8A-4147-A177-3AD203B41FA5}">
                      <a16:colId xmlns:a16="http://schemas.microsoft.com/office/drawing/2014/main" val="2618565763"/>
                    </a:ext>
                  </a:extLst>
                </a:gridCol>
                <a:gridCol w="614693">
                  <a:extLst>
                    <a:ext uri="{9D8B030D-6E8A-4147-A177-3AD203B41FA5}">
                      <a16:colId xmlns:a16="http://schemas.microsoft.com/office/drawing/2014/main" val="2416198014"/>
                    </a:ext>
                  </a:extLst>
                </a:gridCol>
              </a:tblGrid>
              <a:tr h="392030">
                <a:tc>
                  <a:txBody>
                    <a:bodyPr/>
                    <a:lstStyle/>
                    <a:p>
                      <a:pPr algn="ctr"/>
                      <a:r>
                        <a:rPr lang="en-US" dirty="0"/>
                        <a:t>A</a:t>
                      </a:r>
                    </a:p>
                  </a:txBody>
                  <a:tcPr/>
                </a:tc>
                <a:tc>
                  <a:txBody>
                    <a:bodyPr/>
                    <a:lstStyle/>
                    <a:p>
                      <a:pPr algn="ctr"/>
                      <a:r>
                        <a:rPr lang="en-US" dirty="0"/>
                        <a:t>B</a:t>
                      </a:r>
                    </a:p>
                  </a:txBody>
                  <a:tcPr/>
                </a:tc>
                <a:tc>
                  <a:txBody>
                    <a:bodyPr/>
                    <a:lstStyle/>
                    <a:p>
                      <a:pPr algn="ctr"/>
                      <a:r>
                        <a:rPr lang="en-US" dirty="0"/>
                        <a:t>Q</a:t>
                      </a:r>
                    </a:p>
                  </a:txBody>
                  <a:tcPr/>
                </a:tc>
                <a:extLst>
                  <a:ext uri="{0D108BD9-81ED-4DB2-BD59-A6C34878D82A}">
                    <a16:rowId xmlns:a16="http://schemas.microsoft.com/office/drawing/2014/main" val="3588159787"/>
                  </a:ext>
                </a:extLst>
              </a:tr>
              <a:tr h="39203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3061539733"/>
                  </a:ext>
                </a:extLst>
              </a:tr>
              <a:tr h="39203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244367929"/>
                  </a:ext>
                </a:extLst>
              </a:tr>
              <a:tr h="39203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93639549"/>
                  </a:ext>
                </a:extLst>
              </a:tr>
              <a:tr h="39203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222571218"/>
                  </a:ext>
                </a:extLst>
              </a:tr>
            </a:tbl>
          </a:graphicData>
        </a:graphic>
      </p:graphicFrame>
      <p:sp>
        <p:nvSpPr>
          <p:cNvPr id="3" name="TextBox 2">
            <a:extLst>
              <a:ext uri="{FF2B5EF4-FFF2-40B4-BE49-F238E27FC236}">
                <a16:creationId xmlns:a16="http://schemas.microsoft.com/office/drawing/2014/main" id="{139717A6-6D7E-3950-F02C-2039F58F03AB}"/>
              </a:ext>
            </a:extLst>
          </p:cNvPr>
          <p:cNvSpPr txBox="1"/>
          <p:nvPr/>
        </p:nvSpPr>
        <p:spPr>
          <a:xfrm>
            <a:off x="6898254" y="5614084"/>
            <a:ext cx="1472775" cy="369332"/>
          </a:xfrm>
          <a:prstGeom prst="rect">
            <a:avLst/>
          </a:prstGeom>
          <a:noFill/>
        </p:spPr>
        <p:txBody>
          <a:bodyPr wrap="none" rtlCol="0">
            <a:spAutoFit/>
          </a:bodyPr>
          <a:lstStyle/>
          <a:p>
            <a:r>
              <a:rPr lang="en-US" dirty="0"/>
              <a:t>Six transistors</a:t>
            </a:r>
          </a:p>
        </p:txBody>
      </p:sp>
      <p:sp>
        <p:nvSpPr>
          <p:cNvPr id="14" name="TextBox 13">
            <a:extLst>
              <a:ext uri="{FF2B5EF4-FFF2-40B4-BE49-F238E27FC236}">
                <a16:creationId xmlns:a16="http://schemas.microsoft.com/office/drawing/2014/main" id="{B234BE7B-85A9-1D77-EC29-B65EDDFF599B}"/>
              </a:ext>
            </a:extLst>
          </p:cNvPr>
          <p:cNvSpPr txBox="1"/>
          <p:nvPr/>
        </p:nvSpPr>
        <p:spPr>
          <a:xfrm>
            <a:off x="9588531" y="1793240"/>
            <a:ext cx="1684757" cy="461665"/>
          </a:xfrm>
          <a:prstGeom prst="rect">
            <a:avLst/>
          </a:prstGeom>
          <a:noFill/>
        </p:spPr>
        <p:txBody>
          <a:bodyPr wrap="none" rtlCol="0">
            <a:spAutoFit/>
          </a:bodyPr>
          <a:lstStyle/>
          <a:p>
            <a:r>
              <a:rPr lang="en-US" sz="2400" dirty="0"/>
              <a:t>Exclusive Or</a:t>
            </a:r>
          </a:p>
        </p:txBody>
      </p:sp>
      <p:pic>
        <p:nvPicPr>
          <p:cNvPr id="1030" name="Xor" descr="XOR (Exclusive OR) gate symbol with two inputs (A and B) and one output (Q)">
            <a:extLst>
              <a:ext uri="{FF2B5EF4-FFF2-40B4-BE49-F238E27FC236}">
                <a16:creationId xmlns:a16="http://schemas.microsoft.com/office/drawing/2014/main" id="{81345BDA-FD8C-48BD-1954-6AD50549C148}"/>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9658790" y="2343627"/>
            <a:ext cx="1524000" cy="635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5" name="Table 14">
            <a:extLst>
              <a:ext uri="{FF2B5EF4-FFF2-40B4-BE49-F238E27FC236}">
                <a16:creationId xmlns:a16="http://schemas.microsoft.com/office/drawing/2014/main" id="{A79109CF-4285-5911-DD87-0D0AD4D9ECF0}"/>
              </a:ext>
            </a:extLst>
          </p:cNvPr>
          <p:cNvGraphicFramePr>
            <a:graphicFrameLocks noGrp="1"/>
          </p:cNvGraphicFramePr>
          <p:nvPr>
            <p:extLst>
              <p:ext uri="{D42A27DB-BD31-4B8C-83A1-F6EECF244321}">
                <p14:modId xmlns:p14="http://schemas.microsoft.com/office/powerpoint/2010/main" val="1985043812"/>
              </p:ext>
            </p:extLst>
          </p:nvPr>
        </p:nvGraphicFramePr>
        <p:xfrm>
          <a:off x="9429857" y="3062974"/>
          <a:ext cx="1981866" cy="1960150"/>
        </p:xfrm>
        <a:graphic>
          <a:graphicData uri="http://schemas.openxmlformats.org/drawingml/2006/table">
            <a:tbl>
              <a:tblPr firstRow="1" bandRow="1">
                <a:tableStyleId>{5C22544A-7EE6-4342-B048-85BDC9FD1C3A}</a:tableStyleId>
              </a:tblPr>
              <a:tblGrid>
                <a:gridCol w="660622">
                  <a:extLst>
                    <a:ext uri="{9D8B030D-6E8A-4147-A177-3AD203B41FA5}">
                      <a16:colId xmlns:a16="http://schemas.microsoft.com/office/drawing/2014/main" val="1071248141"/>
                    </a:ext>
                  </a:extLst>
                </a:gridCol>
                <a:gridCol w="660622">
                  <a:extLst>
                    <a:ext uri="{9D8B030D-6E8A-4147-A177-3AD203B41FA5}">
                      <a16:colId xmlns:a16="http://schemas.microsoft.com/office/drawing/2014/main" val="2618565763"/>
                    </a:ext>
                  </a:extLst>
                </a:gridCol>
                <a:gridCol w="660622">
                  <a:extLst>
                    <a:ext uri="{9D8B030D-6E8A-4147-A177-3AD203B41FA5}">
                      <a16:colId xmlns:a16="http://schemas.microsoft.com/office/drawing/2014/main" val="2416198014"/>
                    </a:ext>
                  </a:extLst>
                </a:gridCol>
              </a:tblGrid>
              <a:tr h="392030">
                <a:tc>
                  <a:txBody>
                    <a:bodyPr/>
                    <a:lstStyle/>
                    <a:p>
                      <a:pPr algn="ctr"/>
                      <a:r>
                        <a:rPr lang="en-US" dirty="0"/>
                        <a:t>A</a:t>
                      </a:r>
                    </a:p>
                  </a:txBody>
                  <a:tcPr/>
                </a:tc>
                <a:tc>
                  <a:txBody>
                    <a:bodyPr/>
                    <a:lstStyle/>
                    <a:p>
                      <a:pPr algn="ctr"/>
                      <a:r>
                        <a:rPr lang="en-US" dirty="0"/>
                        <a:t>B</a:t>
                      </a:r>
                    </a:p>
                  </a:txBody>
                  <a:tcPr/>
                </a:tc>
                <a:tc>
                  <a:txBody>
                    <a:bodyPr/>
                    <a:lstStyle/>
                    <a:p>
                      <a:pPr algn="ctr"/>
                      <a:r>
                        <a:rPr lang="en-US" dirty="0"/>
                        <a:t>Q</a:t>
                      </a:r>
                    </a:p>
                  </a:txBody>
                  <a:tcPr/>
                </a:tc>
                <a:extLst>
                  <a:ext uri="{0D108BD9-81ED-4DB2-BD59-A6C34878D82A}">
                    <a16:rowId xmlns:a16="http://schemas.microsoft.com/office/drawing/2014/main" val="3588159787"/>
                  </a:ext>
                </a:extLst>
              </a:tr>
              <a:tr h="39203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3061539733"/>
                  </a:ext>
                </a:extLst>
              </a:tr>
              <a:tr h="39203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244367929"/>
                  </a:ext>
                </a:extLst>
              </a:tr>
              <a:tr h="39203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93639549"/>
                  </a:ext>
                </a:extLst>
              </a:tr>
              <a:tr h="39203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222571218"/>
                  </a:ext>
                </a:extLst>
              </a:tr>
            </a:tbl>
          </a:graphicData>
        </a:graphic>
      </p:graphicFrame>
      <p:sp>
        <p:nvSpPr>
          <p:cNvPr id="4" name="TextBox 3">
            <a:extLst>
              <a:ext uri="{FF2B5EF4-FFF2-40B4-BE49-F238E27FC236}">
                <a16:creationId xmlns:a16="http://schemas.microsoft.com/office/drawing/2014/main" id="{5C50C0EA-488D-91F7-5332-8BB902075BDB}"/>
              </a:ext>
            </a:extLst>
          </p:cNvPr>
          <p:cNvSpPr txBox="1"/>
          <p:nvPr/>
        </p:nvSpPr>
        <p:spPr>
          <a:xfrm>
            <a:off x="9578059" y="5614084"/>
            <a:ext cx="1685461" cy="369332"/>
          </a:xfrm>
          <a:prstGeom prst="rect">
            <a:avLst/>
          </a:prstGeom>
          <a:noFill/>
        </p:spPr>
        <p:txBody>
          <a:bodyPr wrap="none" rtlCol="0">
            <a:spAutoFit/>
          </a:bodyPr>
          <a:lstStyle/>
          <a:p>
            <a:r>
              <a:rPr lang="en-US" dirty="0"/>
              <a:t>Eight transistors</a:t>
            </a:r>
          </a:p>
        </p:txBody>
      </p:sp>
    </p:spTree>
    <p:extLst>
      <p:ext uri="{BB962C8B-B14F-4D97-AF65-F5344CB8AC3E}">
        <p14:creationId xmlns:p14="http://schemas.microsoft.com/office/powerpoint/2010/main" val="11079767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FF136-8567-D3B1-A9CB-0EEA166AF085}"/>
            </a:ext>
          </a:extLst>
        </p:cNvPr>
        <p:cNvGrpSpPr/>
        <p:nvPr/>
      </p:nvGrpSpPr>
      <p:grpSpPr>
        <a:xfrm>
          <a:off x="0" y="0"/>
          <a:ext cx="0" cy="0"/>
          <a:chOff x="0" y="0"/>
          <a:chExt cx="0" cy="0"/>
        </a:xfrm>
      </p:grpSpPr>
      <p:sp>
        <p:nvSpPr>
          <p:cNvPr id="27" name="Title 26">
            <a:extLst>
              <a:ext uri="{FF2B5EF4-FFF2-40B4-BE49-F238E27FC236}">
                <a16:creationId xmlns:a16="http://schemas.microsoft.com/office/drawing/2014/main" id="{E830B0DD-3571-E301-97F5-F65AC017CAA9}"/>
              </a:ext>
            </a:extLst>
          </p:cNvPr>
          <p:cNvSpPr>
            <a:spLocks noGrp="1"/>
          </p:cNvSpPr>
          <p:nvPr>
            <p:ph type="title"/>
          </p:nvPr>
        </p:nvSpPr>
        <p:spPr>
          <a:xfrm>
            <a:off x="838200" y="365125"/>
            <a:ext cx="4457700" cy="1325563"/>
          </a:xfrm>
        </p:spPr>
        <p:txBody>
          <a:bodyPr/>
          <a:lstStyle/>
          <a:p>
            <a:r>
              <a:rPr lang="en-US" dirty="0"/>
              <a:t>NAND and NOR Fewer transistors </a:t>
            </a:r>
          </a:p>
        </p:txBody>
      </p:sp>
      <p:pic>
        <p:nvPicPr>
          <p:cNvPr id="1034" name="Picture 10" descr="CD4001B in DIP-14 integrated circuit package (quad 2-input NOR gate)">
            <a:extLst>
              <a:ext uri="{FF2B5EF4-FFF2-40B4-BE49-F238E27FC236}">
                <a16:creationId xmlns:a16="http://schemas.microsoft.com/office/drawing/2014/main" id="{7827078E-2079-F654-3978-F6E05206C42E}"/>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360987" y="508410"/>
            <a:ext cx="2343173" cy="132155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19EA7B6-BEF9-54E3-9B49-3B3091AE9DA8}"/>
              </a:ext>
            </a:extLst>
          </p:cNvPr>
          <p:cNvSpPr txBox="1"/>
          <p:nvPr/>
        </p:nvSpPr>
        <p:spPr>
          <a:xfrm>
            <a:off x="1414482" y="2101365"/>
            <a:ext cx="758541" cy="369332"/>
          </a:xfrm>
          <a:prstGeom prst="rect">
            <a:avLst/>
          </a:prstGeom>
          <a:noFill/>
        </p:spPr>
        <p:txBody>
          <a:bodyPr wrap="none" rtlCol="0">
            <a:spAutoFit/>
          </a:bodyPr>
          <a:lstStyle/>
          <a:p>
            <a:r>
              <a:rPr lang="en-US" dirty="0"/>
              <a:t>NAND</a:t>
            </a:r>
          </a:p>
        </p:txBody>
      </p:sp>
      <p:pic>
        <p:nvPicPr>
          <p:cNvPr id="13" name="Picture 2" descr="NAND gate symbol with two inputs (A and B) and one output (Q).  The NAND symbol looks exactly like the AND symbol except it has a small circle on its output connection indicating that the output is inverted.">
            <a:extLst>
              <a:ext uri="{FF2B5EF4-FFF2-40B4-BE49-F238E27FC236}">
                <a16:creationId xmlns:a16="http://schemas.microsoft.com/office/drawing/2014/main" id="{AE7BEEF4-0E88-6C16-61D2-F9708FCAD516}"/>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098204" y="2472587"/>
            <a:ext cx="1524000" cy="635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Table 8">
            <a:extLst>
              <a:ext uri="{FF2B5EF4-FFF2-40B4-BE49-F238E27FC236}">
                <a16:creationId xmlns:a16="http://schemas.microsoft.com/office/drawing/2014/main" id="{D2EEB7B9-BF56-3F7B-A580-A91718A1EF24}"/>
              </a:ext>
            </a:extLst>
          </p:cNvPr>
          <p:cNvGraphicFramePr>
            <a:graphicFrameLocks noGrp="1"/>
          </p:cNvGraphicFramePr>
          <p:nvPr/>
        </p:nvGraphicFramePr>
        <p:xfrm>
          <a:off x="869271" y="3255636"/>
          <a:ext cx="1981866" cy="1960150"/>
        </p:xfrm>
        <a:graphic>
          <a:graphicData uri="http://schemas.openxmlformats.org/drawingml/2006/table">
            <a:tbl>
              <a:tblPr firstRow="1" bandRow="1">
                <a:tableStyleId>{5C22544A-7EE6-4342-B048-85BDC9FD1C3A}</a:tableStyleId>
              </a:tblPr>
              <a:tblGrid>
                <a:gridCol w="660622">
                  <a:extLst>
                    <a:ext uri="{9D8B030D-6E8A-4147-A177-3AD203B41FA5}">
                      <a16:colId xmlns:a16="http://schemas.microsoft.com/office/drawing/2014/main" val="1071248141"/>
                    </a:ext>
                  </a:extLst>
                </a:gridCol>
                <a:gridCol w="660622">
                  <a:extLst>
                    <a:ext uri="{9D8B030D-6E8A-4147-A177-3AD203B41FA5}">
                      <a16:colId xmlns:a16="http://schemas.microsoft.com/office/drawing/2014/main" val="2618565763"/>
                    </a:ext>
                  </a:extLst>
                </a:gridCol>
                <a:gridCol w="660622">
                  <a:extLst>
                    <a:ext uri="{9D8B030D-6E8A-4147-A177-3AD203B41FA5}">
                      <a16:colId xmlns:a16="http://schemas.microsoft.com/office/drawing/2014/main" val="2416198014"/>
                    </a:ext>
                  </a:extLst>
                </a:gridCol>
              </a:tblGrid>
              <a:tr h="392030">
                <a:tc>
                  <a:txBody>
                    <a:bodyPr/>
                    <a:lstStyle/>
                    <a:p>
                      <a:pPr algn="ctr"/>
                      <a:r>
                        <a:rPr lang="en-US" dirty="0"/>
                        <a:t>A</a:t>
                      </a:r>
                    </a:p>
                  </a:txBody>
                  <a:tcPr/>
                </a:tc>
                <a:tc>
                  <a:txBody>
                    <a:bodyPr/>
                    <a:lstStyle/>
                    <a:p>
                      <a:pPr algn="ctr"/>
                      <a:r>
                        <a:rPr lang="en-US" dirty="0"/>
                        <a:t>B</a:t>
                      </a:r>
                    </a:p>
                  </a:txBody>
                  <a:tcPr/>
                </a:tc>
                <a:tc>
                  <a:txBody>
                    <a:bodyPr/>
                    <a:lstStyle/>
                    <a:p>
                      <a:pPr algn="ctr"/>
                      <a:r>
                        <a:rPr lang="en-US" dirty="0"/>
                        <a:t>Q</a:t>
                      </a:r>
                    </a:p>
                  </a:txBody>
                  <a:tcPr/>
                </a:tc>
                <a:extLst>
                  <a:ext uri="{0D108BD9-81ED-4DB2-BD59-A6C34878D82A}">
                    <a16:rowId xmlns:a16="http://schemas.microsoft.com/office/drawing/2014/main" val="3588159787"/>
                  </a:ext>
                </a:extLst>
              </a:tr>
              <a:tr h="392030">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3061539733"/>
                  </a:ext>
                </a:extLst>
              </a:tr>
              <a:tr h="39203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244367929"/>
                  </a:ext>
                </a:extLst>
              </a:tr>
              <a:tr h="39203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93639549"/>
                  </a:ext>
                </a:extLst>
              </a:tr>
              <a:tr h="39203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222571218"/>
                  </a:ext>
                </a:extLst>
              </a:tr>
            </a:tbl>
          </a:graphicData>
        </a:graphic>
      </p:graphicFrame>
      <p:sp>
        <p:nvSpPr>
          <p:cNvPr id="28" name="TextBox 27">
            <a:extLst>
              <a:ext uri="{FF2B5EF4-FFF2-40B4-BE49-F238E27FC236}">
                <a16:creationId xmlns:a16="http://schemas.microsoft.com/office/drawing/2014/main" id="{8BBBF345-12E8-B147-48A5-F34B118036FB}"/>
              </a:ext>
            </a:extLst>
          </p:cNvPr>
          <p:cNvSpPr txBox="1"/>
          <p:nvPr/>
        </p:nvSpPr>
        <p:spPr>
          <a:xfrm>
            <a:off x="1020162" y="5555131"/>
            <a:ext cx="1641155" cy="369332"/>
          </a:xfrm>
          <a:prstGeom prst="rect">
            <a:avLst/>
          </a:prstGeom>
          <a:noFill/>
        </p:spPr>
        <p:txBody>
          <a:bodyPr wrap="none" rtlCol="0">
            <a:spAutoFit/>
          </a:bodyPr>
          <a:lstStyle/>
          <a:p>
            <a:r>
              <a:rPr lang="en-US" dirty="0"/>
              <a:t>Four transistors</a:t>
            </a:r>
          </a:p>
        </p:txBody>
      </p:sp>
      <p:grpSp>
        <p:nvGrpSpPr>
          <p:cNvPr id="44" name="Group 43" descr="This is a NAND gate with two PMOS transistors in parallel at the top connecting to the OUT wire.  On the bottom there are two series NMOS transistors connected between the OUT wire and the ground.&#13;&#10;">
            <a:extLst>
              <a:ext uri="{FF2B5EF4-FFF2-40B4-BE49-F238E27FC236}">
                <a16:creationId xmlns:a16="http://schemas.microsoft.com/office/drawing/2014/main" id="{CBF67BD2-8FF8-5E47-6E84-35572C84D7F9}"/>
              </a:ext>
            </a:extLst>
          </p:cNvPr>
          <p:cNvGrpSpPr/>
          <p:nvPr/>
        </p:nvGrpSpPr>
        <p:grpSpPr>
          <a:xfrm>
            <a:off x="3598814" y="2485905"/>
            <a:ext cx="1901714" cy="3193148"/>
            <a:chOff x="3598814" y="2485905"/>
            <a:chExt cx="1901714" cy="3193148"/>
          </a:xfrm>
        </p:grpSpPr>
        <p:grpSp>
          <p:nvGrpSpPr>
            <p:cNvPr id="1069" name="Group 1068">
              <a:extLst>
                <a:ext uri="{FF2B5EF4-FFF2-40B4-BE49-F238E27FC236}">
                  <a16:creationId xmlns:a16="http://schemas.microsoft.com/office/drawing/2014/main" id="{4B6AEEC2-1236-C933-1DD6-FB6C2938BE99}"/>
                </a:ext>
              </a:extLst>
            </p:cNvPr>
            <p:cNvGrpSpPr/>
            <p:nvPr/>
          </p:nvGrpSpPr>
          <p:grpSpPr>
            <a:xfrm>
              <a:off x="3836989" y="3168740"/>
              <a:ext cx="370967" cy="261620"/>
              <a:chOff x="3408218" y="2196942"/>
              <a:chExt cx="4311227" cy="3040439"/>
            </a:xfrm>
          </p:grpSpPr>
          <p:cxnSp>
            <p:nvCxnSpPr>
              <p:cNvPr id="1105" name="Straight Connector 1104">
                <a:extLst>
                  <a:ext uri="{FF2B5EF4-FFF2-40B4-BE49-F238E27FC236}">
                    <a16:creationId xmlns:a16="http://schemas.microsoft.com/office/drawing/2014/main" id="{E1448C92-AEAA-BFF4-2D45-D44305836D23}"/>
                  </a:ext>
                </a:extLst>
              </p:cNvPr>
              <p:cNvCxnSpPr>
                <a:cxnSpLocks/>
              </p:cNvCxnSpPr>
              <p:nvPr/>
            </p:nvCxnSpPr>
            <p:spPr>
              <a:xfrm flipH="1">
                <a:off x="5925803" y="2196950"/>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6" name="Straight Connector 1105">
                <a:extLst>
                  <a:ext uri="{FF2B5EF4-FFF2-40B4-BE49-F238E27FC236}">
                    <a16:creationId xmlns:a16="http://schemas.microsoft.com/office/drawing/2014/main" id="{BA0A7C8C-1C91-9575-ABAB-062A5F972766}"/>
                  </a:ext>
                </a:extLst>
              </p:cNvPr>
              <p:cNvCxnSpPr>
                <a:cxnSpLocks/>
              </p:cNvCxnSpPr>
              <p:nvPr/>
            </p:nvCxnSpPr>
            <p:spPr>
              <a:xfrm flipV="1">
                <a:off x="5925803" y="2196942"/>
                <a:ext cx="0" cy="30404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7" name="Straight Connector 1106">
                <a:extLst>
                  <a:ext uri="{FF2B5EF4-FFF2-40B4-BE49-F238E27FC236}">
                    <a16:creationId xmlns:a16="http://schemas.microsoft.com/office/drawing/2014/main" id="{AE138314-AB09-4311-CB85-902F8A0D17C8}"/>
                  </a:ext>
                </a:extLst>
              </p:cNvPr>
              <p:cNvCxnSpPr>
                <a:cxnSpLocks/>
              </p:cNvCxnSpPr>
              <p:nvPr/>
            </p:nvCxnSpPr>
            <p:spPr>
              <a:xfrm>
                <a:off x="5390677" y="2449992"/>
                <a:ext cx="0" cy="25894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8" name="Straight Connector 1107">
                <a:extLst>
                  <a:ext uri="{FF2B5EF4-FFF2-40B4-BE49-F238E27FC236}">
                    <a16:creationId xmlns:a16="http://schemas.microsoft.com/office/drawing/2014/main" id="{F5776D58-724B-FA5C-EA39-63A6719CF39B}"/>
                  </a:ext>
                </a:extLst>
              </p:cNvPr>
              <p:cNvCxnSpPr>
                <a:cxnSpLocks/>
              </p:cNvCxnSpPr>
              <p:nvPr/>
            </p:nvCxnSpPr>
            <p:spPr>
              <a:xfrm>
                <a:off x="3408218" y="3717171"/>
                <a:ext cx="19824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09" name="Oval 1108">
                <a:extLst>
                  <a:ext uri="{FF2B5EF4-FFF2-40B4-BE49-F238E27FC236}">
                    <a16:creationId xmlns:a16="http://schemas.microsoft.com/office/drawing/2014/main" id="{08D01DC1-AAE5-58E7-0486-5CBD45E6DF6E}"/>
                  </a:ext>
                </a:extLst>
              </p:cNvPr>
              <p:cNvSpPr/>
              <p:nvPr/>
            </p:nvSpPr>
            <p:spPr>
              <a:xfrm>
                <a:off x="4767388" y="3425040"/>
                <a:ext cx="622114" cy="576944"/>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10" name="Straight Connector 1109">
                <a:extLst>
                  <a:ext uri="{FF2B5EF4-FFF2-40B4-BE49-F238E27FC236}">
                    <a16:creationId xmlns:a16="http://schemas.microsoft.com/office/drawing/2014/main" id="{8F18F6D4-B76D-B7D2-D285-E4CEA99253BD}"/>
                  </a:ext>
                </a:extLst>
              </p:cNvPr>
              <p:cNvCxnSpPr>
                <a:cxnSpLocks/>
              </p:cNvCxnSpPr>
              <p:nvPr/>
            </p:nvCxnSpPr>
            <p:spPr>
              <a:xfrm flipH="1">
                <a:off x="5925803" y="5237381"/>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70" name="Group 1069">
              <a:extLst>
                <a:ext uri="{FF2B5EF4-FFF2-40B4-BE49-F238E27FC236}">
                  <a16:creationId xmlns:a16="http://schemas.microsoft.com/office/drawing/2014/main" id="{0EFDF269-5C96-A1B0-5212-FFD5A6ACBF20}"/>
                </a:ext>
              </a:extLst>
            </p:cNvPr>
            <p:cNvGrpSpPr/>
            <p:nvPr/>
          </p:nvGrpSpPr>
          <p:grpSpPr>
            <a:xfrm>
              <a:off x="4204455" y="4061646"/>
              <a:ext cx="370967" cy="261620"/>
              <a:chOff x="10753571" y="4787961"/>
              <a:chExt cx="370967" cy="261620"/>
            </a:xfrm>
          </p:grpSpPr>
          <p:cxnSp>
            <p:nvCxnSpPr>
              <p:cNvPr id="1100" name="Straight Connector 1099">
                <a:extLst>
                  <a:ext uri="{FF2B5EF4-FFF2-40B4-BE49-F238E27FC236}">
                    <a16:creationId xmlns:a16="http://schemas.microsoft.com/office/drawing/2014/main" id="{DD86053F-91F2-49C4-10DD-063F2DDBDB8B}"/>
                  </a:ext>
                </a:extLst>
              </p:cNvPr>
              <p:cNvCxnSpPr>
                <a:cxnSpLocks/>
              </p:cNvCxnSpPr>
              <p:nvPr/>
            </p:nvCxnSpPr>
            <p:spPr>
              <a:xfrm flipH="1">
                <a:off x="10970201" y="4787962"/>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1" name="Straight Connector 1100">
                <a:extLst>
                  <a:ext uri="{FF2B5EF4-FFF2-40B4-BE49-F238E27FC236}">
                    <a16:creationId xmlns:a16="http://schemas.microsoft.com/office/drawing/2014/main" id="{B7C5EE0C-8B4E-AE73-58AE-44D98780B99A}"/>
                  </a:ext>
                </a:extLst>
              </p:cNvPr>
              <p:cNvCxnSpPr>
                <a:cxnSpLocks/>
              </p:cNvCxnSpPr>
              <p:nvPr/>
            </p:nvCxnSpPr>
            <p:spPr>
              <a:xfrm flipV="1">
                <a:off x="10970201" y="4787961"/>
                <a:ext cx="0" cy="2616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2" name="Straight Connector 1101">
                <a:extLst>
                  <a:ext uri="{FF2B5EF4-FFF2-40B4-BE49-F238E27FC236}">
                    <a16:creationId xmlns:a16="http://schemas.microsoft.com/office/drawing/2014/main" id="{8714277D-6F1B-E94A-4979-6E7B68436A74}"/>
                  </a:ext>
                </a:extLst>
              </p:cNvPr>
              <p:cNvCxnSpPr>
                <a:cxnSpLocks/>
              </p:cNvCxnSpPr>
              <p:nvPr/>
            </p:nvCxnSpPr>
            <p:spPr>
              <a:xfrm>
                <a:off x="10924155" y="4809735"/>
                <a:ext cx="0" cy="2228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3" name="Straight Connector 1102">
                <a:extLst>
                  <a:ext uri="{FF2B5EF4-FFF2-40B4-BE49-F238E27FC236}">
                    <a16:creationId xmlns:a16="http://schemas.microsoft.com/office/drawing/2014/main" id="{E9B58BD3-6B5B-A56F-DD41-87CD43EAB3F8}"/>
                  </a:ext>
                </a:extLst>
              </p:cNvPr>
              <p:cNvCxnSpPr>
                <a:cxnSpLocks/>
              </p:cNvCxnSpPr>
              <p:nvPr/>
            </p:nvCxnSpPr>
            <p:spPr>
              <a:xfrm>
                <a:off x="10753571" y="4918772"/>
                <a:ext cx="1705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4" name="Straight Connector 1103">
                <a:extLst>
                  <a:ext uri="{FF2B5EF4-FFF2-40B4-BE49-F238E27FC236}">
                    <a16:creationId xmlns:a16="http://schemas.microsoft.com/office/drawing/2014/main" id="{B9ED6A66-0E6C-0980-55DF-DAB7FC313B1A}"/>
                  </a:ext>
                </a:extLst>
              </p:cNvPr>
              <p:cNvCxnSpPr>
                <a:cxnSpLocks/>
              </p:cNvCxnSpPr>
              <p:nvPr/>
            </p:nvCxnSpPr>
            <p:spPr>
              <a:xfrm flipH="1">
                <a:off x="10970201" y="5049581"/>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71" name="Group 1070">
              <a:extLst>
                <a:ext uri="{FF2B5EF4-FFF2-40B4-BE49-F238E27FC236}">
                  <a16:creationId xmlns:a16="http://schemas.microsoft.com/office/drawing/2014/main" id="{30752C4C-3969-1AF8-90A1-D3CB93FD6402}"/>
                </a:ext>
              </a:extLst>
            </p:cNvPr>
            <p:cNvGrpSpPr/>
            <p:nvPr/>
          </p:nvGrpSpPr>
          <p:grpSpPr>
            <a:xfrm>
              <a:off x="4537637" y="3177179"/>
              <a:ext cx="370967" cy="261620"/>
              <a:chOff x="3408218" y="2196942"/>
              <a:chExt cx="4311227" cy="3040439"/>
            </a:xfrm>
          </p:grpSpPr>
          <p:cxnSp>
            <p:nvCxnSpPr>
              <p:cNvPr id="1094" name="Straight Connector 1093">
                <a:extLst>
                  <a:ext uri="{FF2B5EF4-FFF2-40B4-BE49-F238E27FC236}">
                    <a16:creationId xmlns:a16="http://schemas.microsoft.com/office/drawing/2014/main" id="{059BD7A3-5CE7-428E-F316-FFF8C5EE631A}"/>
                  </a:ext>
                </a:extLst>
              </p:cNvPr>
              <p:cNvCxnSpPr>
                <a:cxnSpLocks/>
              </p:cNvCxnSpPr>
              <p:nvPr/>
            </p:nvCxnSpPr>
            <p:spPr>
              <a:xfrm flipH="1">
                <a:off x="5925803" y="2196950"/>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5" name="Straight Connector 1094">
                <a:extLst>
                  <a:ext uri="{FF2B5EF4-FFF2-40B4-BE49-F238E27FC236}">
                    <a16:creationId xmlns:a16="http://schemas.microsoft.com/office/drawing/2014/main" id="{8D6BD206-3130-AE7A-2522-B6DC0C1A8A32}"/>
                  </a:ext>
                </a:extLst>
              </p:cNvPr>
              <p:cNvCxnSpPr>
                <a:cxnSpLocks/>
              </p:cNvCxnSpPr>
              <p:nvPr/>
            </p:nvCxnSpPr>
            <p:spPr>
              <a:xfrm flipV="1">
                <a:off x="5925803" y="2196942"/>
                <a:ext cx="0" cy="30404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6" name="Straight Connector 1095">
                <a:extLst>
                  <a:ext uri="{FF2B5EF4-FFF2-40B4-BE49-F238E27FC236}">
                    <a16:creationId xmlns:a16="http://schemas.microsoft.com/office/drawing/2014/main" id="{EB530513-92CA-B63C-A51A-F8A7071AB48B}"/>
                  </a:ext>
                </a:extLst>
              </p:cNvPr>
              <p:cNvCxnSpPr>
                <a:cxnSpLocks/>
              </p:cNvCxnSpPr>
              <p:nvPr/>
            </p:nvCxnSpPr>
            <p:spPr>
              <a:xfrm>
                <a:off x="5390677" y="2449992"/>
                <a:ext cx="0" cy="25894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7" name="Straight Connector 1096">
                <a:extLst>
                  <a:ext uri="{FF2B5EF4-FFF2-40B4-BE49-F238E27FC236}">
                    <a16:creationId xmlns:a16="http://schemas.microsoft.com/office/drawing/2014/main" id="{AD59E074-230A-202B-CC00-637BCEF46282}"/>
                  </a:ext>
                </a:extLst>
              </p:cNvPr>
              <p:cNvCxnSpPr>
                <a:cxnSpLocks/>
              </p:cNvCxnSpPr>
              <p:nvPr/>
            </p:nvCxnSpPr>
            <p:spPr>
              <a:xfrm>
                <a:off x="3408218" y="3717171"/>
                <a:ext cx="19824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98" name="Oval 1097">
                <a:extLst>
                  <a:ext uri="{FF2B5EF4-FFF2-40B4-BE49-F238E27FC236}">
                    <a16:creationId xmlns:a16="http://schemas.microsoft.com/office/drawing/2014/main" id="{07F516AF-9774-F08B-C081-219CD53A52B4}"/>
                  </a:ext>
                </a:extLst>
              </p:cNvPr>
              <p:cNvSpPr/>
              <p:nvPr/>
            </p:nvSpPr>
            <p:spPr>
              <a:xfrm>
                <a:off x="4767388" y="3425040"/>
                <a:ext cx="622114" cy="576944"/>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99" name="Straight Connector 1098">
                <a:extLst>
                  <a:ext uri="{FF2B5EF4-FFF2-40B4-BE49-F238E27FC236}">
                    <a16:creationId xmlns:a16="http://schemas.microsoft.com/office/drawing/2014/main" id="{2351B134-DFC9-90FC-C8FA-0F63741A4693}"/>
                  </a:ext>
                </a:extLst>
              </p:cNvPr>
              <p:cNvCxnSpPr>
                <a:cxnSpLocks/>
              </p:cNvCxnSpPr>
              <p:nvPr/>
            </p:nvCxnSpPr>
            <p:spPr>
              <a:xfrm flipH="1">
                <a:off x="5925803" y="5237381"/>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72" name="Group 1071">
              <a:extLst>
                <a:ext uri="{FF2B5EF4-FFF2-40B4-BE49-F238E27FC236}">
                  <a16:creationId xmlns:a16="http://schemas.microsoft.com/office/drawing/2014/main" id="{7FA1A5C0-A603-0F46-711F-8E75B415AD84}"/>
                </a:ext>
              </a:extLst>
            </p:cNvPr>
            <p:cNvGrpSpPr/>
            <p:nvPr/>
          </p:nvGrpSpPr>
          <p:grpSpPr>
            <a:xfrm>
              <a:off x="4199362" y="4679160"/>
              <a:ext cx="370967" cy="261620"/>
              <a:chOff x="10753571" y="4787961"/>
              <a:chExt cx="370967" cy="261620"/>
            </a:xfrm>
          </p:grpSpPr>
          <p:cxnSp>
            <p:nvCxnSpPr>
              <p:cNvPr id="1089" name="Straight Connector 1088">
                <a:extLst>
                  <a:ext uri="{FF2B5EF4-FFF2-40B4-BE49-F238E27FC236}">
                    <a16:creationId xmlns:a16="http://schemas.microsoft.com/office/drawing/2014/main" id="{1AF01156-12D0-F00B-867B-D6C59CBE98FF}"/>
                  </a:ext>
                </a:extLst>
              </p:cNvPr>
              <p:cNvCxnSpPr>
                <a:cxnSpLocks/>
              </p:cNvCxnSpPr>
              <p:nvPr/>
            </p:nvCxnSpPr>
            <p:spPr>
              <a:xfrm flipH="1">
                <a:off x="10970201" y="4787962"/>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0" name="Straight Connector 1089">
                <a:extLst>
                  <a:ext uri="{FF2B5EF4-FFF2-40B4-BE49-F238E27FC236}">
                    <a16:creationId xmlns:a16="http://schemas.microsoft.com/office/drawing/2014/main" id="{D9B08062-C086-DB6A-E474-C9AA43F40D96}"/>
                  </a:ext>
                </a:extLst>
              </p:cNvPr>
              <p:cNvCxnSpPr>
                <a:cxnSpLocks/>
              </p:cNvCxnSpPr>
              <p:nvPr/>
            </p:nvCxnSpPr>
            <p:spPr>
              <a:xfrm flipV="1">
                <a:off x="10970201" y="4787961"/>
                <a:ext cx="0" cy="2616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1" name="Straight Connector 1090">
                <a:extLst>
                  <a:ext uri="{FF2B5EF4-FFF2-40B4-BE49-F238E27FC236}">
                    <a16:creationId xmlns:a16="http://schemas.microsoft.com/office/drawing/2014/main" id="{B0B6AB5E-0DE4-4E98-9F8A-33DAD7DE4039}"/>
                  </a:ext>
                </a:extLst>
              </p:cNvPr>
              <p:cNvCxnSpPr>
                <a:cxnSpLocks/>
              </p:cNvCxnSpPr>
              <p:nvPr/>
            </p:nvCxnSpPr>
            <p:spPr>
              <a:xfrm>
                <a:off x="10924155" y="4809735"/>
                <a:ext cx="0" cy="2228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2" name="Straight Connector 1091">
                <a:extLst>
                  <a:ext uri="{FF2B5EF4-FFF2-40B4-BE49-F238E27FC236}">
                    <a16:creationId xmlns:a16="http://schemas.microsoft.com/office/drawing/2014/main" id="{5002E2B1-6F20-FD26-C9FD-6F0A90CF17A6}"/>
                  </a:ext>
                </a:extLst>
              </p:cNvPr>
              <p:cNvCxnSpPr>
                <a:cxnSpLocks/>
              </p:cNvCxnSpPr>
              <p:nvPr/>
            </p:nvCxnSpPr>
            <p:spPr>
              <a:xfrm>
                <a:off x="10753571" y="4918772"/>
                <a:ext cx="1705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3" name="Straight Connector 1092">
                <a:extLst>
                  <a:ext uri="{FF2B5EF4-FFF2-40B4-BE49-F238E27FC236}">
                    <a16:creationId xmlns:a16="http://schemas.microsoft.com/office/drawing/2014/main" id="{0844936C-B1B1-BA3A-3F4B-EA638F4B19D9}"/>
                  </a:ext>
                </a:extLst>
              </p:cNvPr>
              <p:cNvCxnSpPr>
                <a:cxnSpLocks/>
              </p:cNvCxnSpPr>
              <p:nvPr/>
            </p:nvCxnSpPr>
            <p:spPr>
              <a:xfrm flipH="1">
                <a:off x="10970201" y="5049581"/>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73" name="Straight Connector 1072">
              <a:extLst>
                <a:ext uri="{FF2B5EF4-FFF2-40B4-BE49-F238E27FC236}">
                  <a16:creationId xmlns:a16="http://schemas.microsoft.com/office/drawing/2014/main" id="{55529910-F45E-AC3D-E2D3-120AC8B60E99}"/>
                </a:ext>
              </a:extLst>
            </p:cNvPr>
            <p:cNvCxnSpPr/>
            <p:nvPr/>
          </p:nvCxnSpPr>
          <p:spPr>
            <a:xfrm>
              <a:off x="4220925" y="3774093"/>
              <a:ext cx="10749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4" name="Straight Connector 1073">
              <a:extLst>
                <a:ext uri="{FF2B5EF4-FFF2-40B4-BE49-F238E27FC236}">
                  <a16:creationId xmlns:a16="http://schemas.microsoft.com/office/drawing/2014/main" id="{C63AAE95-D2EE-FF72-6F06-E71DBE82B3C4}"/>
                </a:ext>
              </a:extLst>
            </p:cNvPr>
            <p:cNvCxnSpPr>
              <a:cxnSpLocks/>
            </p:cNvCxnSpPr>
            <p:nvPr/>
          </p:nvCxnSpPr>
          <p:spPr>
            <a:xfrm>
              <a:off x="4908603" y="3442169"/>
              <a:ext cx="1" cy="3319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5" name="Straight Connector 1074">
              <a:extLst>
                <a:ext uri="{FF2B5EF4-FFF2-40B4-BE49-F238E27FC236}">
                  <a16:creationId xmlns:a16="http://schemas.microsoft.com/office/drawing/2014/main" id="{BB29317A-694D-872E-BED1-AE046F658624}"/>
                </a:ext>
              </a:extLst>
            </p:cNvPr>
            <p:cNvCxnSpPr>
              <a:cxnSpLocks/>
            </p:cNvCxnSpPr>
            <p:nvPr/>
          </p:nvCxnSpPr>
          <p:spPr>
            <a:xfrm>
              <a:off x="4207956" y="3430360"/>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6" name="Straight Connector 1075">
              <a:extLst>
                <a:ext uri="{FF2B5EF4-FFF2-40B4-BE49-F238E27FC236}">
                  <a16:creationId xmlns:a16="http://schemas.microsoft.com/office/drawing/2014/main" id="{E2B932F1-CC91-3325-AD97-06CD40D66004}"/>
                </a:ext>
              </a:extLst>
            </p:cNvPr>
            <p:cNvCxnSpPr>
              <a:cxnSpLocks/>
            </p:cNvCxnSpPr>
            <p:nvPr/>
          </p:nvCxnSpPr>
          <p:spPr>
            <a:xfrm>
              <a:off x="4575422" y="3780437"/>
              <a:ext cx="0" cy="2861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7" name="Straight Connector 1076">
              <a:extLst>
                <a:ext uri="{FF2B5EF4-FFF2-40B4-BE49-F238E27FC236}">
                  <a16:creationId xmlns:a16="http://schemas.microsoft.com/office/drawing/2014/main" id="{355AB32A-6E68-F953-AD03-00E3F55CC2CB}"/>
                </a:ext>
              </a:extLst>
            </p:cNvPr>
            <p:cNvCxnSpPr>
              <a:cxnSpLocks/>
            </p:cNvCxnSpPr>
            <p:nvPr/>
          </p:nvCxnSpPr>
          <p:spPr>
            <a:xfrm>
              <a:off x="4569343" y="4323266"/>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8" name="Straight Connector 1077">
              <a:extLst>
                <a:ext uri="{FF2B5EF4-FFF2-40B4-BE49-F238E27FC236}">
                  <a16:creationId xmlns:a16="http://schemas.microsoft.com/office/drawing/2014/main" id="{20F0D3F8-0E55-BC3B-643B-8611635B5A51}"/>
                </a:ext>
              </a:extLst>
            </p:cNvPr>
            <p:cNvCxnSpPr>
              <a:cxnSpLocks/>
            </p:cNvCxnSpPr>
            <p:nvPr/>
          </p:nvCxnSpPr>
          <p:spPr>
            <a:xfrm>
              <a:off x="4211955" y="2822741"/>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6CF01A32-A781-D12C-6F87-B581C4CC226C}"/>
                </a:ext>
              </a:extLst>
            </p:cNvPr>
            <p:cNvCxnSpPr>
              <a:cxnSpLocks/>
            </p:cNvCxnSpPr>
            <p:nvPr/>
          </p:nvCxnSpPr>
          <p:spPr>
            <a:xfrm>
              <a:off x="4565849" y="4942605"/>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81" name="TextBox 1080">
              <a:extLst>
                <a:ext uri="{FF2B5EF4-FFF2-40B4-BE49-F238E27FC236}">
                  <a16:creationId xmlns:a16="http://schemas.microsoft.com/office/drawing/2014/main" id="{2E236224-99D9-8415-F296-72FEDE7FD6D9}"/>
                </a:ext>
              </a:extLst>
            </p:cNvPr>
            <p:cNvSpPr txBox="1"/>
            <p:nvPr/>
          </p:nvSpPr>
          <p:spPr>
            <a:xfrm>
              <a:off x="3598814" y="3157805"/>
              <a:ext cx="288862" cy="307777"/>
            </a:xfrm>
            <a:prstGeom prst="rect">
              <a:avLst/>
            </a:prstGeom>
            <a:noFill/>
          </p:spPr>
          <p:txBody>
            <a:bodyPr wrap="none" rtlCol="0">
              <a:spAutoFit/>
            </a:bodyPr>
            <a:lstStyle/>
            <a:p>
              <a:r>
                <a:rPr lang="en-US" sz="1400" dirty="0"/>
                <a:t>A</a:t>
              </a:r>
            </a:p>
          </p:txBody>
        </p:sp>
        <p:sp>
          <p:nvSpPr>
            <p:cNvPr id="1082" name="TextBox 1081">
              <a:extLst>
                <a:ext uri="{FF2B5EF4-FFF2-40B4-BE49-F238E27FC236}">
                  <a16:creationId xmlns:a16="http://schemas.microsoft.com/office/drawing/2014/main" id="{D0544CE5-237F-3C35-540F-8C6EB462C017}"/>
                </a:ext>
              </a:extLst>
            </p:cNvPr>
            <p:cNvSpPr txBox="1"/>
            <p:nvPr/>
          </p:nvSpPr>
          <p:spPr>
            <a:xfrm>
              <a:off x="4309361" y="3143951"/>
              <a:ext cx="282450" cy="307777"/>
            </a:xfrm>
            <a:prstGeom prst="rect">
              <a:avLst/>
            </a:prstGeom>
            <a:noFill/>
          </p:spPr>
          <p:txBody>
            <a:bodyPr wrap="none" rtlCol="0">
              <a:spAutoFit/>
            </a:bodyPr>
            <a:lstStyle/>
            <a:p>
              <a:r>
                <a:rPr lang="en-US" sz="1400" dirty="0"/>
                <a:t>B</a:t>
              </a:r>
            </a:p>
          </p:txBody>
        </p:sp>
        <p:sp>
          <p:nvSpPr>
            <p:cNvPr id="1083" name="TextBox 1082">
              <a:extLst>
                <a:ext uri="{FF2B5EF4-FFF2-40B4-BE49-F238E27FC236}">
                  <a16:creationId xmlns:a16="http://schemas.microsoft.com/office/drawing/2014/main" id="{15A63316-C2D6-6901-32C8-AB8C7B436A45}"/>
                </a:ext>
              </a:extLst>
            </p:cNvPr>
            <p:cNvSpPr txBox="1"/>
            <p:nvPr/>
          </p:nvSpPr>
          <p:spPr>
            <a:xfrm>
              <a:off x="3976840" y="4022803"/>
              <a:ext cx="288862" cy="307777"/>
            </a:xfrm>
            <a:prstGeom prst="rect">
              <a:avLst/>
            </a:prstGeom>
            <a:noFill/>
          </p:spPr>
          <p:txBody>
            <a:bodyPr wrap="none" rtlCol="0">
              <a:spAutoFit/>
            </a:bodyPr>
            <a:lstStyle/>
            <a:p>
              <a:r>
                <a:rPr lang="en-US" sz="1400" dirty="0"/>
                <a:t>A</a:t>
              </a:r>
            </a:p>
          </p:txBody>
        </p:sp>
        <p:sp>
          <p:nvSpPr>
            <p:cNvPr id="1084" name="TextBox 1083">
              <a:extLst>
                <a:ext uri="{FF2B5EF4-FFF2-40B4-BE49-F238E27FC236}">
                  <a16:creationId xmlns:a16="http://schemas.microsoft.com/office/drawing/2014/main" id="{D46C3DFC-F6B7-DA26-6252-6B5E6FDAE033}"/>
                </a:ext>
              </a:extLst>
            </p:cNvPr>
            <p:cNvSpPr txBox="1"/>
            <p:nvPr/>
          </p:nvSpPr>
          <p:spPr>
            <a:xfrm>
              <a:off x="3998621" y="4662090"/>
              <a:ext cx="282450" cy="307777"/>
            </a:xfrm>
            <a:prstGeom prst="rect">
              <a:avLst/>
            </a:prstGeom>
            <a:noFill/>
          </p:spPr>
          <p:txBody>
            <a:bodyPr wrap="none" rtlCol="0">
              <a:spAutoFit/>
            </a:bodyPr>
            <a:lstStyle/>
            <a:p>
              <a:r>
                <a:rPr lang="en-US" sz="1400" dirty="0"/>
                <a:t>B</a:t>
              </a:r>
            </a:p>
          </p:txBody>
        </p:sp>
        <p:sp>
          <p:nvSpPr>
            <p:cNvPr id="1085" name="TextBox 1084">
              <a:extLst>
                <a:ext uri="{FF2B5EF4-FFF2-40B4-BE49-F238E27FC236}">
                  <a16:creationId xmlns:a16="http://schemas.microsoft.com/office/drawing/2014/main" id="{63CF8D27-6211-14B7-00E7-F70A163683DD}"/>
                </a:ext>
              </a:extLst>
            </p:cNvPr>
            <p:cNvSpPr txBox="1"/>
            <p:nvPr/>
          </p:nvSpPr>
          <p:spPr>
            <a:xfrm>
              <a:off x="3990439" y="2487265"/>
              <a:ext cx="508473" cy="307777"/>
            </a:xfrm>
            <a:prstGeom prst="rect">
              <a:avLst/>
            </a:prstGeom>
            <a:noFill/>
          </p:spPr>
          <p:txBody>
            <a:bodyPr wrap="none" rtlCol="0">
              <a:spAutoFit/>
            </a:bodyPr>
            <a:lstStyle/>
            <a:p>
              <a:r>
                <a:rPr lang="en-US" sz="1400" dirty="0"/>
                <a:t>VDD</a:t>
              </a:r>
            </a:p>
          </p:txBody>
        </p:sp>
        <p:sp>
          <p:nvSpPr>
            <p:cNvPr id="1086" name="TextBox 1085">
              <a:extLst>
                <a:ext uri="{FF2B5EF4-FFF2-40B4-BE49-F238E27FC236}">
                  <a16:creationId xmlns:a16="http://schemas.microsoft.com/office/drawing/2014/main" id="{8694E110-1CF7-E362-6EB6-4096406CFC5B}"/>
                </a:ext>
              </a:extLst>
            </p:cNvPr>
            <p:cNvSpPr txBox="1"/>
            <p:nvPr/>
          </p:nvSpPr>
          <p:spPr>
            <a:xfrm>
              <a:off x="4297698" y="5371276"/>
              <a:ext cx="524503" cy="307777"/>
            </a:xfrm>
            <a:prstGeom prst="rect">
              <a:avLst/>
            </a:prstGeom>
            <a:noFill/>
          </p:spPr>
          <p:txBody>
            <a:bodyPr wrap="none" rtlCol="0">
              <a:spAutoFit/>
            </a:bodyPr>
            <a:lstStyle/>
            <a:p>
              <a:r>
                <a:rPr lang="en-US" sz="1400" dirty="0"/>
                <a:t>GND</a:t>
              </a:r>
            </a:p>
          </p:txBody>
        </p:sp>
        <p:sp>
          <p:nvSpPr>
            <p:cNvPr id="1088" name="TextBox 1087">
              <a:extLst>
                <a:ext uri="{FF2B5EF4-FFF2-40B4-BE49-F238E27FC236}">
                  <a16:creationId xmlns:a16="http://schemas.microsoft.com/office/drawing/2014/main" id="{1612D799-E3B2-ECDE-071F-64D4BF165126}"/>
                </a:ext>
              </a:extLst>
            </p:cNvPr>
            <p:cNvSpPr txBox="1"/>
            <p:nvPr/>
          </p:nvSpPr>
          <p:spPr>
            <a:xfrm>
              <a:off x="4993658" y="3436958"/>
              <a:ext cx="506870" cy="307777"/>
            </a:xfrm>
            <a:prstGeom prst="rect">
              <a:avLst/>
            </a:prstGeom>
            <a:noFill/>
          </p:spPr>
          <p:txBody>
            <a:bodyPr wrap="none" rtlCol="0">
              <a:spAutoFit/>
            </a:bodyPr>
            <a:lstStyle/>
            <a:p>
              <a:r>
                <a:rPr lang="en-US" sz="1400" dirty="0"/>
                <a:t>OUT</a:t>
              </a:r>
            </a:p>
          </p:txBody>
        </p:sp>
        <p:cxnSp>
          <p:nvCxnSpPr>
            <p:cNvPr id="1111" name="Straight Connector 1110">
              <a:extLst>
                <a:ext uri="{FF2B5EF4-FFF2-40B4-BE49-F238E27FC236}">
                  <a16:creationId xmlns:a16="http://schemas.microsoft.com/office/drawing/2014/main" id="{4C4833C3-D635-648A-BF9D-76D357FD0B8B}"/>
                </a:ext>
              </a:extLst>
            </p:cNvPr>
            <p:cNvCxnSpPr>
              <a:cxnSpLocks/>
            </p:cNvCxnSpPr>
            <p:nvPr/>
          </p:nvCxnSpPr>
          <p:spPr>
            <a:xfrm>
              <a:off x="4899556" y="2821381"/>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12" name="TextBox 1111">
              <a:extLst>
                <a:ext uri="{FF2B5EF4-FFF2-40B4-BE49-F238E27FC236}">
                  <a16:creationId xmlns:a16="http://schemas.microsoft.com/office/drawing/2014/main" id="{747522F8-2B26-88FA-B80F-CAEAA7AD04F9}"/>
                </a:ext>
              </a:extLst>
            </p:cNvPr>
            <p:cNvSpPr txBox="1"/>
            <p:nvPr/>
          </p:nvSpPr>
          <p:spPr>
            <a:xfrm>
              <a:off x="4654367" y="2485905"/>
              <a:ext cx="508473" cy="307777"/>
            </a:xfrm>
            <a:prstGeom prst="rect">
              <a:avLst/>
            </a:prstGeom>
            <a:noFill/>
          </p:spPr>
          <p:txBody>
            <a:bodyPr wrap="none" rtlCol="0">
              <a:spAutoFit/>
            </a:bodyPr>
            <a:lstStyle/>
            <a:p>
              <a:r>
                <a:rPr lang="en-US" sz="1400" dirty="0"/>
                <a:t>VDD</a:t>
              </a:r>
            </a:p>
          </p:txBody>
        </p:sp>
      </p:grpSp>
      <p:sp>
        <p:nvSpPr>
          <p:cNvPr id="12" name="TextBox 11">
            <a:extLst>
              <a:ext uri="{FF2B5EF4-FFF2-40B4-BE49-F238E27FC236}">
                <a16:creationId xmlns:a16="http://schemas.microsoft.com/office/drawing/2014/main" id="{C148343C-F4EA-34C0-0786-DF38706D9780}"/>
              </a:ext>
            </a:extLst>
          </p:cNvPr>
          <p:cNvSpPr txBox="1"/>
          <p:nvPr/>
        </p:nvSpPr>
        <p:spPr>
          <a:xfrm>
            <a:off x="6941659" y="2066470"/>
            <a:ext cx="611065" cy="369332"/>
          </a:xfrm>
          <a:prstGeom prst="rect">
            <a:avLst/>
          </a:prstGeom>
          <a:noFill/>
        </p:spPr>
        <p:txBody>
          <a:bodyPr wrap="none" rtlCol="0">
            <a:spAutoFit/>
          </a:bodyPr>
          <a:lstStyle/>
          <a:p>
            <a:r>
              <a:rPr lang="en-US" dirty="0"/>
              <a:t>NOR</a:t>
            </a:r>
          </a:p>
        </p:txBody>
      </p:sp>
      <p:pic>
        <p:nvPicPr>
          <p:cNvPr id="1026" name="Picture 2" descr="NOR gate symbol with two inputs (A and B) and one output (Q).  The NOR symbol looks exactly like the OR symbol except it has a small circle on its output connection indicating that the output is inverted.">
            <a:extLst>
              <a:ext uri="{FF2B5EF4-FFF2-40B4-BE49-F238E27FC236}">
                <a16:creationId xmlns:a16="http://schemas.microsoft.com/office/drawing/2014/main" id="{F31CED6C-AC26-3CEE-E27A-C8726021F705}"/>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558714" y="2457647"/>
            <a:ext cx="1524000" cy="635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6" name="Table 15">
            <a:extLst>
              <a:ext uri="{FF2B5EF4-FFF2-40B4-BE49-F238E27FC236}">
                <a16:creationId xmlns:a16="http://schemas.microsoft.com/office/drawing/2014/main" id="{2433741A-5150-EAF0-AE1E-D0777F4F6BD4}"/>
              </a:ext>
            </a:extLst>
          </p:cNvPr>
          <p:cNvGraphicFramePr>
            <a:graphicFrameLocks noGrp="1"/>
          </p:cNvGraphicFramePr>
          <p:nvPr>
            <p:extLst>
              <p:ext uri="{D42A27DB-BD31-4B8C-83A1-F6EECF244321}">
                <p14:modId xmlns:p14="http://schemas.microsoft.com/office/powerpoint/2010/main" val="692434775"/>
              </p:ext>
            </p:extLst>
          </p:nvPr>
        </p:nvGraphicFramePr>
        <p:xfrm>
          <a:off x="6353839" y="3255636"/>
          <a:ext cx="1844079" cy="1960150"/>
        </p:xfrm>
        <a:graphic>
          <a:graphicData uri="http://schemas.openxmlformats.org/drawingml/2006/table">
            <a:tbl>
              <a:tblPr firstRow="1" bandRow="1">
                <a:tableStyleId>{5C22544A-7EE6-4342-B048-85BDC9FD1C3A}</a:tableStyleId>
              </a:tblPr>
              <a:tblGrid>
                <a:gridCol w="614693">
                  <a:extLst>
                    <a:ext uri="{9D8B030D-6E8A-4147-A177-3AD203B41FA5}">
                      <a16:colId xmlns:a16="http://schemas.microsoft.com/office/drawing/2014/main" val="1071248141"/>
                    </a:ext>
                  </a:extLst>
                </a:gridCol>
                <a:gridCol w="614693">
                  <a:extLst>
                    <a:ext uri="{9D8B030D-6E8A-4147-A177-3AD203B41FA5}">
                      <a16:colId xmlns:a16="http://schemas.microsoft.com/office/drawing/2014/main" val="2618565763"/>
                    </a:ext>
                  </a:extLst>
                </a:gridCol>
                <a:gridCol w="614693">
                  <a:extLst>
                    <a:ext uri="{9D8B030D-6E8A-4147-A177-3AD203B41FA5}">
                      <a16:colId xmlns:a16="http://schemas.microsoft.com/office/drawing/2014/main" val="2416198014"/>
                    </a:ext>
                  </a:extLst>
                </a:gridCol>
              </a:tblGrid>
              <a:tr h="392030">
                <a:tc>
                  <a:txBody>
                    <a:bodyPr/>
                    <a:lstStyle/>
                    <a:p>
                      <a:pPr algn="ctr"/>
                      <a:r>
                        <a:rPr lang="en-US" dirty="0"/>
                        <a:t>A</a:t>
                      </a:r>
                    </a:p>
                  </a:txBody>
                  <a:tcPr/>
                </a:tc>
                <a:tc>
                  <a:txBody>
                    <a:bodyPr/>
                    <a:lstStyle/>
                    <a:p>
                      <a:pPr algn="ctr"/>
                      <a:r>
                        <a:rPr lang="en-US" dirty="0"/>
                        <a:t>B</a:t>
                      </a:r>
                    </a:p>
                  </a:txBody>
                  <a:tcPr/>
                </a:tc>
                <a:tc>
                  <a:txBody>
                    <a:bodyPr/>
                    <a:lstStyle/>
                    <a:p>
                      <a:pPr algn="ctr"/>
                      <a:r>
                        <a:rPr lang="en-US" dirty="0"/>
                        <a:t>Q</a:t>
                      </a:r>
                    </a:p>
                  </a:txBody>
                  <a:tcPr/>
                </a:tc>
                <a:extLst>
                  <a:ext uri="{0D108BD9-81ED-4DB2-BD59-A6C34878D82A}">
                    <a16:rowId xmlns:a16="http://schemas.microsoft.com/office/drawing/2014/main" val="3588159787"/>
                  </a:ext>
                </a:extLst>
              </a:tr>
              <a:tr h="392030">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3061539733"/>
                  </a:ext>
                </a:extLst>
              </a:tr>
              <a:tr h="39203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244367929"/>
                  </a:ext>
                </a:extLst>
              </a:tr>
              <a:tr h="39203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93639549"/>
                  </a:ext>
                </a:extLst>
              </a:tr>
              <a:tr h="39203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222571218"/>
                  </a:ext>
                </a:extLst>
              </a:tr>
            </a:tbl>
          </a:graphicData>
        </a:graphic>
      </p:graphicFrame>
      <p:sp>
        <p:nvSpPr>
          <p:cNvPr id="29" name="TextBox 28">
            <a:extLst>
              <a:ext uri="{FF2B5EF4-FFF2-40B4-BE49-F238E27FC236}">
                <a16:creationId xmlns:a16="http://schemas.microsoft.com/office/drawing/2014/main" id="{D6009AC4-B224-F43F-2791-424BAF0EC9ED}"/>
              </a:ext>
            </a:extLst>
          </p:cNvPr>
          <p:cNvSpPr txBox="1"/>
          <p:nvPr/>
        </p:nvSpPr>
        <p:spPr>
          <a:xfrm>
            <a:off x="6455300" y="5555131"/>
            <a:ext cx="1641155" cy="369332"/>
          </a:xfrm>
          <a:prstGeom prst="rect">
            <a:avLst/>
          </a:prstGeom>
          <a:noFill/>
        </p:spPr>
        <p:txBody>
          <a:bodyPr wrap="none" rtlCol="0">
            <a:spAutoFit/>
          </a:bodyPr>
          <a:lstStyle/>
          <a:p>
            <a:r>
              <a:rPr lang="en-US" dirty="0"/>
              <a:t>Four transistors</a:t>
            </a:r>
          </a:p>
        </p:txBody>
      </p:sp>
      <p:grpSp>
        <p:nvGrpSpPr>
          <p:cNvPr id="19" name="Group 18" descr="&#13;&#10;This is a NOR gate with two PMOS transistors in series at the top connecting to the OUT wire.  On the bottom there are two parallel NMOS transistors connected between the OUT wire and the ground.&#13;&#10;">
            <a:extLst>
              <a:ext uri="{FF2B5EF4-FFF2-40B4-BE49-F238E27FC236}">
                <a16:creationId xmlns:a16="http://schemas.microsoft.com/office/drawing/2014/main" id="{C0972968-CAB1-E438-131A-0119B1B75A0B}"/>
              </a:ext>
            </a:extLst>
          </p:cNvPr>
          <p:cNvGrpSpPr/>
          <p:nvPr/>
        </p:nvGrpSpPr>
        <p:grpSpPr>
          <a:xfrm>
            <a:off x="9869468" y="2485905"/>
            <a:ext cx="1737491" cy="3204946"/>
            <a:chOff x="9869468" y="2485905"/>
            <a:chExt cx="1737491" cy="3204946"/>
          </a:xfrm>
        </p:grpSpPr>
        <p:grpSp>
          <p:nvGrpSpPr>
            <p:cNvPr id="2" name="Group 1">
              <a:extLst>
                <a:ext uri="{FF2B5EF4-FFF2-40B4-BE49-F238E27FC236}">
                  <a16:creationId xmlns:a16="http://schemas.microsoft.com/office/drawing/2014/main" id="{B5084C78-A3A1-8CD7-803E-BE8E10B51AD4}"/>
                </a:ext>
              </a:extLst>
            </p:cNvPr>
            <p:cNvGrpSpPr/>
            <p:nvPr/>
          </p:nvGrpSpPr>
          <p:grpSpPr>
            <a:xfrm>
              <a:off x="10382604" y="3167380"/>
              <a:ext cx="370967" cy="261620"/>
              <a:chOff x="3408218" y="2196942"/>
              <a:chExt cx="4311227" cy="3040439"/>
            </a:xfrm>
          </p:grpSpPr>
          <p:cxnSp>
            <p:nvCxnSpPr>
              <p:cNvPr id="3" name="Straight Connector 2">
                <a:extLst>
                  <a:ext uri="{FF2B5EF4-FFF2-40B4-BE49-F238E27FC236}">
                    <a16:creationId xmlns:a16="http://schemas.microsoft.com/office/drawing/2014/main" id="{7607855C-D70C-2895-17DB-777BF1BE297A}"/>
                  </a:ext>
                </a:extLst>
              </p:cNvPr>
              <p:cNvCxnSpPr>
                <a:cxnSpLocks/>
              </p:cNvCxnSpPr>
              <p:nvPr/>
            </p:nvCxnSpPr>
            <p:spPr>
              <a:xfrm flipH="1">
                <a:off x="5925803" y="2196950"/>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F9E95CC0-E2B3-BEC8-B320-AF2C0BD14049}"/>
                  </a:ext>
                </a:extLst>
              </p:cNvPr>
              <p:cNvCxnSpPr>
                <a:cxnSpLocks/>
              </p:cNvCxnSpPr>
              <p:nvPr/>
            </p:nvCxnSpPr>
            <p:spPr>
              <a:xfrm flipV="1">
                <a:off x="5925803" y="2196942"/>
                <a:ext cx="0" cy="30404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A929442-BD92-E2D8-A6A3-3A30515095A6}"/>
                  </a:ext>
                </a:extLst>
              </p:cNvPr>
              <p:cNvCxnSpPr>
                <a:cxnSpLocks/>
              </p:cNvCxnSpPr>
              <p:nvPr/>
            </p:nvCxnSpPr>
            <p:spPr>
              <a:xfrm>
                <a:off x="5390677" y="2449992"/>
                <a:ext cx="0" cy="25894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C0539233-CF1C-B458-4575-10B09852F8E9}"/>
                  </a:ext>
                </a:extLst>
              </p:cNvPr>
              <p:cNvCxnSpPr>
                <a:cxnSpLocks/>
              </p:cNvCxnSpPr>
              <p:nvPr/>
            </p:nvCxnSpPr>
            <p:spPr>
              <a:xfrm>
                <a:off x="3408218" y="3717171"/>
                <a:ext cx="19824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B5B387C0-57AC-5389-F2BB-4DDEB69EE598}"/>
                  </a:ext>
                </a:extLst>
              </p:cNvPr>
              <p:cNvSpPr/>
              <p:nvPr/>
            </p:nvSpPr>
            <p:spPr>
              <a:xfrm>
                <a:off x="4767388" y="3425040"/>
                <a:ext cx="622114" cy="576944"/>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B52726E2-F71A-5E2D-9ED2-3E64D4EE290A}"/>
                  </a:ext>
                </a:extLst>
              </p:cNvPr>
              <p:cNvCxnSpPr>
                <a:cxnSpLocks/>
              </p:cNvCxnSpPr>
              <p:nvPr/>
            </p:nvCxnSpPr>
            <p:spPr>
              <a:xfrm flipH="1">
                <a:off x="5925803" y="5237381"/>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26FE6D73-7466-B4AB-E39A-FFACE165E47D}"/>
                </a:ext>
              </a:extLst>
            </p:cNvPr>
            <p:cNvGrpSpPr/>
            <p:nvPr/>
          </p:nvGrpSpPr>
          <p:grpSpPr>
            <a:xfrm>
              <a:off x="10097083" y="4701474"/>
              <a:ext cx="370967" cy="261620"/>
              <a:chOff x="10753571" y="4787961"/>
              <a:chExt cx="370967" cy="261620"/>
            </a:xfrm>
          </p:grpSpPr>
          <p:cxnSp>
            <p:nvCxnSpPr>
              <p:cNvPr id="14" name="Straight Connector 13">
                <a:extLst>
                  <a:ext uri="{FF2B5EF4-FFF2-40B4-BE49-F238E27FC236}">
                    <a16:creationId xmlns:a16="http://schemas.microsoft.com/office/drawing/2014/main" id="{A6B88234-E427-84D1-867D-E8B3117C32EC}"/>
                  </a:ext>
                </a:extLst>
              </p:cNvPr>
              <p:cNvCxnSpPr>
                <a:cxnSpLocks/>
              </p:cNvCxnSpPr>
              <p:nvPr/>
            </p:nvCxnSpPr>
            <p:spPr>
              <a:xfrm flipH="1">
                <a:off x="10970201" y="4787962"/>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B7F9445-B3C1-DC32-62AC-C625371AA176}"/>
                  </a:ext>
                </a:extLst>
              </p:cNvPr>
              <p:cNvCxnSpPr>
                <a:cxnSpLocks/>
              </p:cNvCxnSpPr>
              <p:nvPr/>
            </p:nvCxnSpPr>
            <p:spPr>
              <a:xfrm flipV="1">
                <a:off x="10970201" y="4787961"/>
                <a:ext cx="0" cy="2616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FB43B9D-4757-F35E-9F40-86E10E0EC4EC}"/>
                  </a:ext>
                </a:extLst>
              </p:cNvPr>
              <p:cNvCxnSpPr>
                <a:cxnSpLocks/>
              </p:cNvCxnSpPr>
              <p:nvPr/>
            </p:nvCxnSpPr>
            <p:spPr>
              <a:xfrm>
                <a:off x="10924155" y="4809735"/>
                <a:ext cx="0" cy="2228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CFC7318-CF7F-CFA5-98ED-2EBBAEBD9B4F}"/>
                  </a:ext>
                </a:extLst>
              </p:cNvPr>
              <p:cNvCxnSpPr>
                <a:cxnSpLocks/>
              </p:cNvCxnSpPr>
              <p:nvPr/>
            </p:nvCxnSpPr>
            <p:spPr>
              <a:xfrm>
                <a:off x="10753571" y="4918772"/>
                <a:ext cx="1705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70AFE43-1659-8B83-5B46-00FCB2BEA4E7}"/>
                  </a:ext>
                </a:extLst>
              </p:cNvPr>
              <p:cNvCxnSpPr>
                <a:cxnSpLocks/>
              </p:cNvCxnSpPr>
              <p:nvPr/>
            </p:nvCxnSpPr>
            <p:spPr>
              <a:xfrm flipH="1">
                <a:off x="10970201" y="5049581"/>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D49B2312-9F7F-A9A2-7BC9-B1B8447B62D1}"/>
                </a:ext>
              </a:extLst>
            </p:cNvPr>
            <p:cNvGrpSpPr/>
            <p:nvPr/>
          </p:nvGrpSpPr>
          <p:grpSpPr>
            <a:xfrm>
              <a:off x="10382604" y="3781457"/>
              <a:ext cx="370967" cy="261620"/>
              <a:chOff x="3408218" y="2196942"/>
              <a:chExt cx="4311227" cy="3040439"/>
            </a:xfrm>
          </p:grpSpPr>
          <p:cxnSp>
            <p:nvCxnSpPr>
              <p:cNvPr id="24" name="Straight Connector 23">
                <a:extLst>
                  <a:ext uri="{FF2B5EF4-FFF2-40B4-BE49-F238E27FC236}">
                    <a16:creationId xmlns:a16="http://schemas.microsoft.com/office/drawing/2014/main" id="{FF56661D-A6B1-A775-2C80-826657751EC5}"/>
                  </a:ext>
                </a:extLst>
              </p:cNvPr>
              <p:cNvCxnSpPr>
                <a:cxnSpLocks/>
              </p:cNvCxnSpPr>
              <p:nvPr/>
            </p:nvCxnSpPr>
            <p:spPr>
              <a:xfrm flipH="1">
                <a:off x="5925803" y="2196950"/>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432F8D9-F9B5-D654-D499-8F0FCDD7D333}"/>
                  </a:ext>
                </a:extLst>
              </p:cNvPr>
              <p:cNvCxnSpPr>
                <a:cxnSpLocks/>
              </p:cNvCxnSpPr>
              <p:nvPr/>
            </p:nvCxnSpPr>
            <p:spPr>
              <a:xfrm flipV="1">
                <a:off x="5925803" y="2196942"/>
                <a:ext cx="0" cy="30404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1F1783B-5511-841D-14F7-2357838D8E6C}"/>
                  </a:ext>
                </a:extLst>
              </p:cNvPr>
              <p:cNvCxnSpPr>
                <a:cxnSpLocks/>
              </p:cNvCxnSpPr>
              <p:nvPr/>
            </p:nvCxnSpPr>
            <p:spPr>
              <a:xfrm>
                <a:off x="5390677" y="2449992"/>
                <a:ext cx="0" cy="25894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026919-4D80-BF8D-58A1-37F667FCB6B1}"/>
                  </a:ext>
                </a:extLst>
              </p:cNvPr>
              <p:cNvCxnSpPr>
                <a:cxnSpLocks/>
              </p:cNvCxnSpPr>
              <p:nvPr/>
            </p:nvCxnSpPr>
            <p:spPr>
              <a:xfrm>
                <a:off x="3408218" y="3717171"/>
                <a:ext cx="19824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792C73C9-6288-12F3-ACD9-7C4572ABB95A}"/>
                  </a:ext>
                </a:extLst>
              </p:cNvPr>
              <p:cNvSpPr/>
              <p:nvPr/>
            </p:nvSpPr>
            <p:spPr>
              <a:xfrm>
                <a:off x="4767388" y="3425040"/>
                <a:ext cx="622114" cy="576944"/>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a:extLst>
                  <a:ext uri="{FF2B5EF4-FFF2-40B4-BE49-F238E27FC236}">
                    <a16:creationId xmlns:a16="http://schemas.microsoft.com/office/drawing/2014/main" id="{DFD2163B-0D00-1BB8-D301-94101B8E92D6}"/>
                  </a:ext>
                </a:extLst>
              </p:cNvPr>
              <p:cNvCxnSpPr>
                <a:cxnSpLocks/>
              </p:cNvCxnSpPr>
              <p:nvPr/>
            </p:nvCxnSpPr>
            <p:spPr>
              <a:xfrm flipH="1">
                <a:off x="5925803" y="5237381"/>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D16E44BC-336E-67C9-844B-3C677F7FA7EF}"/>
                </a:ext>
              </a:extLst>
            </p:cNvPr>
            <p:cNvGrpSpPr/>
            <p:nvPr/>
          </p:nvGrpSpPr>
          <p:grpSpPr>
            <a:xfrm>
              <a:off x="10733099" y="4701473"/>
              <a:ext cx="370967" cy="261620"/>
              <a:chOff x="10753571" y="4787961"/>
              <a:chExt cx="370967" cy="261620"/>
            </a:xfrm>
          </p:grpSpPr>
          <p:cxnSp>
            <p:nvCxnSpPr>
              <p:cNvPr id="36" name="Straight Connector 35">
                <a:extLst>
                  <a:ext uri="{FF2B5EF4-FFF2-40B4-BE49-F238E27FC236}">
                    <a16:creationId xmlns:a16="http://schemas.microsoft.com/office/drawing/2014/main" id="{D4B965D7-422E-DDD3-BB24-18B9E504D24C}"/>
                  </a:ext>
                </a:extLst>
              </p:cNvPr>
              <p:cNvCxnSpPr>
                <a:cxnSpLocks/>
              </p:cNvCxnSpPr>
              <p:nvPr/>
            </p:nvCxnSpPr>
            <p:spPr>
              <a:xfrm flipH="1">
                <a:off x="10970201" y="4787962"/>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8CAA661-D2D5-2B3C-59E4-3D3ED86E48AC}"/>
                  </a:ext>
                </a:extLst>
              </p:cNvPr>
              <p:cNvCxnSpPr>
                <a:cxnSpLocks/>
              </p:cNvCxnSpPr>
              <p:nvPr/>
            </p:nvCxnSpPr>
            <p:spPr>
              <a:xfrm flipV="1">
                <a:off x="10970201" y="4787961"/>
                <a:ext cx="0" cy="2616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1D4A5A0-6E4C-A573-7C10-788516ED8AD5}"/>
                  </a:ext>
                </a:extLst>
              </p:cNvPr>
              <p:cNvCxnSpPr>
                <a:cxnSpLocks/>
              </p:cNvCxnSpPr>
              <p:nvPr/>
            </p:nvCxnSpPr>
            <p:spPr>
              <a:xfrm>
                <a:off x="10924155" y="4809735"/>
                <a:ext cx="0" cy="2228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392633-21E9-29DF-35EF-FC940AB60510}"/>
                  </a:ext>
                </a:extLst>
              </p:cNvPr>
              <p:cNvCxnSpPr>
                <a:cxnSpLocks/>
              </p:cNvCxnSpPr>
              <p:nvPr/>
            </p:nvCxnSpPr>
            <p:spPr>
              <a:xfrm>
                <a:off x="10753571" y="4918772"/>
                <a:ext cx="1705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9B70F7B-3585-83A4-569D-75E5E7EB1C1D}"/>
                  </a:ext>
                </a:extLst>
              </p:cNvPr>
              <p:cNvCxnSpPr>
                <a:cxnSpLocks/>
              </p:cNvCxnSpPr>
              <p:nvPr/>
            </p:nvCxnSpPr>
            <p:spPr>
              <a:xfrm flipH="1">
                <a:off x="10970201" y="5049581"/>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2" name="Straight Connector 41">
              <a:extLst>
                <a:ext uri="{FF2B5EF4-FFF2-40B4-BE49-F238E27FC236}">
                  <a16:creationId xmlns:a16="http://schemas.microsoft.com/office/drawing/2014/main" id="{D2FC6267-A6ED-30DD-F7D2-60AC6D444249}"/>
                </a:ext>
              </a:extLst>
            </p:cNvPr>
            <p:cNvCxnSpPr/>
            <p:nvPr/>
          </p:nvCxnSpPr>
          <p:spPr>
            <a:xfrm>
              <a:off x="10467896" y="4346369"/>
              <a:ext cx="10749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78FD15F-6F40-6E68-111D-EA22DC1F751D}"/>
                </a:ext>
              </a:extLst>
            </p:cNvPr>
            <p:cNvCxnSpPr>
              <a:cxnSpLocks/>
            </p:cNvCxnSpPr>
            <p:nvPr/>
          </p:nvCxnSpPr>
          <p:spPr>
            <a:xfrm>
              <a:off x="10753571" y="4038599"/>
              <a:ext cx="0" cy="30377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EE523B9F-1B7F-273C-6FC1-A738597326CF}"/>
                </a:ext>
              </a:extLst>
            </p:cNvPr>
            <p:cNvCxnSpPr>
              <a:cxnSpLocks/>
            </p:cNvCxnSpPr>
            <p:nvPr/>
          </p:nvCxnSpPr>
          <p:spPr>
            <a:xfrm>
              <a:off x="10753571" y="3429000"/>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descr="This is a NOR gate with two PMOS transistors in series at the top connecting to the OUT wire.  On the bottom there are two parallel NMOS transistors connected between the OUT wire and the ground.">
              <a:extLst>
                <a:ext uri="{FF2B5EF4-FFF2-40B4-BE49-F238E27FC236}">
                  <a16:creationId xmlns:a16="http://schemas.microsoft.com/office/drawing/2014/main" id="{7D7CACD1-4F82-EEC4-4522-07DA6A0E6437}"/>
                </a:ext>
              </a:extLst>
            </p:cNvPr>
            <p:cNvCxnSpPr>
              <a:cxnSpLocks/>
            </p:cNvCxnSpPr>
            <p:nvPr/>
          </p:nvCxnSpPr>
          <p:spPr>
            <a:xfrm>
              <a:off x="10460444" y="4346369"/>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2DEFEFE-EAA3-47DB-9B1F-59F5CFF4B5A6}"/>
                </a:ext>
              </a:extLst>
            </p:cNvPr>
            <p:cNvCxnSpPr>
              <a:cxnSpLocks/>
            </p:cNvCxnSpPr>
            <p:nvPr/>
          </p:nvCxnSpPr>
          <p:spPr>
            <a:xfrm>
              <a:off x="11099586" y="4346368"/>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E4A4FBFF-058A-E6FF-191D-131D61F64146}"/>
                </a:ext>
              </a:extLst>
            </p:cNvPr>
            <p:cNvCxnSpPr>
              <a:cxnSpLocks/>
            </p:cNvCxnSpPr>
            <p:nvPr/>
          </p:nvCxnSpPr>
          <p:spPr>
            <a:xfrm>
              <a:off x="10763546" y="2821381"/>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E46D8D17-B017-CD35-11CA-E793F3CEA10F}"/>
                </a:ext>
              </a:extLst>
            </p:cNvPr>
            <p:cNvCxnSpPr>
              <a:cxnSpLocks/>
            </p:cNvCxnSpPr>
            <p:nvPr/>
          </p:nvCxnSpPr>
          <p:spPr>
            <a:xfrm>
              <a:off x="10460759" y="4964919"/>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E77FC5C-9303-76FA-A0F5-8EB70E2E1438}"/>
                </a:ext>
              </a:extLst>
            </p:cNvPr>
            <p:cNvCxnSpPr>
              <a:cxnSpLocks/>
            </p:cNvCxnSpPr>
            <p:nvPr/>
          </p:nvCxnSpPr>
          <p:spPr>
            <a:xfrm>
              <a:off x="11099586" y="4964918"/>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48BEA623-66E9-F687-1B3E-CD7985178F03}"/>
                </a:ext>
              </a:extLst>
            </p:cNvPr>
            <p:cNvSpPr txBox="1"/>
            <p:nvPr/>
          </p:nvSpPr>
          <p:spPr>
            <a:xfrm>
              <a:off x="10144429" y="3156445"/>
              <a:ext cx="288862" cy="307777"/>
            </a:xfrm>
            <a:prstGeom prst="rect">
              <a:avLst/>
            </a:prstGeom>
            <a:noFill/>
          </p:spPr>
          <p:txBody>
            <a:bodyPr wrap="none" rtlCol="0">
              <a:spAutoFit/>
            </a:bodyPr>
            <a:lstStyle/>
            <a:p>
              <a:r>
                <a:rPr lang="en-US" sz="1400" dirty="0"/>
                <a:t>A</a:t>
              </a:r>
            </a:p>
          </p:txBody>
        </p:sp>
        <p:sp>
          <p:nvSpPr>
            <p:cNvPr id="54" name="TextBox 53">
              <a:extLst>
                <a:ext uri="{FF2B5EF4-FFF2-40B4-BE49-F238E27FC236}">
                  <a16:creationId xmlns:a16="http://schemas.microsoft.com/office/drawing/2014/main" id="{77B0C492-6D97-4784-2305-A4ED9C417722}"/>
                </a:ext>
              </a:extLst>
            </p:cNvPr>
            <p:cNvSpPr txBox="1"/>
            <p:nvPr/>
          </p:nvSpPr>
          <p:spPr>
            <a:xfrm>
              <a:off x="10154328" y="3748229"/>
              <a:ext cx="282450" cy="307777"/>
            </a:xfrm>
            <a:prstGeom prst="rect">
              <a:avLst/>
            </a:prstGeom>
            <a:noFill/>
          </p:spPr>
          <p:txBody>
            <a:bodyPr wrap="none" rtlCol="0">
              <a:spAutoFit/>
            </a:bodyPr>
            <a:lstStyle/>
            <a:p>
              <a:r>
                <a:rPr lang="en-US" sz="1400" dirty="0"/>
                <a:t>B</a:t>
              </a:r>
            </a:p>
          </p:txBody>
        </p:sp>
        <p:sp>
          <p:nvSpPr>
            <p:cNvPr id="55" name="TextBox 54">
              <a:extLst>
                <a:ext uri="{FF2B5EF4-FFF2-40B4-BE49-F238E27FC236}">
                  <a16:creationId xmlns:a16="http://schemas.microsoft.com/office/drawing/2014/main" id="{56B2B1AF-0741-C00F-96AA-F1DD7E7F8D6D}"/>
                </a:ext>
              </a:extLst>
            </p:cNvPr>
            <p:cNvSpPr txBox="1"/>
            <p:nvPr/>
          </p:nvSpPr>
          <p:spPr>
            <a:xfrm>
              <a:off x="9869468" y="4698256"/>
              <a:ext cx="288862" cy="307777"/>
            </a:xfrm>
            <a:prstGeom prst="rect">
              <a:avLst/>
            </a:prstGeom>
            <a:noFill/>
          </p:spPr>
          <p:txBody>
            <a:bodyPr wrap="none" rtlCol="0">
              <a:spAutoFit/>
            </a:bodyPr>
            <a:lstStyle/>
            <a:p>
              <a:r>
                <a:rPr lang="en-US" sz="1400" dirty="0"/>
                <a:t>A</a:t>
              </a:r>
            </a:p>
          </p:txBody>
        </p:sp>
        <p:sp>
          <p:nvSpPr>
            <p:cNvPr id="56" name="TextBox 55">
              <a:extLst>
                <a:ext uri="{FF2B5EF4-FFF2-40B4-BE49-F238E27FC236}">
                  <a16:creationId xmlns:a16="http://schemas.microsoft.com/office/drawing/2014/main" id="{21FE32DA-378A-0FB9-AAA7-A0244371F10E}"/>
                </a:ext>
              </a:extLst>
            </p:cNvPr>
            <p:cNvSpPr txBox="1"/>
            <p:nvPr/>
          </p:nvSpPr>
          <p:spPr>
            <a:xfrm>
              <a:off x="10532358" y="4696278"/>
              <a:ext cx="282450" cy="307777"/>
            </a:xfrm>
            <a:prstGeom prst="rect">
              <a:avLst/>
            </a:prstGeom>
            <a:noFill/>
          </p:spPr>
          <p:txBody>
            <a:bodyPr wrap="none" rtlCol="0">
              <a:spAutoFit/>
            </a:bodyPr>
            <a:lstStyle/>
            <a:p>
              <a:r>
                <a:rPr lang="en-US" sz="1400" dirty="0"/>
                <a:t>B</a:t>
              </a:r>
            </a:p>
          </p:txBody>
        </p:sp>
        <p:sp>
          <p:nvSpPr>
            <p:cNvPr id="57" name="TextBox 56">
              <a:extLst>
                <a:ext uri="{FF2B5EF4-FFF2-40B4-BE49-F238E27FC236}">
                  <a16:creationId xmlns:a16="http://schemas.microsoft.com/office/drawing/2014/main" id="{63AC4442-0355-B78D-C045-DCA5DF363970}"/>
                </a:ext>
              </a:extLst>
            </p:cNvPr>
            <p:cNvSpPr txBox="1"/>
            <p:nvPr/>
          </p:nvSpPr>
          <p:spPr>
            <a:xfrm>
              <a:off x="10536054" y="2485905"/>
              <a:ext cx="508473" cy="307777"/>
            </a:xfrm>
            <a:prstGeom prst="rect">
              <a:avLst/>
            </a:prstGeom>
            <a:noFill/>
          </p:spPr>
          <p:txBody>
            <a:bodyPr wrap="none" rtlCol="0">
              <a:spAutoFit/>
            </a:bodyPr>
            <a:lstStyle/>
            <a:p>
              <a:r>
                <a:rPr lang="en-US" sz="1400" dirty="0"/>
                <a:t>VDD</a:t>
              </a:r>
            </a:p>
          </p:txBody>
        </p:sp>
        <p:sp>
          <p:nvSpPr>
            <p:cNvPr id="58" name="TextBox 57">
              <a:extLst>
                <a:ext uri="{FF2B5EF4-FFF2-40B4-BE49-F238E27FC236}">
                  <a16:creationId xmlns:a16="http://schemas.microsoft.com/office/drawing/2014/main" id="{2572C9BF-D7C8-8756-F18B-FADDA297B5BB}"/>
                </a:ext>
              </a:extLst>
            </p:cNvPr>
            <p:cNvSpPr txBox="1"/>
            <p:nvPr/>
          </p:nvSpPr>
          <p:spPr>
            <a:xfrm>
              <a:off x="10201350" y="5383074"/>
              <a:ext cx="524503" cy="307777"/>
            </a:xfrm>
            <a:prstGeom prst="rect">
              <a:avLst/>
            </a:prstGeom>
            <a:noFill/>
          </p:spPr>
          <p:txBody>
            <a:bodyPr wrap="none" rtlCol="0">
              <a:spAutoFit/>
            </a:bodyPr>
            <a:lstStyle/>
            <a:p>
              <a:r>
                <a:rPr lang="en-US" sz="1400" dirty="0"/>
                <a:t>GND</a:t>
              </a:r>
            </a:p>
          </p:txBody>
        </p:sp>
        <p:sp>
          <p:nvSpPr>
            <p:cNvPr id="59" name="TextBox 58">
              <a:extLst>
                <a:ext uri="{FF2B5EF4-FFF2-40B4-BE49-F238E27FC236}">
                  <a16:creationId xmlns:a16="http://schemas.microsoft.com/office/drawing/2014/main" id="{74481B6F-C9CA-362E-7FE5-75988BAA4DDC}"/>
                </a:ext>
              </a:extLst>
            </p:cNvPr>
            <p:cNvSpPr txBox="1"/>
            <p:nvPr/>
          </p:nvSpPr>
          <p:spPr>
            <a:xfrm>
              <a:off x="10852511" y="5345472"/>
              <a:ext cx="524503" cy="307777"/>
            </a:xfrm>
            <a:prstGeom prst="rect">
              <a:avLst/>
            </a:prstGeom>
            <a:noFill/>
          </p:spPr>
          <p:txBody>
            <a:bodyPr wrap="none" rtlCol="0">
              <a:spAutoFit/>
            </a:bodyPr>
            <a:lstStyle/>
            <a:p>
              <a:r>
                <a:rPr lang="en-US" sz="1400" dirty="0"/>
                <a:t>GND</a:t>
              </a:r>
            </a:p>
          </p:txBody>
        </p:sp>
        <p:sp>
          <p:nvSpPr>
            <p:cNvPr id="60" name="TextBox 59">
              <a:extLst>
                <a:ext uri="{FF2B5EF4-FFF2-40B4-BE49-F238E27FC236}">
                  <a16:creationId xmlns:a16="http://schemas.microsoft.com/office/drawing/2014/main" id="{D079DAFC-7A31-6D22-4CEC-F6E56F7B28C2}"/>
                </a:ext>
              </a:extLst>
            </p:cNvPr>
            <p:cNvSpPr txBox="1"/>
            <p:nvPr/>
          </p:nvSpPr>
          <p:spPr>
            <a:xfrm>
              <a:off x="11100089" y="4027492"/>
              <a:ext cx="506870" cy="307777"/>
            </a:xfrm>
            <a:prstGeom prst="rect">
              <a:avLst/>
            </a:prstGeom>
            <a:noFill/>
          </p:spPr>
          <p:txBody>
            <a:bodyPr wrap="none" rtlCol="0">
              <a:spAutoFit/>
            </a:bodyPr>
            <a:lstStyle/>
            <a:p>
              <a:r>
                <a:rPr lang="en-US" sz="1400" dirty="0"/>
                <a:t>OUT</a:t>
              </a:r>
            </a:p>
          </p:txBody>
        </p:sp>
      </p:grpSp>
    </p:spTree>
    <p:extLst>
      <p:ext uri="{BB962C8B-B14F-4D97-AF65-F5344CB8AC3E}">
        <p14:creationId xmlns:p14="http://schemas.microsoft.com/office/powerpoint/2010/main" val="40733790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C8656-FE25-34C9-FDA5-39BF8AE641B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239D9D9-FA2E-2B9F-E1E2-15DF98457140}"/>
              </a:ext>
            </a:extLst>
          </p:cNvPr>
          <p:cNvSpPr>
            <a:spLocks noGrp="1"/>
          </p:cNvSpPr>
          <p:nvPr>
            <p:ph type="title"/>
          </p:nvPr>
        </p:nvSpPr>
        <p:spPr>
          <a:xfrm>
            <a:off x="838200" y="365125"/>
            <a:ext cx="4819650" cy="1325563"/>
          </a:xfrm>
        </p:spPr>
        <p:txBody>
          <a:bodyPr/>
          <a:lstStyle/>
          <a:p>
            <a:r>
              <a:rPr lang="en-US" dirty="0"/>
              <a:t>Layout a CMOS NAND Gate</a:t>
            </a:r>
          </a:p>
        </p:txBody>
      </p:sp>
      <p:pic>
        <p:nvPicPr>
          <p:cNvPr id="9" name="Picture 2" descr="NAND gate symbol with two inputs (A and B) and one output (Q).  The NAND symbol looks exactly like the AND symbol except it has a small circle on its output connection indicating that the output is inverted.">
            <a:extLst>
              <a:ext uri="{FF2B5EF4-FFF2-40B4-BE49-F238E27FC236}">
                <a16:creationId xmlns:a16="http://schemas.microsoft.com/office/drawing/2014/main" id="{180ADDE7-1E74-C54C-617C-F8BDB2D5C898}"/>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574454" y="2472587"/>
            <a:ext cx="1524000" cy="635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81CCF848-BF4D-B269-4140-D533915E925B}"/>
              </a:ext>
            </a:extLst>
          </p:cNvPr>
          <p:cNvGraphicFramePr>
            <a:graphicFrameLocks noGrp="1"/>
          </p:cNvGraphicFramePr>
          <p:nvPr>
            <p:extLst>
              <p:ext uri="{D42A27DB-BD31-4B8C-83A1-F6EECF244321}">
                <p14:modId xmlns:p14="http://schemas.microsoft.com/office/powerpoint/2010/main" val="66592000"/>
              </p:ext>
            </p:extLst>
          </p:nvPr>
        </p:nvGraphicFramePr>
        <p:xfrm>
          <a:off x="1345521" y="3255636"/>
          <a:ext cx="1981866" cy="1960150"/>
        </p:xfrm>
        <a:graphic>
          <a:graphicData uri="http://schemas.openxmlformats.org/drawingml/2006/table">
            <a:tbl>
              <a:tblPr firstRow="1" bandRow="1">
                <a:tableStyleId>{5C22544A-7EE6-4342-B048-85BDC9FD1C3A}</a:tableStyleId>
              </a:tblPr>
              <a:tblGrid>
                <a:gridCol w="660622">
                  <a:extLst>
                    <a:ext uri="{9D8B030D-6E8A-4147-A177-3AD203B41FA5}">
                      <a16:colId xmlns:a16="http://schemas.microsoft.com/office/drawing/2014/main" val="1071248141"/>
                    </a:ext>
                  </a:extLst>
                </a:gridCol>
                <a:gridCol w="660622">
                  <a:extLst>
                    <a:ext uri="{9D8B030D-6E8A-4147-A177-3AD203B41FA5}">
                      <a16:colId xmlns:a16="http://schemas.microsoft.com/office/drawing/2014/main" val="2618565763"/>
                    </a:ext>
                  </a:extLst>
                </a:gridCol>
                <a:gridCol w="660622">
                  <a:extLst>
                    <a:ext uri="{9D8B030D-6E8A-4147-A177-3AD203B41FA5}">
                      <a16:colId xmlns:a16="http://schemas.microsoft.com/office/drawing/2014/main" val="2416198014"/>
                    </a:ext>
                  </a:extLst>
                </a:gridCol>
              </a:tblGrid>
              <a:tr h="392030">
                <a:tc>
                  <a:txBody>
                    <a:bodyPr/>
                    <a:lstStyle/>
                    <a:p>
                      <a:pPr algn="ctr"/>
                      <a:r>
                        <a:rPr lang="en-US" dirty="0"/>
                        <a:t>A</a:t>
                      </a:r>
                    </a:p>
                  </a:txBody>
                  <a:tcPr/>
                </a:tc>
                <a:tc>
                  <a:txBody>
                    <a:bodyPr/>
                    <a:lstStyle/>
                    <a:p>
                      <a:pPr algn="ctr"/>
                      <a:r>
                        <a:rPr lang="en-US" dirty="0"/>
                        <a:t>B</a:t>
                      </a:r>
                    </a:p>
                  </a:txBody>
                  <a:tcPr/>
                </a:tc>
                <a:tc>
                  <a:txBody>
                    <a:bodyPr/>
                    <a:lstStyle/>
                    <a:p>
                      <a:pPr algn="ctr"/>
                      <a:r>
                        <a:rPr lang="en-US" dirty="0"/>
                        <a:t>Q</a:t>
                      </a:r>
                    </a:p>
                  </a:txBody>
                  <a:tcPr/>
                </a:tc>
                <a:extLst>
                  <a:ext uri="{0D108BD9-81ED-4DB2-BD59-A6C34878D82A}">
                    <a16:rowId xmlns:a16="http://schemas.microsoft.com/office/drawing/2014/main" val="3588159787"/>
                  </a:ext>
                </a:extLst>
              </a:tr>
              <a:tr h="392030">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3061539733"/>
                  </a:ext>
                </a:extLst>
              </a:tr>
              <a:tr h="39203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244367929"/>
                  </a:ext>
                </a:extLst>
              </a:tr>
              <a:tr h="39203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93639549"/>
                  </a:ext>
                </a:extLst>
              </a:tr>
              <a:tr h="39203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222571218"/>
                  </a:ext>
                </a:extLst>
              </a:tr>
            </a:tbl>
          </a:graphicData>
        </a:graphic>
      </p:graphicFrame>
      <p:cxnSp>
        <p:nvCxnSpPr>
          <p:cNvPr id="17" name="Straight Arrow Connector 16">
            <a:extLst>
              <a:ext uri="{FF2B5EF4-FFF2-40B4-BE49-F238E27FC236}">
                <a16:creationId xmlns:a16="http://schemas.microsoft.com/office/drawing/2014/main" id="{645AAA35-8545-ACD6-1E81-11858169F3E1}"/>
              </a:ext>
              <a:ext uri="{C183D7F6-B498-43B3-948B-1728B52AA6E4}">
                <adec:decorative xmlns:adec="http://schemas.microsoft.com/office/drawing/2017/decorative" val="1"/>
              </a:ext>
            </a:extLst>
          </p:cNvPr>
          <p:cNvCxnSpPr/>
          <p:nvPr/>
        </p:nvCxnSpPr>
        <p:spPr>
          <a:xfrm>
            <a:off x="742950" y="4552950"/>
            <a:ext cx="5715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2" name="Group 1" descr="This is a NAND gate with two PMOS transistors in parallel at the top connecting to the OUT wire.  On the bottom there are two series NMOS transistors connected between the OUT wire and the ground.">
            <a:extLst>
              <a:ext uri="{FF2B5EF4-FFF2-40B4-BE49-F238E27FC236}">
                <a16:creationId xmlns:a16="http://schemas.microsoft.com/office/drawing/2014/main" id="{B7C4ADE3-9D78-2302-5961-AD3EA21E1C0D}"/>
              </a:ext>
            </a:extLst>
          </p:cNvPr>
          <p:cNvGrpSpPr/>
          <p:nvPr/>
        </p:nvGrpSpPr>
        <p:grpSpPr>
          <a:xfrm>
            <a:off x="3967564" y="2472587"/>
            <a:ext cx="1901714" cy="3204946"/>
            <a:chOff x="3598814" y="2485905"/>
            <a:chExt cx="1901714" cy="3204946"/>
          </a:xfrm>
        </p:grpSpPr>
        <p:grpSp>
          <p:nvGrpSpPr>
            <p:cNvPr id="3" name="Group 2">
              <a:extLst>
                <a:ext uri="{FF2B5EF4-FFF2-40B4-BE49-F238E27FC236}">
                  <a16:creationId xmlns:a16="http://schemas.microsoft.com/office/drawing/2014/main" id="{5CD86557-1128-EBD7-5523-844CAD71891B}"/>
                </a:ext>
              </a:extLst>
            </p:cNvPr>
            <p:cNvGrpSpPr/>
            <p:nvPr/>
          </p:nvGrpSpPr>
          <p:grpSpPr>
            <a:xfrm>
              <a:off x="3836989" y="3168740"/>
              <a:ext cx="370967" cy="261620"/>
              <a:chOff x="3408218" y="2196942"/>
              <a:chExt cx="4311227" cy="3040439"/>
            </a:xfrm>
          </p:grpSpPr>
          <p:cxnSp>
            <p:nvCxnSpPr>
              <p:cNvPr id="45" name="Straight Connector 44">
                <a:extLst>
                  <a:ext uri="{FF2B5EF4-FFF2-40B4-BE49-F238E27FC236}">
                    <a16:creationId xmlns:a16="http://schemas.microsoft.com/office/drawing/2014/main" id="{03B1B9D6-3FF9-D1AD-C4D4-9037C1C68E34}"/>
                  </a:ext>
                </a:extLst>
              </p:cNvPr>
              <p:cNvCxnSpPr>
                <a:cxnSpLocks/>
              </p:cNvCxnSpPr>
              <p:nvPr/>
            </p:nvCxnSpPr>
            <p:spPr>
              <a:xfrm flipH="1">
                <a:off x="5925803" y="2196950"/>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177031D0-1E97-3850-8E8B-06F9D9D9E846}"/>
                  </a:ext>
                </a:extLst>
              </p:cNvPr>
              <p:cNvCxnSpPr>
                <a:cxnSpLocks/>
              </p:cNvCxnSpPr>
              <p:nvPr/>
            </p:nvCxnSpPr>
            <p:spPr>
              <a:xfrm flipV="1">
                <a:off x="5925803" y="2196942"/>
                <a:ext cx="0" cy="30404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7129E42-2024-A29F-303E-31C9D2EEB9B9}"/>
                  </a:ext>
                </a:extLst>
              </p:cNvPr>
              <p:cNvCxnSpPr>
                <a:cxnSpLocks/>
              </p:cNvCxnSpPr>
              <p:nvPr/>
            </p:nvCxnSpPr>
            <p:spPr>
              <a:xfrm>
                <a:off x="5390677" y="2449992"/>
                <a:ext cx="0" cy="25894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9C50EAF-CBAC-223C-E4C1-D7B1A311164B}"/>
                  </a:ext>
                </a:extLst>
              </p:cNvPr>
              <p:cNvCxnSpPr>
                <a:cxnSpLocks/>
              </p:cNvCxnSpPr>
              <p:nvPr/>
            </p:nvCxnSpPr>
            <p:spPr>
              <a:xfrm>
                <a:off x="3408218" y="3717171"/>
                <a:ext cx="19824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63D4FB82-8AD8-CD69-8DD8-5897E32714B2}"/>
                  </a:ext>
                </a:extLst>
              </p:cNvPr>
              <p:cNvSpPr/>
              <p:nvPr/>
            </p:nvSpPr>
            <p:spPr>
              <a:xfrm>
                <a:off x="4767388" y="3425040"/>
                <a:ext cx="622114" cy="576944"/>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a:extLst>
                  <a:ext uri="{FF2B5EF4-FFF2-40B4-BE49-F238E27FC236}">
                    <a16:creationId xmlns:a16="http://schemas.microsoft.com/office/drawing/2014/main" id="{8258FACB-8326-BCA5-E78E-DD1E08F82125}"/>
                  </a:ext>
                </a:extLst>
              </p:cNvPr>
              <p:cNvCxnSpPr>
                <a:cxnSpLocks/>
              </p:cNvCxnSpPr>
              <p:nvPr/>
            </p:nvCxnSpPr>
            <p:spPr>
              <a:xfrm flipH="1">
                <a:off x="5925803" y="5237381"/>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 name="Group 4">
              <a:extLst>
                <a:ext uri="{FF2B5EF4-FFF2-40B4-BE49-F238E27FC236}">
                  <a16:creationId xmlns:a16="http://schemas.microsoft.com/office/drawing/2014/main" id="{4CB7B3CD-9405-184C-86B9-D6C6EB606F8F}"/>
                </a:ext>
              </a:extLst>
            </p:cNvPr>
            <p:cNvGrpSpPr/>
            <p:nvPr/>
          </p:nvGrpSpPr>
          <p:grpSpPr>
            <a:xfrm>
              <a:off x="4204455" y="4073444"/>
              <a:ext cx="370967" cy="261620"/>
              <a:chOff x="10753571" y="4787961"/>
              <a:chExt cx="370967" cy="261620"/>
            </a:xfrm>
          </p:grpSpPr>
          <p:cxnSp>
            <p:nvCxnSpPr>
              <p:cNvPr id="40" name="Straight Connector 39">
                <a:extLst>
                  <a:ext uri="{FF2B5EF4-FFF2-40B4-BE49-F238E27FC236}">
                    <a16:creationId xmlns:a16="http://schemas.microsoft.com/office/drawing/2014/main" id="{5DD1F231-93B2-D295-CBC3-5D7341A12F7A}"/>
                  </a:ext>
                </a:extLst>
              </p:cNvPr>
              <p:cNvCxnSpPr>
                <a:cxnSpLocks/>
              </p:cNvCxnSpPr>
              <p:nvPr/>
            </p:nvCxnSpPr>
            <p:spPr>
              <a:xfrm flipH="1">
                <a:off x="10970201" y="4787962"/>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7E12875-C590-A6C8-C851-2BD98B761690}"/>
                  </a:ext>
                </a:extLst>
              </p:cNvPr>
              <p:cNvCxnSpPr>
                <a:cxnSpLocks/>
              </p:cNvCxnSpPr>
              <p:nvPr/>
            </p:nvCxnSpPr>
            <p:spPr>
              <a:xfrm flipV="1">
                <a:off x="10970201" y="4787961"/>
                <a:ext cx="0" cy="2616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9E9BE9E-A652-EE5A-BD5A-9D24D8D3C989}"/>
                  </a:ext>
                </a:extLst>
              </p:cNvPr>
              <p:cNvCxnSpPr>
                <a:cxnSpLocks/>
              </p:cNvCxnSpPr>
              <p:nvPr/>
            </p:nvCxnSpPr>
            <p:spPr>
              <a:xfrm>
                <a:off x="10924155" y="4809735"/>
                <a:ext cx="0" cy="2228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4F53862-212D-3803-873F-F14B046D05CB}"/>
                  </a:ext>
                </a:extLst>
              </p:cNvPr>
              <p:cNvCxnSpPr>
                <a:cxnSpLocks/>
              </p:cNvCxnSpPr>
              <p:nvPr/>
            </p:nvCxnSpPr>
            <p:spPr>
              <a:xfrm>
                <a:off x="10753571" y="4918772"/>
                <a:ext cx="1705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A98C790-996B-3B25-6F90-CDB0049161FB}"/>
                  </a:ext>
                </a:extLst>
              </p:cNvPr>
              <p:cNvCxnSpPr>
                <a:cxnSpLocks/>
              </p:cNvCxnSpPr>
              <p:nvPr/>
            </p:nvCxnSpPr>
            <p:spPr>
              <a:xfrm flipH="1">
                <a:off x="10970201" y="5049581"/>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 name="Group 6">
              <a:extLst>
                <a:ext uri="{FF2B5EF4-FFF2-40B4-BE49-F238E27FC236}">
                  <a16:creationId xmlns:a16="http://schemas.microsoft.com/office/drawing/2014/main" id="{0E7CE8C5-C3DA-D86E-1ABF-0CC615E3B30B}"/>
                </a:ext>
              </a:extLst>
            </p:cNvPr>
            <p:cNvGrpSpPr/>
            <p:nvPr/>
          </p:nvGrpSpPr>
          <p:grpSpPr>
            <a:xfrm>
              <a:off x="4537637" y="3177179"/>
              <a:ext cx="370967" cy="261620"/>
              <a:chOff x="3408218" y="2196942"/>
              <a:chExt cx="4311227" cy="3040439"/>
            </a:xfrm>
          </p:grpSpPr>
          <p:cxnSp>
            <p:nvCxnSpPr>
              <p:cNvPr id="34" name="Straight Connector 33">
                <a:extLst>
                  <a:ext uri="{FF2B5EF4-FFF2-40B4-BE49-F238E27FC236}">
                    <a16:creationId xmlns:a16="http://schemas.microsoft.com/office/drawing/2014/main" id="{8D502A41-4F3D-4FDB-67E9-AAC8E1188F4F}"/>
                  </a:ext>
                </a:extLst>
              </p:cNvPr>
              <p:cNvCxnSpPr>
                <a:cxnSpLocks/>
              </p:cNvCxnSpPr>
              <p:nvPr/>
            </p:nvCxnSpPr>
            <p:spPr>
              <a:xfrm flipH="1">
                <a:off x="5925803" y="2196950"/>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D82B06E-69BC-1EBF-2DF0-0A0D70AEE252}"/>
                  </a:ext>
                </a:extLst>
              </p:cNvPr>
              <p:cNvCxnSpPr>
                <a:cxnSpLocks/>
              </p:cNvCxnSpPr>
              <p:nvPr/>
            </p:nvCxnSpPr>
            <p:spPr>
              <a:xfrm flipV="1">
                <a:off x="5925803" y="2196942"/>
                <a:ext cx="0" cy="30404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0D689B6-143B-CABE-9DF8-B38A6131AB74}"/>
                  </a:ext>
                </a:extLst>
              </p:cNvPr>
              <p:cNvCxnSpPr>
                <a:cxnSpLocks/>
              </p:cNvCxnSpPr>
              <p:nvPr/>
            </p:nvCxnSpPr>
            <p:spPr>
              <a:xfrm>
                <a:off x="5390677" y="2449992"/>
                <a:ext cx="0" cy="25894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2C3D890-C881-D018-CCCD-C19CA3296068}"/>
                  </a:ext>
                </a:extLst>
              </p:cNvPr>
              <p:cNvCxnSpPr>
                <a:cxnSpLocks/>
              </p:cNvCxnSpPr>
              <p:nvPr/>
            </p:nvCxnSpPr>
            <p:spPr>
              <a:xfrm>
                <a:off x="3408218" y="3717171"/>
                <a:ext cx="19824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C0F9F871-59C3-B748-2B26-18C96C924F4F}"/>
                  </a:ext>
                </a:extLst>
              </p:cNvPr>
              <p:cNvSpPr/>
              <p:nvPr/>
            </p:nvSpPr>
            <p:spPr>
              <a:xfrm>
                <a:off x="4767388" y="3425040"/>
                <a:ext cx="622114" cy="576944"/>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a:extLst>
                  <a:ext uri="{FF2B5EF4-FFF2-40B4-BE49-F238E27FC236}">
                    <a16:creationId xmlns:a16="http://schemas.microsoft.com/office/drawing/2014/main" id="{094075A7-EAE7-28E8-E55B-87BB676E08A0}"/>
                  </a:ext>
                </a:extLst>
              </p:cNvPr>
              <p:cNvCxnSpPr>
                <a:cxnSpLocks/>
              </p:cNvCxnSpPr>
              <p:nvPr/>
            </p:nvCxnSpPr>
            <p:spPr>
              <a:xfrm flipH="1">
                <a:off x="5925803" y="5237381"/>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C8559E96-9E73-1754-0A8D-0250F763EAFE}"/>
                </a:ext>
              </a:extLst>
            </p:cNvPr>
            <p:cNvGrpSpPr/>
            <p:nvPr/>
          </p:nvGrpSpPr>
          <p:grpSpPr>
            <a:xfrm>
              <a:off x="4199362" y="4690958"/>
              <a:ext cx="370967" cy="261620"/>
              <a:chOff x="10753571" y="4787961"/>
              <a:chExt cx="370967" cy="261620"/>
            </a:xfrm>
          </p:grpSpPr>
          <p:cxnSp>
            <p:nvCxnSpPr>
              <p:cNvPr id="29" name="Straight Connector 28">
                <a:extLst>
                  <a:ext uri="{FF2B5EF4-FFF2-40B4-BE49-F238E27FC236}">
                    <a16:creationId xmlns:a16="http://schemas.microsoft.com/office/drawing/2014/main" id="{970FBB66-647E-EAC7-A7C3-B8869F56049D}"/>
                  </a:ext>
                </a:extLst>
              </p:cNvPr>
              <p:cNvCxnSpPr>
                <a:cxnSpLocks/>
              </p:cNvCxnSpPr>
              <p:nvPr/>
            </p:nvCxnSpPr>
            <p:spPr>
              <a:xfrm flipH="1">
                <a:off x="10970201" y="4787962"/>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E65AB9B-59CB-D03C-E6A1-A5A9C576285E}"/>
                  </a:ext>
                </a:extLst>
              </p:cNvPr>
              <p:cNvCxnSpPr>
                <a:cxnSpLocks/>
              </p:cNvCxnSpPr>
              <p:nvPr/>
            </p:nvCxnSpPr>
            <p:spPr>
              <a:xfrm flipV="1">
                <a:off x="10970201" y="4787961"/>
                <a:ext cx="0" cy="2616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C5D4DA4-172C-BCBA-CE29-4035E4939FBF}"/>
                  </a:ext>
                </a:extLst>
              </p:cNvPr>
              <p:cNvCxnSpPr>
                <a:cxnSpLocks/>
              </p:cNvCxnSpPr>
              <p:nvPr/>
            </p:nvCxnSpPr>
            <p:spPr>
              <a:xfrm>
                <a:off x="10924155" y="4809735"/>
                <a:ext cx="0" cy="2228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50B4AAB-55FF-F02D-5506-2A2D4C4EB627}"/>
                  </a:ext>
                </a:extLst>
              </p:cNvPr>
              <p:cNvCxnSpPr>
                <a:cxnSpLocks/>
              </p:cNvCxnSpPr>
              <p:nvPr/>
            </p:nvCxnSpPr>
            <p:spPr>
              <a:xfrm>
                <a:off x="10753571" y="4918772"/>
                <a:ext cx="1705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C8073C0-CF38-24DE-78DA-30897CC14867}"/>
                  </a:ext>
                </a:extLst>
              </p:cNvPr>
              <p:cNvCxnSpPr>
                <a:cxnSpLocks/>
              </p:cNvCxnSpPr>
              <p:nvPr/>
            </p:nvCxnSpPr>
            <p:spPr>
              <a:xfrm flipH="1">
                <a:off x="10970201" y="5049581"/>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Straight Connector 10">
              <a:extLst>
                <a:ext uri="{FF2B5EF4-FFF2-40B4-BE49-F238E27FC236}">
                  <a16:creationId xmlns:a16="http://schemas.microsoft.com/office/drawing/2014/main" id="{E56114D5-8419-5695-4BC8-FEE441FA3A34}"/>
                </a:ext>
              </a:extLst>
            </p:cNvPr>
            <p:cNvCxnSpPr/>
            <p:nvPr/>
          </p:nvCxnSpPr>
          <p:spPr>
            <a:xfrm>
              <a:off x="4220925" y="3774093"/>
              <a:ext cx="10749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151187F-538A-29CB-4ADC-F262ED5DFE46}"/>
                </a:ext>
              </a:extLst>
            </p:cNvPr>
            <p:cNvCxnSpPr>
              <a:cxnSpLocks/>
            </p:cNvCxnSpPr>
            <p:nvPr/>
          </p:nvCxnSpPr>
          <p:spPr>
            <a:xfrm flipH="1">
              <a:off x="4916037" y="3437082"/>
              <a:ext cx="2582" cy="3551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826EBE9-E2B8-68EB-060F-13261E58687C}"/>
                </a:ext>
              </a:extLst>
            </p:cNvPr>
            <p:cNvCxnSpPr>
              <a:cxnSpLocks/>
            </p:cNvCxnSpPr>
            <p:nvPr/>
          </p:nvCxnSpPr>
          <p:spPr>
            <a:xfrm>
              <a:off x="4207956" y="3430360"/>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0DCD913-5E9E-2121-6A34-D881C99F678F}"/>
                </a:ext>
              </a:extLst>
            </p:cNvPr>
            <p:cNvCxnSpPr>
              <a:cxnSpLocks/>
            </p:cNvCxnSpPr>
            <p:nvPr/>
          </p:nvCxnSpPr>
          <p:spPr>
            <a:xfrm>
              <a:off x="4575422" y="3792235"/>
              <a:ext cx="0" cy="2861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DD2F607-9DD1-0443-28FD-5EDA73805896}"/>
                </a:ext>
              </a:extLst>
            </p:cNvPr>
            <p:cNvCxnSpPr>
              <a:cxnSpLocks/>
            </p:cNvCxnSpPr>
            <p:nvPr/>
          </p:nvCxnSpPr>
          <p:spPr>
            <a:xfrm>
              <a:off x="4575242" y="4335064"/>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287AB71-7DD2-49FA-EF25-F8B4A865ED22}"/>
                </a:ext>
              </a:extLst>
            </p:cNvPr>
            <p:cNvCxnSpPr>
              <a:cxnSpLocks/>
            </p:cNvCxnSpPr>
            <p:nvPr/>
          </p:nvCxnSpPr>
          <p:spPr>
            <a:xfrm>
              <a:off x="4217854" y="2822741"/>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67D751E-A9EC-AFAC-0159-29C14B30BA28}"/>
                </a:ext>
              </a:extLst>
            </p:cNvPr>
            <p:cNvCxnSpPr>
              <a:cxnSpLocks/>
            </p:cNvCxnSpPr>
            <p:nvPr/>
          </p:nvCxnSpPr>
          <p:spPr>
            <a:xfrm>
              <a:off x="4559950" y="4960302"/>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986DEF7-FB5B-D558-85B0-3DA82F2A00CB}"/>
                </a:ext>
              </a:extLst>
            </p:cNvPr>
            <p:cNvSpPr txBox="1"/>
            <p:nvPr/>
          </p:nvSpPr>
          <p:spPr>
            <a:xfrm>
              <a:off x="3598814" y="3157805"/>
              <a:ext cx="288862" cy="307777"/>
            </a:xfrm>
            <a:prstGeom prst="rect">
              <a:avLst/>
            </a:prstGeom>
            <a:noFill/>
          </p:spPr>
          <p:txBody>
            <a:bodyPr wrap="none" rtlCol="0">
              <a:spAutoFit/>
            </a:bodyPr>
            <a:lstStyle/>
            <a:p>
              <a:r>
                <a:rPr lang="en-US" sz="1400" dirty="0"/>
                <a:t>A</a:t>
              </a:r>
            </a:p>
          </p:txBody>
        </p:sp>
        <p:sp>
          <p:nvSpPr>
            <p:cNvPr id="21" name="TextBox 20">
              <a:extLst>
                <a:ext uri="{FF2B5EF4-FFF2-40B4-BE49-F238E27FC236}">
                  <a16:creationId xmlns:a16="http://schemas.microsoft.com/office/drawing/2014/main" id="{EFE56594-EE06-4D8C-EB9A-9D99E77CCFC3}"/>
                </a:ext>
              </a:extLst>
            </p:cNvPr>
            <p:cNvSpPr txBox="1"/>
            <p:nvPr/>
          </p:nvSpPr>
          <p:spPr>
            <a:xfrm>
              <a:off x="4309361" y="3143951"/>
              <a:ext cx="282450" cy="307777"/>
            </a:xfrm>
            <a:prstGeom prst="rect">
              <a:avLst/>
            </a:prstGeom>
            <a:noFill/>
          </p:spPr>
          <p:txBody>
            <a:bodyPr wrap="none" rtlCol="0">
              <a:spAutoFit/>
            </a:bodyPr>
            <a:lstStyle/>
            <a:p>
              <a:r>
                <a:rPr lang="en-US" sz="1400" dirty="0"/>
                <a:t>B</a:t>
              </a:r>
            </a:p>
          </p:txBody>
        </p:sp>
        <p:sp>
          <p:nvSpPr>
            <p:cNvPr id="22" name="TextBox 21">
              <a:extLst>
                <a:ext uri="{FF2B5EF4-FFF2-40B4-BE49-F238E27FC236}">
                  <a16:creationId xmlns:a16="http://schemas.microsoft.com/office/drawing/2014/main" id="{C8328673-0C72-A0A4-C414-2E80820D3600}"/>
                </a:ext>
              </a:extLst>
            </p:cNvPr>
            <p:cNvSpPr txBox="1"/>
            <p:nvPr/>
          </p:nvSpPr>
          <p:spPr>
            <a:xfrm>
              <a:off x="3976840" y="4034601"/>
              <a:ext cx="288862" cy="307777"/>
            </a:xfrm>
            <a:prstGeom prst="rect">
              <a:avLst/>
            </a:prstGeom>
            <a:noFill/>
          </p:spPr>
          <p:txBody>
            <a:bodyPr wrap="none" rtlCol="0">
              <a:spAutoFit/>
            </a:bodyPr>
            <a:lstStyle/>
            <a:p>
              <a:r>
                <a:rPr lang="en-US" sz="1400" dirty="0"/>
                <a:t>A</a:t>
              </a:r>
            </a:p>
          </p:txBody>
        </p:sp>
        <p:sp>
          <p:nvSpPr>
            <p:cNvPr id="23" name="TextBox 22">
              <a:extLst>
                <a:ext uri="{FF2B5EF4-FFF2-40B4-BE49-F238E27FC236}">
                  <a16:creationId xmlns:a16="http://schemas.microsoft.com/office/drawing/2014/main" id="{3877D35E-1AB2-5120-D9EE-9399ACD3158A}"/>
                </a:ext>
              </a:extLst>
            </p:cNvPr>
            <p:cNvSpPr txBox="1"/>
            <p:nvPr/>
          </p:nvSpPr>
          <p:spPr>
            <a:xfrm>
              <a:off x="3998621" y="4673888"/>
              <a:ext cx="282450" cy="307777"/>
            </a:xfrm>
            <a:prstGeom prst="rect">
              <a:avLst/>
            </a:prstGeom>
            <a:noFill/>
          </p:spPr>
          <p:txBody>
            <a:bodyPr wrap="none" rtlCol="0">
              <a:spAutoFit/>
            </a:bodyPr>
            <a:lstStyle/>
            <a:p>
              <a:r>
                <a:rPr lang="en-US" sz="1400" dirty="0"/>
                <a:t>B</a:t>
              </a:r>
            </a:p>
          </p:txBody>
        </p:sp>
        <p:sp>
          <p:nvSpPr>
            <p:cNvPr id="24" name="TextBox 23">
              <a:extLst>
                <a:ext uri="{FF2B5EF4-FFF2-40B4-BE49-F238E27FC236}">
                  <a16:creationId xmlns:a16="http://schemas.microsoft.com/office/drawing/2014/main" id="{44AF0206-3FC7-7B30-A7E4-0A7A43BB8E89}"/>
                </a:ext>
              </a:extLst>
            </p:cNvPr>
            <p:cNvSpPr txBox="1"/>
            <p:nvPr/>
          </p:nvSpPr>
          <p:spPr>
            <a:xfrm>
              <a:off x="3990439" y="2487265"/>
              <a:ext cx="508473" cy="307777"/>
            </a:xfrm>
            <a:prstGeom prst="rect">
              <a:avLst/>
            </a:prstGeom>
            <a:noFill/>
          </p:spPr>
          <p:txBody>
            <a:bodyPr wrap="none" rtlCol="0">
              <a:spAutoFit/>
            </a:bodyPr>
            <a:lstStyle/>
            <a:p>
              <a:r>
                <a:rPr lang="en-US" sz="1400" dirty="0"/>
                <a:t>VDD</a:t>
              </a:r>
            </a:p>
          </p:txBody>
        </p:sp>
        <p:sp>
          <p:nvSpPr>
            <p:cNvPr id="25" name="TextBox 24">
              <a:extLst>
                <a:ext uri="{FF2B5EF4-FFF2-40B4-BE49-F238E27FC236}">
                  <a16:creationId xmlns:a16="http://schemas.microsoft.com/office/drawing/2014/main" id="{273356BD-A068-AF66-1A27-BFDD8BE216ED}"/>
                </a:ext>
              </a:extLst>
            </p:cNvPr>
            <p:cNvSpPr txBox="1"/>
            <p:nvPr/>
          </p:nvSpPr>
          <p:spPr>
            <a:xfrm>
              <a:off x="4297698" y="5383074"/>
              <a:ext cx="524503" cy="307777"/>
            </a:xfrm>
            <a:prstGeom prst="rect">
              <a:avLst/>
            </a:prstGeom>
            <a:noFill/>
          </p:spPr>
          <p:txBody>
            <a:bodyPr wrap="none" rtlCol="0">
              <a:spAutoFit/>
            </a:bodyPr>
            <a:lstStyle/>
            <a:p>
              <a:r>
                <a:rPr lang="en-US" sz="1400" dirty="0"/>
                <a:t>GND</a:t>
              </a:r>
            </a:p>
          </p:txBody>
        </p:sp>
        <p:sp>
          <p:nvSpPr>
            <p:cNvPr id="26" name="TextBox 25">
              <a:extLst>
                <a:ext uri="{FF2B5EF4-FFF2-40B4-BE49-F238E27FC236}">
                  <a16:creationId xmlns:a16="http://schemas.microsoft.com/office/drawing/2014/main" id="{56094348-39C0-1F2C-8897-03C36419DF4F}"/>
                </a:ext>
              </a:extLst>
            </p:cNvPr>
            <p:cNvSpPr txBox="1"/>
            <p:nvPr/>
          </p:nvSpPr>
          <p:spPr>
            <a:xfrm>
              <a:off x="4993658" y="3436958"/>
              <a:ext cx="506870" cy="307777"/>
            </a:xfrm>
            <a:prstGeom prst="rect">
              <a:avLst/>
            </a:prstGeom>
            <a:noFill/>
          </p:spPr>
          <p:txBody>
            <a:bodyPr wrap="none" rtlCol="0">
              <a:spAutoFit/>
            </a:bodyPr>
            <a:lstStyle/>
            <a:p>
              <a:r>
                <a:rPr lang="en-US" sz="1400" dirty="0"/>
                <a:t>OUT</a:t>
              </a:r>
            </a:p>
          </p:txBody>
        </p:sp>
        <p:cxnSp>
          <p:nvCxnSpPr>
            <p:cNvPr id="27" name="Straight Connector 26">
              <a:extLst>
                <a:ext uri="{FF2B5EF4-FFF2-40B4-BE49-F238E27FC236}">
                  <a16:creationId xmlns:a16="http://schemas.microsoft.com/office/drawing/2014/main" id="{F3E061E8-30E0-43AD-D326-2C8B9E89D18B}"/>
                </a:ext>
              </a:extLst>
            </p:cNvPr>
            <p:cNvCxnSpPr>
              <a:cxnSpLocks/>
            </p:cNvCxnSpPr>
            <p:nvPr/>
          </p:nvCxnSpPr>
          <p:spPr>
            <a:xfrm>
              <a:off x="4893657" y="2821381"/>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B185184-88F3-FFBF-C38A-0BE46DED94B3}"/>
                </a:ext>
              </a:extLst>
            </p:cNvPr>
            <p:cNvSpPr txBox="1"/>
            <p:nvPr/>
          </p:nvSpPr>
          <p:spPr>
            <a:xfrm>
              <a:off x="4654367" y="2485905"/>
              <a:ext cx="508473" cy="307777"/>
            </a:xfrm>
            <a:prstGeom prst="rect">
              <a:avLst/>
            </a:prstGeom>
            <a:noFill/>
          </p:spPr>
          <p:txBody>
            <a:bodyPr wrap="none" rtlCol="0">
              <a:spAutoFit/>
            </a:bodyPr>
            <a:lstStyle/>
            <a:p>
              <a:r>
                <a:rPr lang="en-US" sz="1400" dirty="0"/>
                <a:t>VDD</a:t>
              </a:r>
            </a:p>
          </p:txBody>
        </p:sp>
      </p:grpSp>
      <p:pic>
        <p:nvPicPr>
          <p:cNvPr id="15" name="Picture 14" descr="A layout of a CMOS Nand gate using four transistors, two inputs (A, B)and output (Q) .  Input A is 5 volts and input B is 0 volts and the output (Q) is 0 volts per the truth table of the NAND gate.The layout was done using https://www.ca4e.com/tools/cmos/">
            <a:extLst>
              <a:ext uri="{FF2B5EF4-FFF2-40B4-BE49-F238E27FC236}">
                <a16:creationId xmlns:a16="http://schemas.microsoft.com/office/drawing/2014/main" id="{EE777BA4-F7E9-DBC3-B222-64599ED9473D}"/>
              </a:ext>
            </a:extLst>
          </p:cNvPr>
          <p:cNvPicPr>
            <a:picLocks noChangeAspect="1"/>
          </p:cNvPicPr>
          <p:nvPr/>
        </p:nvPicPr>
        <p:blipFill>
          <a:blip r:embed="rId4"/>
          <a:stretch>
            <a:fillRect/>
          </a:stretch>
        </p:blipFill>
        <p:spPr>
          <a:xfrm>
            <a:off x="6702425" y="444038"/>
            <a:ext cx="4651375" cy="5116513"/>
          </a:xfrm>
          <a:prstGeom prst="rect">
            <a:avLst/>
          </a:prstGeom>
        </p:spPr>
      </p:pic>
    </p:spTree>
    <p:extLst>
      <p:ext uri="{BB962C8B-B14F-4D97-AF65-F5344CB8AC3E}">
        <p14:creationId xmlns:p14="http://schemas.microsoft.com/office/powerpoint/2010/main" val="8837242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930C7-EFB6-2B86-9933-BE664D315965}"/>
              </a:ext>
            </a:extLst>
          </p:cNvPr>
          <p:cNvSpPr>
            <a:spLocks noGrp="1"/>
          </p:cNvSpPr>
          <p:nvPr>
            <p:ph type="title"/>
          </p:nvPr>
        </p:nvSpPr>
        <p:spPr>
          <a:xfrm>
            <a:off x="578822" y="2143593"/>
            <a:ext cx="3933218" cy="1947023"/>
          </a:xfrm>
        </p:spPr>
        <p:txBody>
          <a:bodyPr>
            <a:normAutofit/>
          </a:bodyPr>
          <a:lstStyle/>
          <a:p>
            <a:r>
              <a:rPr lang="en-US" dirty="0"/>
              <a:t>Sneak Peek: Digital Logic Design</a:t>
            </a:r>
          </a:p>
        </p:txBody>
      </p:sp>
      <p:pic>
        <p:nvPicPr>
          <p:cNvPr id="3" name="Picture 2" descr="A screen shot of a NAND gate, two inputs and one output from the digital logic builder for this course https://www.ca4e.com/tools/gates/">
            <a:extLst>
              <a:ext uri="{FF2B5EF4-FFF2-40B4-BE49-F238E27FC236}">
                <a16:creationId xmlns:a16="http://schemas.microsoft.com/office/drawing/2014/main" id="{58944A39-A2E0-B76F-11AD-BDDE47B5610A}"/>
              </a:ext>
            </a:extLst>
          </p:cNvPr>
          <p:cNvPicPr>
            <a:picLocks noChangeAspect="1"/>
          </p:cNvPicPr>
          <p:nvPr/>
        </p:nvPicPr>
        <p:blipFill>
          <a:blip r:embed="rId2"/>
          <a:stretch>
            <a:fillRect/>
          </a:stretch>
        </p:blipFill>
        <p:spPr>
          <a:xfrm>
            <a:off x="5227021" y="1215631"/>
            <a:ext cx="6780700" cy="4424405"/>
          </a:xfrm>
          <a:prstGeom prst="rect">
            <a:avLst/>
          </a:prstGeom>
        </p:spPr>
      </p:pic>
    </p:spTree>
    <p:extLst>
      <p:ext uri="{BB962C8B-B14F-4D97-AF65-F5344CB8AC3E}">
        <p14:creationId xmlns:p14="http://schemas.microsoft.com/office/powerpoint/2010/main" val="12366418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D2EFD07-F694-345C-4B2F-4614FA7D9DCC}"/>
              </a:ext>
            </a:extLst>
          </p:cNvPr>
          <p:cNvSpPr>
            <a:spLocks noGrp="1"/>
          </p:cNvSpPr>
          <p:nvPr>
            <p:ph type="title"/>
          </p:nvPr>
        </p:nvSpPr>
        <p:spPr/>
        <p:txBody>
          <a:bodyPr/>
          <a:lstStyle/>
          <a:p>
            <a:r>
              <a:rPr lang="en-US" dirty="0"/>
              <a:t>Summary</a:t>
            </a:r>
          </a:p>
        </p:txBody>
      </p:sp>
      <p:sp>
        <p:nvSpPr>
          <p:cNvPr id="6" name="Content Placeholder 5">
            <a:extLst>
              <a:ext uri="{FF2B5EF4-FFF2-40B4-BE49-F238E27FC236}">
                <a16:creationId xmlns:a16="http://schemas.microsoft.com/office/drawing/2014/main" id="{9904836A-9389-B0FF-C342-D7DD46B32F59}"/>
              </a:ext>
            </a:extLst>
          </p:cNvPr>
          <p:cNvSpPr>
            <a:spLocks noGrp="1"/>
          </p:cNvSpPr>
          <p:nvPr>
            <p:ph idx="1"/>
          </p:nvPr>
        </p:nvSpPr>
        <p:spPr/>
        <p:txBody>
          <a:bodyPr>
            <a:normAutofit/>
          </a:bodyPr>
          <a:lstStyle/>
          <a:p>
            <a:r>
              <a:rPr lang="en-US" dirty="0"/>
              <a:t>Semiconductors</a:t>
            </a:r>
          </a:p>
          <a:p>
            <a:r>
              <a:rPr lang="en-US" dirty="0"/>
              <a:t>Tuning tubes and transistor for digital applications (as compared to amplifier applications)</a:t>
            </a:r>
          </a:p>
          <a:p>
            <a:r>
              <a:rPr lang="en-US" dirty="0"/>
              <a:t>Building gates from transistors</a:t>
            </a:r>
          </a:p>
          <a:p>
            <a:r>
              <a:rPr lang="en-US" dirty="0"/>
              <a:t>Transistor technology evolution PMOS, NMOS and CMOS </a:t>
            </a:r>
            <a:r>
              <a:rPr lang="en-US"/>
              <a:t>logic </a:t>
            </a:r>
            <a:endParaRPr lang="en-US" dirty="0"/>
          </a:p>
        </p:txBody>
      </p:sp>
    </p:spTree>
    <p:extLst>
      <p:ext uri="{BB962C8B-B14F-4D97-AF65-F5344CB8AC3E}">
        <p14:creationId xmlns:p14="http://schemas.microsoft.com/office/powerpoint/2010/main" val="26972385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4AE3D-C70D-220E-82A8-C1D64A900A0F}"/>
              </a:ext>
            </a:extLst>
          </p:cNvPr>
          <p:cNvSpPr>
            <a:spLocks noGrp="1"/>
          </p:cNvSpPr>
          <p:nvPr>
            <p:ph type="title"/>
          </p:nvPr>
        </p:nvSpPr>
        <p:spPr/>
        <p:txBody>
          <a:bodyPr/>
          <a:lstStyle/>
          <a:p>
            <a:r>
              <a:rPr lang="en-US" dirty="0"/>
              <a:t>Acknowledgements / Contributions</a:t>
            </a:r>
          </a:p>
        </p:txBody>
      </p:sp>
      <p:sp>
        <p:nvSpPr>
          <p:cNvPr id="7" name="TextBox 6">
            <a:extLst>
              <a:ext uri="{FF2B5EF4-FFF2-40B4-BE49-F238E27FC236}">
                <a16:creationId xmlns:a16="http://schemas.microsoft.com/office/drawing/2014/main" id="{D1725F2C-A6DC-4096-AD36-A6A5AF1FFD40}"/>
              </a:ext>
            </a:extLst>
          </p:cNvPr>
          <p:cNvSpPr txBox="1"/>
          <p:nvPr/>
        </p:nvSpPr>
        <p:spPr>
          <a:xfrm>
            <a:off x="838201" y="1502688"/>
            <a:ext cx="5055704" cy="2492990"/>
          </a:xfrm>
          <a:prstGeom prst="rect">
            <a:avLst/>
          </a:prstGeom>
          <a:noFill/>
        </p:spPr>
        <p:txBody>
          <a:bodyPr wrap="square" rtlCol="0">
            <a:spAutoFit/>
          </a:bodyPr>
          <a:lstStyle/>
          <a:p>
            <a:r>
              <a:rPr lang="en-US" sz="1200" dirty="0"/>
              <a:t>These slides are Copyright 2025-  Charles R. Severance (</a:t>
            </a:r>
            <a:r>
              <a:rPr lang="en-US" sz="1200" dirty="0" err="1"/>
              <a:t>online.dr-chuck.com</a:t>
            </a:r>
            <a:r>
              <a:rPr lang="en-US" sz="1200" dirty="0"/>
              <a:t>) as part of www.ca4e.com and made available under a Creative Commons Attribution 4.0 License.  Please maintain this last slide in all copies of the document to comply with the attribution requirements of the license.  If you make a change, feel free to add your name and organization to the list of contributors on this page as you republish the materials.</a:t>
            </a:r>
          </a:p>
          <a:p>
            <a:endParaRPr lang="en-US" sz="1200" dirty="0"/>
          </a:p>
          <a:p>
            <a:r>
              <a:rPr lang="en-US" sz="1200" dirty="0"/>
              <a:t>Initial Development: Charles Severance, University of Michigan School of Information</a:t>
            </a:r>
          </a:p>
          <a:p>
            <a:endParaRPr lang="en-US" sz="1200" dirty="0"/>
          </a:p>
          <a:p>
            <a:r>
              <a:rPr lang="en-US" sz="1200" b="1" dirty="0"/>
              <a:t>Insert new Contributors and Translators here including names and dates</a:t>
            </a:r>
          </a:p>
          <a:p>
            <a:endParaRPr lang="en-US" sz="1200" dirty="0"/>
          </a:p>
          <a:p>
            <a:endParaRPr lang="en-US" sz="1200" dirty="0"/>
          </a:p>
        </p:txBody>
      </p:sp>
      <p:sp>
        <p:nvSpPr>
          <p:cNvPr id="8" name="TextBox 7">
            <a:extLst>
              <a:ext uri="{FF2B5EF4-FFF2-40B4-BE49-F238E27FC236}">
                <a16:creationId xmlns:a16="http://schemas.microsoft.com/office/drawing/2014/main" id="{A5B0D5A1-502A-F6A1-76FD-6D954B37EE94}"/>
              </a:ext>
            </a:extLst>
          </p:cNvPr>
          <p:cNvSpPr txBox="1"/>
          <p:nvPr/>
        </p:nvSpPr>
        <p:spPr>
          <a:xfrm>
            <a:off x="6298097" y="1502688"/>
            <a:ext cx="5055704" cy="461665"/>
          </a:xfrm>
          <a:prstGeom prst="rect">
            <a:avLst/>
          </a:prstGeom>
          <a:noFill/>
        </p:spPr>
        <p:txBody>
          <a:bodyPr wrap="square" rtlCol="0">
            <a:spAutoFit/>
          </a:bodyPr>
          <a:lstStyle/>
          <a:p>
            <a:r>
              <a:rPr lang="en-US" sz="1200" b="1" dirty="0"/>
              <a:t>Continue new Contributors and Translators here</a:t>
            </a:r>
          </a:p>
          <a:p>
            <a:endParaRPr lang="en-US" sz="1200" dirty="0"/>
          </a:p>
        </p:txBody>
      </p:sp>
    </p:spTree>
    <p:extLst>
      <p:ext uri="{BB962C8B-B14F-4D97-AF65-F5344CB8AC3E}">
        <p14:creationId xmlns:p14="http://schemas.microsoft.com/office/powerpoint/2010/main" val="29638815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3427</TotalTime>
  <Words>3788</Words>
  <Application>Microsoft Macintosh PowerPoint</Application>
  <PresentationFormat>Widescreen</PresentationFormat>
  <Paragraphs>482</Paragraphs>
  <Slides>29</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Wingdings</vt:lpstr>
      <vt:lpstr>Office Theme</vt:lpstr>
      <vt:lpstr>Computing with Transistors</vt:lpstr>
      <vt:lpstr>Outline </vt:lpstr>
      <vt:lpstr>Valves / Tubes / Vacuum Tubes</vt:lpstr>
      <vt:lpstr>Triode Specification</vt:lpstr>
      <vt:lpstr>Building "Digital" Valves / Tubes</vt:lpstr>
      <vt:lpstr>Flaws of Valves</vt:lpstr>
      <vt:lpstr>Semi-Conductors</vt:lpstr>
      <vt:lpstr>Transistors</vt:lpstr>
      <vt:lpstr>Nobel Prize!</vt:lpstr>
      <vt:lpstr>Transistor audio amplifiers – not so simple</vt:lpstr>
      <vt:lpstr>Transistor Radios</vt:lpstr>
      <vt:lpstr>Hi End Tube-Based Audio Amplifiers</vt:lpstr>
      <vt:lpstr>Building "Digital" Transistors</vt:lpstr>
      <vt:lpstr>Two Kinds of "Digital" Transistors</vt:lpstr>
      <vt:lpstr>The Four Eras of Transistor Manufacturing</vt:lpstr>
      <vt:lpstr>From Transistors to Gates</vt:lpstr>
      <vt:lpstr>We use transistors to implement "gates"</vt:lpstr>
      <vt:lpstr>Not gate gate technology…</vt:lpstr>
      <vt:lpstr>Hot gate heat (input 0)</vt:lpstr>
      <vt:lpstr>Hot gate heat (input 1)</vt:lpstr>
      <vt:lpstr>TL;DR – Not Gates Over Time</vt:lpstr>
      <vt:lpstr>Layout a CMOS NOT Gate (Demo)</vt:lpstr>
      <vt:lpstr>Digital Logic</vt:lpstr>
      <vt:lpstr>Classic Mathematical Logic Gates</vt:lpstr>
      <vt:lpstr>NAND and NOR Fewer transistors </vt:lpstr>
      <vt:lpstr>Layout a CMOS NAND Gate</vt:lpstr>
      <vt:lpstr>Sneak Peek: Digital Logic Design</vt:lpstr>
      <vt:lpstr>Summary</vt:lpstr>
      <vt:lpstr>Acknowledgements / Contributions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Orientation</dc:title>
  <dc:creator>Severance, Charles</dc:creator>
  <cp:lastModifiedBy>Severance, Charles</cp:lastModifiedBy>
  <cp:revision>212</cp:revision>
  <cp:lastPrinted>2026-03-21T05:00:10Z</cp:lastPrinted>
  <dcterms:created xsi:type="dcterms:W3CDTF">2023-02-25T13:30:24Z</dcterms:created>
  <dcterms:modified xsi:type="dcterms:W3CDTF">2026-03-21T14:03:17Z</dcterms:modified>
</cp:coreProperties>
</file>